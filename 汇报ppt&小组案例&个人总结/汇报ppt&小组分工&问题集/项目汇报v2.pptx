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2" r:id="rId19"/>
    <p:sldId id="273" r:id="rId20"/>
    <p:sldId id="274" r:id="rId21"/>
    <p:sldId id="275" r:id="rId22"/>
    <p:sldId id="276"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8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98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各位老师好，今天汇报《从传统机器学习到多模态大模型的手写数学公式识别》，本项目按数据挖掘生命周期系统比较了两条技术路线。</a:t>
            </a:r>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汇报分六大章节：挖掘目标定义、数据准备、数据探索、模型建立、模型评估、模型部署。</a:t>
            </a:r>
            <a:endParaRPr 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手写数学公式识别是文档数字化核心挑战，本项目通过两条技术路线的系统对比，探索传统ML与多模态大模型的性能差异。</a:t>
            </a:r>
            <a:endParaRPr 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目标：系统比较两种方法的性能。四个技术挑战：二维结构、视觉识别、语义理解、矩阵公式。</a:t>
            </a:r>
            <a:endParaRPr 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CROHME数据集总计22021样本，5317个唯一LaTeX类别。传统ML使用Top-30子集，大模型使用全量数据。</a:t>
            </a:r>
            <a:endParaRPr 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两种方法预处理差异显著：传统ML用48x48小图加增强适配HOG，大模型用448x448高分辨率适配ViT。</a:t>
            </a:r>
            <a:endParaRPr 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传统ML发现长尾分布和特征可视化结果，大模型的全量数据揭示了公式类型的真实多样性。</a:t>
            </a:r>
            <a:endParaRPr 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三条路线：分类（传统ML）、检索（对比学习·放弃）、生成（多模态大模型·采用），技术从分类演进到生成。</a:t>
            </a:r>
            <a:endParaRPr 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HOG通过梯度方向统计描述形状特征，900维输出适配SVM分类器，对笔画边缘方向敏感。</a:t>
            </a:r>
            <a:endParaRPr 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LBP补充纹理信息，PCA降维67%，SVM线性核更优。测试准确率68.73%，但分类范式无法处理矩阵。</a:t>
            </a:r>
            <a:endParaRPr 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对比学习拉近同类推远异类，检索式识别只能返回已有公式，与任务需求不匹配，最终放弃选择生成式方案。</a:t>
            </a:r>
            <a:endParaRPr 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Transformer注意力机制是基础。ViT编码图像特征，RoBERTa解码器自回归生成LaTeX。334M参数。</a:t>
            </a:r>
            <a:endParaRPr 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LoRA通过低秩分解只训练0.3%参数，7分钟将准确率从20%提升到80.8%，是本项目最关键的算法。</a:t>
            </a:r>
            <a:endParaRPr 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DeepSeek在三个层面修正：语法、语义、结构。LoRA负责感知，DeepSeek负责理解，协同提升4.4%。</a:t>
            </a:r>
            <a:endParaRPr 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视觉API不支持图像输入，文本API无法理解坐标。必须设计替代方案即LoRA+DeepSeek混合方案。</a:t>
            </a:r>
            <a:endParaRPr 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大模型85.2%对比传统ML68.73%，16.5个百分点差距。矩阵识别从无到有是根本性质变。</a:t>
            </a:r>
            <a:endParaRPr 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分类范式的封闭类别限制导致传统ML无法识别矩阵，生成范式则能通过自回归生成任意矩阵结构。</a:t>
            </a:r>
            <a:endParaRPr 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传统ML任意CPU离线免费运行，大模型需要GPU和API。两者互补覆盖全部场景。</a:t>
            </a:r>
            <a:endParaRPr 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8维度全量对比表总结差异。核心：传统ML适合受限场景，大模型适合高精度开放场景，两者互补。</a:t>
            </a:r>
            <a:endParaRPr 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汇报结束，感谢聆听。</a:t>
            </a:r>
            <a:endParaRPr 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2" Type="http://schemas.openxmlformats.org/officeDocument/2006/relationships/notesSlide" Target="../notesSlides/notesSlide4.xml"/><Relationship Id="rId21" Type="http://schemas.openxmlformats.org/officeDocument/2006/relationships/slideLayout" Target="../slideLayouts/slideLayout1.xml"/><Relationship Id="rId20" Type="http://schemas.openxmlformats.org/officeDocument/2006/relationships/tags" Target="../tags/tag24.xml"/><Relationship Id="rId2" Type="http://schemas.openxmlformats.org/officeDocument/2006/relationships/tags" Target="../tags/tag6.xml"/><Relationship Id="rId19" Type="http://schemas.openxmlformats.org/officeDocument/2006/relationships/tags" Target="../tags/tag23.xml"/><Relationship Id="rId18" Type="http://schemas.openxmlformats.org/officeDocument/2006/relationships/tags" Target="../tags/tag22.xml"/><Relationship Id="rId17" Type="http://schemas.openxmlformats.org/officeDocument/2006/relationships/tags" Target="../tags/tag21.xml"/><Relationship Id="rId16" Type="http://schemas.openxmlformats.org/officeDocument/2006/relationships/tags" Target="../tags/tag20.xml"/><Relationship Id="rId15" Type="http://schemas.openxmlformats.org/officeDocument/2006/relationships/tags" Target="../tags/tag19.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A365D"/>
              </a:gs>
              <a:gs pos="100000">
                <a:srgbClr val="0F2440"/>
              </a:gs>
            </a:gsLst>
            <a:lin ang="2700000" scaled="1"/>
          </a:gradFill>
          <a:ln>
            <a:noFill/>
          </a:ln>
        </p:spPr>
      </p:sp>
      <p:sp>
        <p:nvSpPr>
          <p:cNvPr id="3" name="Rectangle 3"/>
          <p:cNvSpPr/>
          <p:nvPr/>
        </p:nvSpPr>
        <p:spPr>
          <a:xfrm>
            <a:off x="0" y="0"/>
            <a:ext cx="12192000" cy="47625"/>
          </a:xfrm>
          <a:prstGeom prst="rect">
            <a:avLst/>
          </a:prstGeom>
          <a:gradFill>
            <a:gsLst>
              <a:gs pos="0">
                <a:srgbClr val="E53E3E"/>
              </a:gs>
              <a:gs pos="50000">
                <a:srgbClr val="DD6B20"/>
              </a:gs>
              <a:gs pos="100000">
                <a:srgbClr val="3182CE"/>
              </a:gs>
            </a:gsLst>
            <a:lin ang="0" scaled="1"/>
          </a:gradFill>
          <a:ln>
            <a:noFill/>
          </a:ln>
        </p:spPr>
      </p:sp>
      <p:sp>
        <p:nvSpPr>
          <p:cNvPr id="4" name="Ellipse 4"/>
          <p:cNvSpPr/>
          <p:nvPr/>
        </p:nvSpPr>
        <p:spPr>
          <a:xfrm>
            <a:off x="7620000" y="-2095500"/>
            <a:ext cx="5715000" cy="5715000"/>
          </a:xfrm>
          <a:prstGeom prst="ellipse">
            <a:avLst/>
          </a:prstGeom>
          <a:noFill/>
          <a:ln w="9525">
            <a:solidFill>
              <a:srgbClr val="3182CE">
                <a:alpha val="8000"/>
              </a:srgbClr>
            </a:solidFill>
          </a:ln>
        </p:spPr>
      </p:sp>
      <p:sp>
        <p:nvSpPr>
          <p:cNvPr id="5" name="Ellipse 5"/>
          <p:cNvSpPr/>
          <p:nvPr/>
        </p:nvSpPr>
        <p:spPr>
          <a:xfrm>
            <a:off x="-476250" y="4286250"/>
            <a:ext cx="3810000" cy="3810000"/>
          </a:xfrm>
          <a:prstGeom prst="ellipse">
            <a:avLst/>
          </a:prstGeom>
          <a:noFill/>
          <a:ln w="9525">
            <a:solidFill>
              <a:srgbClr val="3182CE">
                <a:alpha val="6000"/>
              </a:srgbClr>
            </a:solidFill>
          </a:ln>
        </p:spPr>
      </p:sp>
      <p:sp>
        <p:nvSpPr>
          <p:cNvPr id="6" name="Rectangle 6"/>
          <p:cNvSpPr/>
          <p:nvPr/>
        </p:nvSpPr>
        <p:spPr>
          <a:xfrm>
            <a:off x="952500" y="2095500"/>
            <a:ext cx="57150" cy="857250"/>
          </a:xfrm>
          <a:prstGeom prst="roundRect">
            <a:avLst>
              <a:gd name="adj" fmla="val 50000"/>
            </a:avLst>
          </a:prstGeom>
          <a:solidFill>
            <a:srgbClr val="E53E3E"/>
          </a:solidFill>
          <a:ln>
            <a:noFill/>
          </a:ln>
        </p:spPr>
      </p:sp>
      <p:sp>
        <p:nvSpPr>
          <p:cNvPr id="7" name="TextBox 7"/>
          <p:cNvSpPr txBox="1"/>
          <p:nvPr/>
        </p:nvSpPr>
        <p:spPr>
          <a:xfrm>
            <a:off x="1192530" y="2183130"/>
            <a:ext cx="7148322" cy="731520"/>
          </a:xfrm>
          <a:prstGeom prst="rect">
            <a:avLst/>
          </a:prstGeom>
          <a:noFill/>
          <a:ln>
            <a:noFill/>
          </a:ln>
        </p:spPr>
        <p:txBody>
          <a:bodyPr wrap="none" lIns="0" tIns="0" rIns="0" bIns="0" anchor="t" anchorCtr="0">
            <a:spAutoFit/>
          </a:bodyPr>
          <a:lstStyle/>
          <a:p>
            <a:pPr algn="l"/>
            <a:r>
              <a:rPr lang="zh-CN" sz="3600" b="1" dirty="0">
                <a:solidFill>
                  <a:srgbClr val="FFFFFF"/>
                </a:solidFill>
                <a:latin typeface="Georgia" panose="02040502050405020303"/>
                <a:ea typeface="楷体" panose="02010609060101010101" charset="-122"/>
                <a:cs typeface="Georgia" panose="02040502050405020303"/>
              </a:rPr>
              <a:t>从传统机器学习到多模态大模型</a:t>
            </a:r>
            <a:endParaRPr lang="zh-CN" sz="3600" b="1" dirty="0">
              <a:solidFill>
                <a:srgbClr val="FFFFFF"/>
              </a:solidFill>
              <a:latin typeface="Georgia" panose="02040502050405020303"/>
              <a:ea typeface="楷体" panose="02010609060101010101" charset="-122"/>
              <a:cs typeface="Georgia" panose="02040502050405020303"/>
            </a:endParaRPr>
          </a:p>
        </p:txBody>
      </p:sp>
      <p:sp>
        <p:nvSpPr>
          <p:cNvPr id="8" name="TextBox 8"/>
          <p:cNvSpPr txBox="1"/>
          <p:nvPr/>
        </p:nvSpPr>
        <p:spPr>
          <a:xfrm>
            <a:off x="1192530" y="2707005"/>
            <a:ext cx="4628007" cy="731520"/>
          </a:xfrm>
          <a:prstGeom prst="rect">
            <a:avLst/>
          </a:prstGeom>
          <a:noFill/>
          <a:ln>
            <a:noFill/>
          </a:ln>
        </p:spPr>
        <p:txBody>
          <a:bodyPr wrap="none" lIns="0" tIns="0" rIns="0" bIns="0" anchor="t" anchorCtr="0">
            <a:spAutoFit/>
          </a:bodyPr>
          <a:lstStyle/>
          <a:p>
            <a:pPr algn="l"/>
            <a:r>
              <a:rPr lang="zh-CN" sz="3600" b="1" dirty="0">
                <a:solidFill>
                  <a:srgbClr val="FFFFFF"/>
                </a:solidFill>
                <a:latin typeface="Georgia" panose="02040502050405020303"/>
                <a:ea typeface="楷体" panose="02010609060101010101" charset="-122"/>
                <a:cs typeface="Georgia" panose="02040502050405020303"/>
              </a:rPr>
              <a:t>的手写数学公式识别</a:t>
            </a:r>
            <a:endParaRPr lang="zh-CN" sz="3600" b="1" dirty="0">
              <a:solidFill>
                <a:srgbClr val="FFFFFF"/>
              </a:solidFill>
              <a:latin typeface="Georgia" panose="02040502050405020303"/>
              <a:ea typeface="楷体" panose="02010609060101010101" charset="-122"/>
              <a:cs typeface="Georgia" panose="02040502050405020303"/>
            </a:endParaRPr>
          </a:p>
        </p:txBody>
      </p:sp>
      <p:sp>
        <p:nvSpPr>
          <p:cNvPr id="9" name="TextBox 9"/>
          <p:cNvSpPr txBox="1"/>
          <p:nvPr/>
        </p:nvSpPr>
        <p:spPr>
          <a:xfrm>
            <a:off x="1219200" y="3457575"/>
            <a:ext cx="4668679" cy="304800"/>
          </a:xfrm>
          <a:prstGeom prst="rect">
            <a:avLst/>
          </a:prstGeom>
          <a:noFill/>
          <a:ln>
            <a:noFill/>
          </a:ln>
        </p:spPr>
        <p:txBody>
          <a:bodyPr wrap="none" lIns="0" tIns="0" rIns="0" bIns="0" anchor="t" anchorCtr="0">
            <a:spAutoFit/>
          </a:bodyPr>
          <a:lstStyle/>
          <a:p>
            <a:pPr algn="l"/>
            <a:r>
              <a:rPr lang="zh-CN" sz="1500" dirty="0">
                <a:solidFill>
                  <a:srgbClr val="90CDF4"/>
                </a:solidFill>
                <a:latin typeface="Segoe UI" panose="020B0502040204020203"/>
                <a:ea typeface="微软雅黑" panose="020B0503020204020204" charset="-122"/>
                <a:cs typeface="Segoe UI" panose="020B0502040204020203"/>
              </a:rPr>
              <a:t>性能对比与演进分析 · 数据挖掘与机器学习课程项目</a:t>
            </a:r>
            <a:endParaRPr lang="zh-CN" sz="1500" dirty="0">
              <a:solidFill>
                <a:srgbClr val="90CDF4"/>
              </a:solidFill>
              <a:latin typeface="Segoe UI" panose="020B0502040204020203"/>
              <a:ea typeface="微软雅黑" panose="020B0503020204020204" charset="-122"/>
              <a:cs typeface="Segoe UI" panose="020B0502040204020203"/>
            </a:endParaRPr>
          </a:p>
        </p:txBody>
      </p:sp>
      <p:sp>
        <p:nvSpPr>
          <p:cNvPr id="10" name="Line 10"/>
          <p:cNvSpPr/>
          <p:nvPr/>
        </p:nvSpPr>
        <p:spPr>
          <a:xfrm>
            <a:off x="1238250" y="3857625"/>
            <a:ext cx="3048000" cy="9525"/>
          </a:xfrm>
          <a:custGeom>
            <a:avLst/>
            <a:gdLst/>
            <a:ahLst/>
            <a:cxnLst/>
            <a:rect l="l" t="t" r="r" b="b"/>
            <a:pathLst>
              <a:path w="3048000" h="9525">
                <a:moveTo>
                  <a:pt x="0" y="0"/>
                </a:moveTo>
                <a:lnTo>
                  <a:pt x="3048000" y="0"/>
                </a:lnTo>
              </a:path>
            </a:pathLst>
          </a:custGeom>
          <a:noFill/>
          <a:ln w="19050">
            <a:solidFill>
              <a:srgbClr val="3182CE">
                <a:alpha val="50000"/>
              </a:srgbClr>
            </a:solidFill>
          </a:ln>
        </p:spPr>
      </p:sp>
      <p:sp>
        <p:nvSpPr>
          <p:cNvPr id="11" name="TextBox 11"/>
          <p:cNvSpPr txBox="1"/>
          <p:nvPr/>
        </p:nvSpPr>
        <p:spPr>
          <a:xfrm>
            <a:off x="1223010" y="4109085"/>
            <a:ext cx="790575" cy="243840"/>
          </a:xfrm>
          <a:prstGeom prst="rect">
            <a:avLst/>
          </a:prstGeom>
          <a:noFill/>
          <a:ln>
            <a:noFill/>
          </a:ln>
        </p:spPr>
        <p:txBody>
          <a:bodyPr wrap="none" lIns="0" tIns="0" rIns="0" bIns="0" anchor="t" anchorCtr="0">
            <a:spAutoFit/>
          </a:bodyPr>
          <a:lstStyle/>
          <a:p>
            <a:pPr algn="l"/>
            <a:r>
              <a:rPr lang="zh-CN" sz="1200" dirty="0">
                <a:solidFill>
                  <a:srgbClr val="63B3ED"/>
                </a:solidFill>
                <a:latin typeface="Segoe UI" panose="020B0502040204020203"/>
                <a:ea typeface="微软雅黑" panose="020B0503020204020204" charset="-122"/>
                <a:cs typeface="Segoe UI" panose="020B0502040204020203"/>
              </a:rPr>
              <a:t>2026年5月</a:t>
            </a:r>
            <a:endParaRPr lang="zh-CN" sz="1200" dirty="0">
              <a:solidFill>
                <a:srgbClr val="63B3ED"/>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9494520" y="6217920"/>
            <a:ext cx="1197102" cy="487680"/>
          </a:xfrm>
          <a:prstGeom prst="rect">
            <a:avLst/>
          </a:prstGeom>
          <a:noFill/>
          <a:ln>
            <a:noFill/>
          </a:ln>
        </p:spPr>
        <p:txBody>
          <a:bodyPr wrap="none" lIns="0" tIns="0" rIns="0" bIns="0" anchor="t" anchorCtr="0">
            <a:spAutoFit/>
          </a:bodyPr>
          <a:lstStyle/>
          <a:p>
            <a:pPr algn="l"/>
            <a:r>
              <a:rPr lang="zh-CN" sz="2400" i="1" dirty="0">
                <a:solidFill>
                  <a:srgbClr val="FFFFFF">
                    <a:alphaMod val="4000"/>
                  </a:srgbClr>
                </a:solidFill>
                <a:latin typeface="Georgia" panose="02040502050405020303"/>
                <a:ea typeface="宋体" panose="02010600030101010101" pitchFamily="2" charset="-122"/>
                <a:cs typeface="Georgia" panose="02040502050405020303"/>
              </a:rPr>
              <a:t>E = mc²</a:t>
            </a:r>
            <a:endParaRPr lang="zh-CN" sz="2400" i="1" dirty="0">
              <a:solidFill>
                <a:srgbClr val="FFFFFF">
                  <a:alphaMod val="4000"/>
                </a:srgbClr>
              </a:solidFill>
              <a:latin typeface="Georgia" panose="02040502050405020303"/>
              <a:ea typeface="宋体" panose="02010600030101010101" pitchFamily="2" charset="-122"/>
              <a:cs typeface="Georgia" panose="02040502050405020303"/>
            </a:endParaRPr>
          </a:p>
        </p:txBody>
      </p:sp>
      <p:sp>
        <p:nvSpPr>
          <p:cNvPr id="13" name="Rectangle 13"/>
          <p:cNvSpPr/>
          <p:nvPr/>
        </p:nvSpPr>
        <p:spPr>
          <a:xfrm>
            <a:off x="0" y="6667500"/>
            <a:ext cx="12192000" cy="190500"/>
          </a:xfrm>
          <a:prstGeom prst="rect">
            <a:avLst/>
          </a:prstGeom>
          <a:solidFill>
            <a:srgbClr val="0F2440"/>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47625"/>
          </a:xfrm>
          <a:prstGeom prst="rect">
            <a:avLst/>
          </a:prstGeom>
          <a:solidFill>
            <a:srgbClr val="1A365D"/>
          </a:solidFill>
          <a:ln>
            <a:noFill/>
          </a:ln>
        </p:spPr>
      </p:sp>
      <p:sp>
        <p:nvSpPr>
          <p:cNvPr id="4" name="TextBox 4"/>
          <p:cNvSpPr txBox="1"/>
          <p:nvPr/>
        </p:nvSpPr>
        <p:spPr>
          <a:xfrm>
            <a:off x="727710" y="375285"/>
            <a:ext cx="2054225" cy="914400"/>
          </a:xfrm>
          <a:prstGeom prst="rect">
            <a:avLst/>
          </a:prstGeom>
          <a:noFill/>
          <a:ln>
            <a:noFill/>
          </a:ln>
        </p:spPr>
        <p:txBody>
          <a:bodyPr wrap="none" lIns="0" tIns="0" rIns="0" bIns="0" anchor="t" anchorCtr="0">
            <a:noAutofit/>
          </a:bodyPr>
          <a:lstStyle/>
          <a:p>
            <a:pPr algn="l"/>
            <a:r>
              <a:rPr lang="zh-CN" sz="3200" b="1" dirty="0">
                <a:solidFill>
                  <a:srgbClr val="1A365D"/>
                </a:solidFill>
                <a:latin typeface="Georgia" panose="02040502050405020303"/>
                <a:ea typeface="楷体" panose="02010609060101010101" charset="-122"/>
                <a:cs typeface="Georgia" panose="02040502050405020303"/>
              </a:rPr>
              <a:t>目 录</a:t>
            </a:r>
            <a:endParaRPr lang="zh-CN" sz="3200" b="1" dirty="0">
              <a:solidFill>
                <a:srgbClr val="1A365D"/>
              </a:solidFill>
              <a:latin typeface="Georgia" panose="02040502050405020303"/>
              <a:ea typeface="楷体" panose="02010609060101010101" charset="-122"/>
              <a:cs typeface="Georgia" panose="02040502050405020303"/>
            </a:endParaRPr>
          </a:p>
        </p:txBody>
      </p:sp>
      <p:sp>
        <p:nvSpPr>
          <p:cNvPr id="5" name="Line 5"/>
          <p:cNvSpPr/>
          <p:nvPr/>
        </p:nvSpPr>
        <p:spPr>
          <a:xfrm>
            <a:off x="762000" y="809625"/>
            <a:ext cx="10668000" cy="9525"/>
          </a:xfrm>
          <a:custGeom>
            <a:avLst/>
            <a:gdLst/>
            <a:ahLst/>
            <a:cxnLst/>
            <a:rect l="l" t="t" r="r" b="b"/>
            <a:pathLst>
              <a:path w="10668000" h="9525">
                <a:moveTo>
                  <a:pt x="0" y="0"/>
                </a:moveTo>
                <a:lnTo>
                  <a:pt x="10668000" y="0"/>
                </a:lnTo>
              </a:path>
            </a:pathLst>
          </a:custGeom>
          <a:noFill/>
          <a:ln w="9525">
            <a:solidFill>
              <a:srgbClr val="E2E8F0"/>
            </a:solidFill>
          </a:ln>
        </p:spPr>
      </p:sp>
      <p:grpSp>
        <p:nvGrpSpPr>
          <p:cNvPr id="30" name="Group 30"/>
          <p:cNvGrpSpPr/>
          <p:nvPr/>
        </p:nvGrpSpPr>
        <p:grpSpPr>
          <a:xfrm>
            <a:off x="762000" y="1143000"/>
            <a:ext cx="8422005" cy="4020185"/>
            <a:chOff x="762000" y="1143000"/>
            <a:chExt cx="6858000" cy="2381250"/>
          </a:xfrm>
        </p:grpSpPr>
        <p:sp>
          <p:nvSpPr>
            <p:cNvPr id="6" name="Rectangle 6"/>
            <p:cNvSpPr/>
            <p:nvPr/>
          </p:nvSpPr>
          <p:spPr>
            <a:xfrm>
              <a:off x="762000" y="1143000"/>
              <a:ext cx="3238500" cy="666750"/>
            </a:xfrm>
            <a:prstGeom prst="roundRect">
              <a:avLst>
                <a:gd name="adj" fmla="val 8571"/>
              </a:avLst>
            </a:prstGeom>
            <a:solidFill>
              <a:srgbClr val="EBF8FF"/>
            </a:solidFill>
            <a:ln>
              <a:noFill/>
            </a:ln>
          </p:spPr>
        </p:sp>
        <p:sp>
          <p:nvSpPr>
            <p:cNvPr id="7" name="Rectangle 7"/>
            <p:cNvSpPr/>
            <p:nvPr/>
          </p:nvSpPr>
          <p:spPr>
            <a:xfrm>
              <a:off x="762000" y="1143000"/>
              <a:ext cx="57150" cy="666750"/>
            </a:xfrm>
            <a:prstGeom prst="roundRect">
              <a:avLst>
                <a:gd name="adj" fmla="val 50000"/>
              </a:avLst>
            </a:prstGeom>
            <a:solidFill>
              <a:srgbClr val="3182CE"/>
            </a:solidFill>
            <a:ln>
              <a:noFill/>
            </a:ln>
          </p:spPr>
        </p:sp>
        <p:sp>
          <p:nvSpPr>
            <p:cNvPr id="8" name="TextBox 8"/>
            <p:cNvSpPr txBox="1"/>
            <p:nvPr/>
          </p:nvSpPr>
          <p:spPr>
            <a:xfrm>
              <a:off x="1032510" y="1299210"/>
              <a:ext cx="1219200" cy="145561"/>
            </a:xfrm>
            <a:prstGeom prst="rect">
              <a:avLst/>
            </a:prstGeom>
            <a:noFill/>
            <a:ln>
              <a:noFill/>
            </a:ln>
          </p:spPr>
          <p:txBody>
            <a:bodyPr wrap="square" lIns="0" tIns="0" rIns="0" bIns="0" anchor="t" anchorCtr="0">
              <a:spAutoFit/>
            </a:bodyPr>
            <a:lstStyle/>
            <a:p>
              <a:pPr algn="l"/>
              <a:r>
                <a:rPr lang="zh-CN" sz="1600" b="1" dirty="0">
                  <a:solidFill>
                    <a:srgbClr val="2D3748"/>
                  </a:solidFill>
                  <a:latin typeface="Segoe UI" panose="020B0502040204020203"/>
                  <a:ea typeface="微软雅黑" panose="020B0503020204020204" charset="-122"/>
                  <a:cs typeface="Segoe UI" panose="020B0502040204020203"/>
                </a:rPr>
                <a:t>挖掘目标定义</a:t>
              </a:r>
              <a:endParaRPr lang="zh-CN" sz="1600" b="1" dirty="0">
                <a:solidFill>
                  <a:srgbClr val="2D3748"/>
                </a:solidFill>
                <a:latin typeface="Segoe UI" panose="020B0502040204020203"/>
                <a:ea typeface="微软雅黑" panose="020B0503020204020204" charset="-122"/>
                <a:cs typeface="Segoe UI" panose="020B0502040204020203"/>
              </a:endParaRPr>
            </a:p>
          </p:txBody>
        </p:sp>
        <p:sp>
          <p:nvSpPr>
            <p:cNvPr id="9" name="TextBox 9"/>
            <p:cNvSpPr txBox="1"/>
            <p:nvPr/>
          </p:nvSpPr>
          <p:spPr>
            <a:xfrm>
              <a:off x="1035368" y="1513999"/>
              <a:ext cx="1524000" cy="109076"/>
            </a:xfrm>
            <a:prstGeom prst="rect">
              <a:avLst/>
            </a:prstGeom>
            <a:noFill/>
            <a:ln>
              <a:noFill/>
            </a:ln>
          </p:spPr>
          <p:txBody>
            <a:bodyPr wrap="square" lIns="0" tIns="0" rIns="0" bIns="0" anchor="t" anchorCtr="0">
              <a:spAutoFit/>
            </a:bodyPr>
            <a:lstStyle/>
            <a:p>
              <a:pPr algn="l"/>
              <a:r>
                <a:rPr lang="zh-CN" sz="1200" dirty="0">
                  <a:solidFill>
                    <a:srgbClr val="718096"/>
                  </a:solidFill>
                  <a:latin typeface="Segoe UI" panose="020B0502040204020203"/>
                  <a:ea typeface="微软雅黑" panose="020B0503020204020204" charset="-122"/>
                  <a:cs typeface="Segoe UI" panose="020B0502040204020203"/>
                </a:rPr>
                <a:t>项目背景、目标与挑战</a:t>
              </a:r>
              <a:endParaRPr lang="zh-CN" sz="1200" dirty="0">
                <a:solidFill>
                  <a:srgbClr val="718096"/>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762000" y="2000250"/>
              <a:ext cx="3238500" cy="666750"/>
            </a:xfrm>
            <a:prstGeom prst="roundRect">
              <a:avLst>
                <a:gd name="adj" fmla="val 8571"/>
              </a:avLst>
            </a:prstGeom>
            <a:solidFill>
              <a:srgbClr val="EBF8FF"/>
            </a:solidFill>
            <a:ln>
              <a:noFill/>
            </a:ln>
          </p:spPr>
        </p:sp>
        <p:sp>
          <p:nvSpPr>
            <p:cNvPr id="11" name="Rectangle 11"/>
            <p:cNvSpPr/>
            <p:nvPr/>
          </p:nvSpPr>
          <p:spPr>
            <a:xfrm>
              <a:off x="762000" y="2000250"/>
              <a:ext cx="57150" cy="666750"/>
            </a:xfrm>
            <a:prstGeom prst="roundRect">
              <a:avLst>
                <a:gd name="adj" fmla="val 50000"/>
              </a:avLst>
            </a:prstGeom>
            <a:solidFill>
              <a:srgbClr val="3182CE"/>
            </a:solidFill>
            <a:ln>
              <a:noFill/>
            </a:ln>
          </p:spPr>
        </p:sp>
        <p:sp>
          <p:nvSpPr>
            <p:cNvPr id="12" name="TextBox 12"/>
            <p:cNvSpPr txBox="1"/>
            <p:nvPr/>
          </p:nvSpPr>
          <p:spPr>
            <a:xfrm>
              <a:off x="1032510" y="2156460"/>
              <a:ext cx="812800" cy="145561"/>
            </a:xfrm>
            <a:prstGeom prst="rect">
              <a:avLst/>
            </a:prstGeom>
            <a:noFill/>
            <a:ln>
              <a:noFill/>
            </a:ln>
          </p:spPr>
          <p:txBody>
            <a:bodyPr wrap="square" lIns="0" tIns="0" rIns="0" bIns="0" anchor="t" anchorCtr="0">
              <a:spAutoFit/>
            </a:bodyPr>
            <a:lstStyle/>
            <a:p>
              <a:pPr algn="l"/>
              <a:r>
                <a:rPr lang="zh-CN" sz="1600" b="1" dirty="0">
                  <a:solidFill>
                    <a:srgbClr val="2D3748"/>
                  </a:solidFill>
                  <a:latin typeface="Segoe UI" panose="020B0502040204020203"/>
                  <a:ea typeface="微软雅黑" panose="020B0503020204020204" charset="-122"/>
                  <a:cs typeface="Segoe UI" panose="020B0502040204020203"/>
                </a:rPr>
                <a:t>数据准备</a:t>
              </a:r>
              <a:endParaRPr lang="zh-CN" sz="1600" b="1" dirty="0">
                <a:solidFill>
                  <a:srgbClr val="2D3748"/>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035368" y="2371249"/>
              <a:ext cx="1371600" cy="109076"/>
            </a:xfrm>
            <a:prstGeom prst="rect">
              <a:avLst/>
            </a:prstGeom>
            <a:noFill/>
            <a:ln>
              <a:noFill/>
            </a:ln>
          </p:spPr>
          <p:txBody>
            <a:bodyPr wrap="square" lIns="0" tIns="0" rIns="0" bIns="0" anchor="t" anchorCtr="0">
              <a:spAutoFit/>
            </a:bodyPr>
            <a:lstStyle/>
            <a:p>
              <a:pPr algn="l"/>
              <a:r>
                <a:rPr lang="zh-CN" sz="1200" dirty="0">
                  <a:solidFill>
                    <a:srgbClr val="718096"/>
                  </a:solidFill>
                  <a:latin typeface="Segoe UI" panose="020B0502040204020203"/>
                  <a:ea typeface="微软雅黑" panose="020B0503020204020204" charset="-122"/>
                  <a:cs typeface="Segoe UI" panose="020B0502040204020203"/>
                </a:rPr>
                <a:t>数据集概览与预处理</a:t>
              </a:r>
              <a:endParaRPr lang="zh-CN" sz="1200" dirty="0">
                <a:solidFill>
                  <a:srgbClr val="718096"/>
                </a:solidFill>
                <a:latin typeface="Segoe UI" panose="020B0502040204020203"/>
                <a:ea typeface="微软雅黑" panose="020B0503020204020204" charset="-122"/>
                <a:cs typeface="Segoe UI" panose="020B0502040204020203"/>
              </a:endParaRPr>
            </a:p>
          </p:txBody>
        </p:sp>
        <p:sp>
          <p:nvSpPr>
            <p:cNvPr id="14" name="Rectangle 14"/>
            <p:cNvSpPr/>
            <p:nvPr/>
          </p:nvSpPr>
          <p:spPr>
            <a:xfrm>
              <a:off x="762000" y="2857500"/>
              <a:ext cx="3238500" cy="666750"/>
            </a:xfrm>
            <a:prstGeom prst="roundRect">
              <a:avLst>
                <a:gd name="adj" fmla="val 8571"/>
              </a:avLst>
            </a:prstGeom>
            <a:solidFill>
              <a:srgbClr val="EBF8FF"/>
            </a:solidFill>
            <a:ln>
              <a:noFill/>
            </a:ln>
          </p:spPr>
        </p:sp>
        <p:sp>
          <p:nvSpPr>
            <p:cNvPr id="15" name="Rectangle 15"/>
            <p:cNvSpPr/>
            <p:nvPr/>
          </p:nvSpPr>
          <p:spPr>
            <a:xfrm>
              <a:off x="762000" y="2857500"/>
              <a:ext cx="57150" cy="666750"/>
            </a:xfrm>
            <a:prstGeom prst="roundRect">
              <a:avLst>
                <a:gd name="adj" fmla="val 50000"/>
              </a:avLst>
            </a:prstGeom>
            <a:solidFill>
              <a:srgbClr val="3182CE"/>
            </a:solidFill>
            <a:ln>
              <a:noFill/>
            </a:ln>
          </p:spPr>
        </p:sp>
        <p:sp>
          <p:nvSpPr>
            <p:cNvPr id="16" name="TextBox 16"/>
            <p:cNvSpPr txBox="1"/>
            <p:nvPr/>
          </p:nvSpPr>
          <p:spPr>
            <a:xfrm>
              <a:off x="1032510" y="3013710"/>
              <a:ext cx="1625600" cy="145561"/>
            </a:xfrm>
            <a:prstGeom prst="rect">
              <a:avLst/>
            </a:prstGeom>
            <a:noFill/>
            <a:ln>
              <a:noFill/>
            </a:ln>
          </p:spPr>
          <p:txBody>
            <a:bodyPr wrap="square" lIns="0" tIns="0" rIns="0" bIns="0" anchor="t" anchorCtr="0">
              <a:spAutoFit/>
            </a:bodyPr>
            <a:lstStyle/>
            <a:p>
              <a:pPr algn="l"/>
              <a:r>
                <a:rPr lang="zh-CN" sz="1600" b="1" dirty="0">
                  <a:solidFill>
                    <a:srgbClr val="2D3748"/>
                  </a:solidFill>
                  <a:latin typeface="Segoe UI" panose="020B0502040204020203"/>
                  <a:ea typeface="微软雅黑" panose="020B0503020204020204" charset="-122"/>
                  <a:cs typeface="Segoe UI" panose="020B0502040204020203"/>
                </a:rPr>
                <a:t>数据探索与可视化</a:t>
              </a:r>
              <a:endParaRPr lang="zh-CN" sz="1600" b="1" dirty="0">
                <a:solidFill>
                  <a:srgbClr val="2D3748"/>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1035368" y="3228499"/>
              <a:ext cx="1828800" cy="109076"/>
            </a:xfrm>
            <a:prstGeom prst="rect">
              <a:avLst/>
            </a:prstGeom>
            <a:noFill/>
            <a:ln>
              <a:noFill/>
            </a:ln>
          </p:spPr>
          <p:txBody>
            <a:bodyPr wrap="square" lIns="0" tIns="0" rIns="0" bIns="0" anchor="t" anchorCtr="0">
              <a:spAutoFit/>
            </a:bodyPr>
            <a:lstStyle/>
            <a:p>
              <a:pPr algn="l"/>
              <a:r>
                <a:rPr lang="zh-CN" sz="1200" dirty="0">
                  <a:solidFill>
                    <a:srgbClr val="718096"/>
                  </a:solidFill>
                  <a:latin typeface="Segoe UI" panose="020B0502040204020203"/>
                  <a:ea typeface="微软雅黑" panose="020B0503020204020204" charset="-122"/>
                  <a:cs typeface="Segoe UI" panose="020B0502040204020203"/>
                </a:rPr>
                <a:t>数据分布分析与特征可视化</a:t>
              </a:r>
              <a:endParaRPr lang="zh-CN" sz="1200" dirty="0">
                <a:solidFill>
                  <a:srgbClr val="718096"/>
                </a:solidFill>
                <a:latin typeface="Segoe UI" panose="020B0502040204020203"/>
                <a:ea typeface="微软雅黑" panose="020B0503020204020204" charset="-122"/>
                <a:cs typeface="Segoe UI" panose="020B0502040204020203"/>
              </a:endParaRPr>
            </a:p>
          </p:txBody>
        </p:sp>
        <p:sp>
          <p:nvSpPr>
            <p:cNvPr id="18" name="Rectangle 18"/>
            <p:cNvSpPr/>
            <p:nvPr/>
          </p:nvSpPr>
          <p:spPr>
            <a:xfrm>
              <a:off x="4381500" y="1143000"/>
              <a:ext cx="3238500" cy="666750"/>
            </a:xfrm>
            <a:prstGeom prst="roundRect">
              <a:avLst>
                <a:gd name="adj" fmla="val 8571"/>
              </a:avLst>
            </a:prstGeom>
            <a:solidFill>
              <a:srgbClr val="FFF5F5"/>
            </a:solidFill>
            <a:ln>
              <a:noFill/>
            </a:ln>
          </p:spPr>
        </p:sp>
        <p:sp>
          <p:nvSpPr>
            <p:cNvPr id="19" name="Rectangle 19"/>
            <p:cNvSpPr/>
            <p:nvPr/>
          </p:nvSpPr>
          <p:spPr>
            <a:xfrm>
              <a:off x="4381500" y="1143000"/>
              <a:ext cx="57150" cy="666750"/>
            </a:xfrm>
            <a:prstGeom prst="roundRect">
              <a:avLst>
                <a:gd name="adj" fmla="val 50000"/>
              </a:avLst>
            </a:prstGeom>
            <a:solidFill>
              <a:srgbClr val="E53E3E"/>
            </a:solidFill>
            <a:ln>
              <a:noFill/>
            </a:ln>
          </p:spPr>
        </p:sp>
        <p:sp>
          <p:nvSpPr>
            <p:cNvPr id="20" name="TextBox 20"/>
            <p:cNvSpPr txBox="1"/>
            <p:nvPr/>
          </p:nvSpPr>
          <p:spPr>
            <a:xfrm>
              <a:off x="4652010" y="1299210"/>
              <a:ext cx="812800" cy="145561"/>
            </a:xfrm>
            <a:prstGeom prst="rect">
              <a:avLst/>
            </a:prstGeom>
            <a:noFill/>
            <a:ln>
              <a:noFill/>
            </a:ln>
          </p:spPr>
          <p:txBody>
            <a:bodyPr wrap="square" lIns="0" tIns="0" rIns="0" bIns="0" anchor="t" anchorCtr="0">
              <a:spAutoFit/>
            </a:bodyPr>
            <a:lstStyle/>
            <a:p>
              <a:pPr algn="l"/>
              <a:r>
                <a:rPr lang="zh-CN" sz="1600" b="1" dirty="0">
                  <a:solidFill>
                    <a:srgbClr val="2D3748"/>
                  </a:solidFill>
                  <a:latin typeface="Segoe UI" panose="020B0502040204020203"/>
                  <a:ea typeface="微软雅黑" panose="020B0503020204020204" charset="-122"/>
                  <a:cs typeface="Segoe UI" panose="020B0502040204020203"/>
                </a:rPr>
                <a:t>模型建立</a:t>
              </a:r>
              <a:endParaRPr lang="zh-CN" sz="1600" b="1" dirty="0">
                <a:solidFill>
                  <a:srgbClr val="2D374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4654868" y="1513999"/>
              <a:ext cx="1676400" cy="109076"/>
            </a:xfrm>
            <a:prstGeom prst="rect">
              <a:avLst/>
            </a:prstGeom>
            <a:noFill/>
            <a:ln>
              <a:noFill/>
            </a:ln>
          </p:spPr>
          <p:txBody>
            <a:bodyPr wrap="square" lIns="0" tIns="0" rIns="0" bIns="0" anchor="t" anchorCtr="0">
              <a:spAutoFit/>
            </a:bodyPr>
            <a:lstStyle/>
            <a:p>
              <a:pPr algn="l"/>
              <a:r>
                <a:rPr lang="zh-CN" sz="1200" dirty="0">
                  <a:solidFill>
                    <a:srgbClr val="718096"/>
                  </a:solidFill>
                  <a:latin typeface="Segoe UI" panose="020B0502040204020203"/>
                  <a:ea typeface="微软雅黑" panose="020B0503020204020204" charset="-122"/>
                  <a:cs typeface="Segoe UI" panose="020B0502040204020203"/>
                </a:rPr>
                <a:t>三类算法路线的详细讲解</a:t>
              </a:r>
              <a:endParaRPr lang="zh-CN" sz="1200" dirty="0">
                <a:solidFill>
                  <a:srgbClr val="718096"/>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4381500" y="2000250"/>
              <a:ext cx="3238500" cy="666750"/>
            </a:xfrm>
            <a:prstGeom prst="roundRect">
              <a:avLst>
                <a:gd name="adj" fmla="val 8571"/>
              </a:avLst>
            </a:prstGeom>
            <a:solidFill>
              <a:srgbClr val="FFF5F5"/>
            </a:solidFill>
            <a:ln>
              <a:noFill/>
            </a:ln>
          </p:spPr>
        </p:sp>
        <p:sp>
          <p:nvSpPr>
            <p:cNvPr id="23" name="Rectangle 23"/>
            <p:cNvSpPr/>
            <p:nvPr/>
          </p:nvSpPr>
          <p:spPr>
            <a:xfrm>
              <a:off x="4381500" y="2000250"/>
              <a:ext cx="57150" cy="666750"/>
            </a:xfrm>
            <a:prstGeom prst="roundRect">
              <a:avLst>
                <a:gd name="adj" fmla="val 50000"/>
              </a:avLst>
            </a:prstGeom>
            <a:solidFill>
              <a:srgbClr val="E53E3E"/>
            </a:solidFill>
            <a:ln>
              <a:noFill/>
            </a:ln>
          </p:spPr>
        </p:sp>
        <p:sp>
          <p:nvSpPr>
            <p:cNvPr id="24" name="TextBox 24"/>
            <p:cNvSpPr txBox="1"/>
            <p:nvPr/>
          </p:nvSpPr>
          <p:spPr>
            <a:xfrm>
              <a:off x="4652010" y="2156460"/>
              <a:ext cx="812800" cy="145561"/>
            </a:xfrm>
            <a:prstGeom prst="rect">
              <a:avLst/>
            </a:prstGeom>
            <a:noFill/>
            <a:ln>
              <a:noFill/>
            </a:ln>
          </p:spPr>
          <p:txBody>
            <a:bodyPr wrap="square" lIns="0" tIns="0" rIns="0" bIns="0" anchor="t" anchorCtr="0">
              <a:spAutoFit/>
            </a:bodyPr>
            <a:lstStyle/>
            <a:p>
              <a:pPr algn="l"/>
              <a:r>
                <a:rPr lang="zh-CN" sz="1600" b="1" dirty="0">
                  <a:solidFill>
                    <a:srgbClr val="2D3748"/>
                  </a:solidFill>
                  <a:latin typeface="Segoe UI" panose="020B0502040204020203"/>
                  <a:ea typeface="微软雅黑" panose="020B0503020204020204" charset="-122"/>
                  <a:cs typeface="Segoe UI" panose="020B0502040204020203"/>
                </a:rPr>
                <a:t>模型评估</a:t>
              </a:r>
              <a:endParaRPr lang="zh-CN" sz="1600" b="1" dirty="0">
                <a:solidFill>
                  <a:srgbClr val="2D3748"/>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4654868" y="2371249"/>
              <a:ext cx="1676400" cy="109076"/>
            </a:xfrm>
            <a:prstGeom prst="rect">
              <a:avLst/>
            </a:prstGeom>
            <a:noFill/>
            <a:ln>
              <a:noFill/>
            </a:ln>
          </p:spPr>
          <p:txBody>
            <a:bodyPr wrap="square" lIns="0" tIns="0" rIns="0" bIns="0" anchor="t" anchorCtr="0">
              <a:spAutoFit/>
            </a:bodyPr>
            <a:lstStyle/>
            <a:p>
              <a:pPr algn="l"/>
              <a:r>
                <a:rPr lang="zh-CN" sz="1200" dirty="0">
                  <a:solidFill>
                    <a:srgbClr val="718096"/>
                  </a:solidFill>
                  <a:latin typeface="Segoe UI" panose="020B0502040204020203"/>
                  <a:ea typeface="微软雅黑" panose="020B0503020204020204" charset="-122"/>
                  <a:cs typeface="Segoe UI" panose="020B0502040204020203"/>
                </a:rPr>
                <a:t>评估指标体系与结果对比</a:t>
              </a:r>
              <a:endParaRPr lang="zh-CN" sz="1200" dirty="0">
                <a:solidFill>
                  <a:srgbClr val="718096"/>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4381500" y="2857500"/>
              <a:ext cx="3238500" cy="666750"/>
            </a:xfrm>
            <a:prstGeom prst="roundRect">
              <a:avLst>
                <a:gd name="adj" fmla="val 8571"/>
              </a:avLst>
            </a:prstGeom>
            <a:solidFill>
              <a:srgbClr val="FFF5F5"/>
            </a:solidFill>
            <a:ln>
              <a:noFill/>
            </a:ln>
          </p:spPr>
        </p:sp>
        <p:sp>
          <p:nvSpPr>
            <p:cNvPr id="27" name="Rectangle 27"/>
            <p:cNvSpPr/>
            <p:nvPr/>
          </p:nvSpPr>
          <p:spPr>
            <a:xfrm>
              <a:off x="4381500" y="2857500"/>
              <a:ext cx="57150" cy="666750"/>
            </a:xfrm>
            <a:prstGeom prst="roundRect">
              <a:avLst>
                <a:gd name="adj" fmla="val 50000"/>
              </a:avLst>
            </a:prstGeom>
            <a:solidFill>
              <a:srgbClr val="E53E3E"/>
            </a:solidFill>
            <a:ln>
              <a:noFill/>
            </a:ln>
          </p:spPr>
        </p:sp>
        <p:sp>
          <p:nvSpPr>
            <p:cNvPr id="28" name="TextBox 28"/>
            <p:cNvSpPr txBox="1"/>
            <p:nvPr/>
          </p:nvSpPr>
          <p:spPr>
            <a:xfrm>
              <a:off x="4652010" y="3013710"/>
              <a:ext cx="812800" cy="145561"/>
            </a:xfrm>
            <a:prstGeom prst="rect">
              <a:avLst/>
            </a:prstGeom>
            <a:noFill/>
            <a:ln>
              <a:noFill/>
            </a:ln>
          </p:spPr>
          <p:txBody>
            <a:bodyPr wrap="square" lIns="0" tIns="0" rIns="0" bIns="0" anchor="t" anchorCtr="0">
              <a:spAutoFit/>
            </a:bodyPr>
            <a:lstStyle/>
            <a:p>
              <a:pPr algn="l"/>
              <a:r>
                <a:rPr lang="zh-CN" sz="1600" b="1" dirty="0">
                  <a:solidFill>
                    <a:srgbClr val="2D3748"/>
                  </a:solidFill>
                  <a:latin typeface="Segoe UI" panose="020B0502040204020203"/>
                  <a:ea typeface="微软雅黑" panose="020B0503020204020204" charset="-122"/>
                  <a:cs typeface="Segoe UI" panose="020B0502040204020203"/>
                </a:rPr>
                <a:t>模型部署</a:t>
              </a:r>
              <a:endParaRPr lang="zh-CN" sz="1600" b="1" dirty="0">
                <a:solidFill>
                  <a:srgbClr val="2D3748"/>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4654868" y="3228499"/>
              <a:ext cx="1371600" cy="109076"/>
            </a:xfrm>
            <a:prstGeom prst="rect">
              <a:avLst/>
            </a:prstGeom>
            <a:noFill/>
            <a:ln>
              <a:noFill/>
            </a:ln>
          </p:spPr>
          <p:txBody>
            <a:bodyPr wrap="square" lIns="0" tIns="0" rIns="0" bIns="0" anchor="t" anchorCtr="0">
              <a:spAutoFit/>
            </a:bodyPr>
            <a:lstStyle/>
            <a:p>
              <a:pPr algn="l"/>
              <a:r>
                <a:rPr lang="zh-CN" sz="1200" dirty="0">
                  <a:solidFill>
                    <a:srgbClr val="718096"/>
                  </a:solidFill>
                  <a:latin typeface="Segoe UI" panose="020B0502040204020203"/>
                  <a:ea typeface="微软雅黑" panose="020B0503020204020204" charset="-122"/>
                  <a:cs typeface="Segoe UI" panose="020B0502040204020203"/>
                </a:rPr>
                <a:t>使用方式与应用场景</a:t>
              </a:r>
              <a:endParaRPr lang="zh-CN" sz="1200" dirty="0">
                <a:solidFill>
                  <a:srgbClr val="718096"/>
                </a:solidFill>
                <a:latin typeface="Segoe UI" panose="020B0502040204020203"/>
                <a:ea typeface="微软雅黑" panose="020B0503020204020204" charset="-122"/>
                <a:cs typeface="Segoe UI" panose="020B0502040204020203"/>
              </a:endParaRPr>
            </a:p>
          </p:txBody>
        </p:sp>
      </p:grpSp>
      <p:sp>
        <p:nvSpPr>
          <p:cNvPr id="31" name="Rectangle 31"/>
          <p:cNvSpPr/>
          <p:nvPr/>
        </p:nvSpPr>
        <p:spPr>
          <a:xfrm>
            <a:off x="0" y="6667500"/>
            <a:ext cx="12192000" cy="190500"/>
          </a:xfrm>
          <a:prstGeom prst="rect">
            <a:avLst/>
          </a:prstGeom>
          <a:solidFill>
            <a:srgbClr val="F7FAF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400"/>
                                        <p:tgtEl>
                                          <p:spTgt spid="3"/>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slide(fromBottom)">
                                      <p:cBhvr>
                                        <p:cTn id="15" dur="400"/>
                                        <p:tgtEl>
                                          <p:spTgt spid="4"/>
                                        </p:tgtEl>
                                      </p:cBhvr>
                                    </p:animEffect>
                                  </p:childTnLst>
                                </p:cTn>
                              </p:par>
                            </p:childTnLst>
                          </p:cTn>
                        </p:par>
                        <p:par>
                          <p:cTn id="16" fill="hold">
                            <p:stCondLst>
                              <p:cond delay="1500"/>
                            </p:stCondLst>
                            <p:childTnLst>
                              <p:par>
                                <p:cTn id="17" presetID="23" presetClass="entr" presetSubtype="16"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image">
                                      <p:cBhvr>
                                        <p:cTn id="19" dur="400"/>
                                        <p:tgtEl>
                                          <p:spTgt spid="5"/>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400"/>
                                        <p:tgtEl>
                                          <p:spTgt spid="30"/>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left)">
                                      <p:cBhvr>
                                        <p:cTn id="2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30" grpId="0"/>
      <p:bldP spid="3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47625"/>
          </a:xfrm>
          <a:prstGeom prst="rect">
            <a:avLst/>
          </a:prstGeom>
          <a:solidFill>
            <a:srgbClr val="3182CE"/>
          </a:solidFill>
          <a:ln>
            <a:noFill/>
          </a:ln>
        </p:spPr>
      </p:sp>
      <p:sp>
        <p:nvSpPr>
          <p:cNvPr id="4" name="Rectangle 4"/>
          <p:cNvSpPr/>
          <p:nvPr/>
        </p:nvSpPr>
        <p:spPr>
          <a:xfrm>
            <a:off x="762000" y="476250"/>
            <a:ext cx="621665" cy="407035"/>
          </a:xfrm>
          <a:prstGeom prst="roundRect">
            <a:avLst>
              <a:gd name="adj" fmla="val 13333"/>
            </a:avLst>
          </a:prstGeom>
          <a:solidFill>
            <a:srgbClr val="3182CE"/>
          </a:solidFill>
          <a:ln>
            <a:noFill/>
          </a:ln>
        </p:spPr>
      </p:sp>
      <p:sp>
        <p:nvSpPr>
          <p:cNvPr id="5" name="TextBox 5"/>
          <p:cNvSpPr txBox="1"/>
          <p:nvPr/>
        </p:nvSpPr>
        <p:spPr>
          <a:xfrm>
            <a:off x="910590" y="561340"/>
            <a:ext cx="297815" cy="235585"/>
          </a:xfrm>
          <a:prstGeom prst="rect">
            <a:avLst/>
          </a:prstGeom>
          <a:noFill/>
          <a:ln>
            <a:noFill/>
          </a:ln>
        </p:spPr>
        <p:txBody>
          <a:bodyPr wrap="none" lIns="0" tIns="0" rIns="0" bIns="0" anchor="t" anchorCtr="0">
            <a:noAutofit/>
          </a:bodyPr>
          <a:lstStyle/>
          <a:p>
            <a:pPr algn="ctr"/>
            <a:r>
              <a:rPr lang="zh-CN" sz="1400" b="1" dirty="0">
                <a:solidFill>
                  <a:srgbClr val="FFFFFF"/>
                </a:solidFill>
                <a:latin typeface="Segoe UI" panose="020B0502040204020203"/>
                <a:ea typeface="微软雅黑" panose="020B0503020204020204" charset="-122"/>
                <a:cs typeface="Segoe UI" panose="020B0502040204020203"/>
              </a:rPr>
              <a:t>目标</a:t>
            </a:r>
            <a:endParaRPr lang="zh-CN" sz="1400" b="1" dirty="0">
              <a:solidFill>
                <a:srgbClr val="FFFFFF"/>
              </a:solidFill>
              <a:latin typeface="Segoe UI" panose="020B0502040204020203"/>
              <a:ea typeface="微软雅黑" panose="020B0503020204020204" charset="-122"/>
              <a:cs typeface="Segoe UI" panose="020B0502040204020203"/>
            </a:endParaRPr>
          </a:p>
        </p:txBody>
      </p:sp>
      <p:sp>
        <p:nvSpPr>
          <p:cNvPr id="6" name="TextBox 6"/>
          <p:cNvSpPr txBox="1"/>
          <p:nvPr/>
        </p:nvSpPr>
        <p:spPr>
          <a:xfrm>
            <a:off x="1457325" y="504825"/>
            <a:ext cx="2552700" cy="349885"/>
          </a:xfrm>
          <a:prstGeom prst="rect">
            <a:avLst/>
          </a:prstGeom>
          <a:noFill/>
          <a:ln>
            <a:noFill/>
          </a:ln>
        </p:spPr>
        <p:txBody>
          <a:bodyPr wrap="none" lIns="0" tIns="0" rIns="0" bIns="0" anchor="t" anchorCtr="0">
            <a:noAutofit/>
          </a:bodyPr>
          <a:lstStyle/>
          <a:p>
            <a:pPr algn="l"/>
            <a:r>
              <a:rPr lang="zh-CN" sz="2000" b="1" dirty="0">
                <a:solidFill>
                  <a:srgbClr val="2D3748"/>
                </a:solidFill>
                <a:latin typeface="Segoe UI" panose="020B0502040204020203"/>
                <a:ea typeface="微软雅黑" panose="020B0503020204020204" charset="-122"/>
                <a:cs typeface="Segoe UI" panose="020B0502040204020203"/>
              </a:rPr>
              <a:t>挖掘目标定义 — 项目背景</a:t>
            </a:r>
            <a:endParaRPr lang="zh-CN" sz="2000" b="1" dirty="0">
              <a:solidFill>
                <a:srgbClr val="2D3748"/>
              </a:solidFill>
              <a:latin typeface="Segoe UI" panose="020B0502040204020203"/>
              <a:ea typeface="微软雅黑" panose="020B0503020204020204" charset="-122"/>
              <a:cs typeface="Segoe UI" panose="020B0502040204020203"/>
            </a:endParaRPr>
          </a:p>
        </p:txBody>
      </p:sp>
      <p:sp>
        <p:nvSpPr>
          <p:cNvPr id="7" name="Line 7"/>
          <p:cNvSpPr/>
          <p:nvPr/>
        </p:nvSpPr>
        <p:spPr>
          <a:xfrm>
            <a:off x="762000" y="904875"/>
            <a:ext cx="11603990" cy="76200"/>
          </a:xfrm>
          <a:custGeom>
            <a:avLst/>
            <a:gdLst/>
            <a:ahLst/>
            <a:cxnLst/>
            <a:rect l="l" t="t" r="r" b="b"/>
            <a:pathLst>
              <a:path w="10668000" h="9525">
                <a:moveTo>
                  <a:pt x="0" y="0"/>
                </a:moveTo>
                <a:lnTo>
                  <a:pt x="10668000" y="0"/>
                </a:lnTo>
              </a:path>
            </a:pathLst>
          </a:custGeom>
          <a:noFill/>
          <a:ln w="9525">
            <a:solidFill>
              <a:srgbClr val="E2E8F0"/>
            </a:solidFill>
          </a:ln>
        </p:spPr>
      </p:sp>
      <p:sp>
        <p:nvSpPr>
          <p:cNvPr id="8" name="Rectangle 8"/>
          <p:cNvSpPr/>
          <p:nvPr/>
        </p:nvSpPr>
        <p:spPr>
          <a:xfrm>
            <a:off x="762000" y="1089025"/>
            <a:ext cx="11108055" cy="1492250"/>
          </a:xfrm>
          <a:prstGeom prst="roundRect">
            <a:avLst>
              <a:gd name="adj" fmla="val 5455"/>
            </a:avLst>
          </a:prstGeom>
          <a:solidFill>
            <a:srgbClr val="EBF8FF"/>
          </a:solidFill>
          <a:ln>
            <a:noFill/>
          </a:ln>
        </p:spPr>
      </p:sp>
      <p:sp>
        <p:nvSpPr>
          <p:cNvPr id="9" name="TextBox 9"/>
          <p:cNvSpPr txBox="1"/>
          <p:nvPr/>
        </p:nvSpPr>
        <p:spPr>
          <a:xfrm>
            <a:off x="1031875" y="1290955"/>
            <a:ext cx="773430" cy="306070"/>
          </a:xfrm>
          <a:prstGeom prst="rect">
            <a:avLst/>
          </a:prstGeom>
          <a:noFill/>
          <a:ln>
            <a:noFill/>
          </a:ln>
        </p:spPr>
        <p:txBody>
          <a:bodyPr wrap="none" lIns="0" tIns="0" rIns="0" bIns="0" anchor="t" anchorCtr="0">
            <a:noAutofit/>
          </a:bodyPr>
          <a:lstStyle/>
          <a:p>
            <a:pPr algn="l"/>
            <a:r>
              <a:rPr lang="zh-CN" b="1" dirty="0">
                <a:solidFill>
                  <a:srgbClr val="2B6CB0"/>
                </a:solidFill>
                <a:latin typeface="Segoe UI" panose="020B0502040204020203"/>
                <a:ea typeface="微软雅黑" panose="020B0503020204020204" charset="-122"/>
                <a:cs typeface="Segoe UI" panose="020B0502040204020203"/>
              </a:rPr>
              <a:t>核心问题</a:t>
            </a:r>
            <a:endParaRPr lang="zh-CN" b="1" dirty="0">
              <a:solidFill>
                <a:srgbClr val="2B6CB0"/>
              </a:solidFill>
              <a:latin typeface="Segoe UI" panose="020B0502040204020203"/>
              <a:ea typeface="微软雅黑" panose="020B0503020204020204" charset="-122"/>
              <a:cs typeface="Segoe UI" panose="020B0502040204020203"/>
            </a:endParaRPr>
          </a:p>
        </p:txBody>
      </p:sp>
      <p:sp>
        <p:nvSpPr>
          <p:cNvPr id="10" name="TextBox 10"/>
          <p:cNvSpPr txBox="1"/>
          <p:nvPr/>
        </p:nvSpPr>
        <p:spPr>
          <a:xfrm>
            <a:off x="1033145" y="1574165"/>
            <a:ext cx="6962140" cy="262255"/>
          </a:xfrm>
          <a:prstGeom prst="rect">
            <a:avLst/>
          </a:prstGeom>
          <a:noFill/>
          <a:ln>
            <a:noFill/>
          </a:ln>
        </p:spPr>
        <p:txBody>
          <a:bodyPr wrap="none" lIns="0" tIns="0" rIns="0" bIns="0" anchor="t" anchorCtr="0">
            <a:noAutofit/>
          </a:bodyPr>
          <a:lstStyle/>
          <a:p>
            <a:pPr algn="l"/>
            <a:r>
              <a:rPr lang="zh-CN" sz="1600" dirty="0">
                <a:solidFill>
                  <a:srgbClr val="2D3748"/>
                </a:solidFill>
                <a:latin typeface="Segoe UI" panose="020B0502040204020203"/>
                <a:ea typeface="微软雅黑" panose="020B0503020204020204" charset="-122"/>
                <a:cs typeface="Segoe UI" panose="020B0502040204020203"/>
              </a:rPr>
              <a:t>手写数学公式识别是文档数字化的核心挑战。与普通文字识别不同，数学公式具有二维空间结构</a:t>
            </a:r>
            <a:endParaRPr lang="zh-CN" sz="1600" dirty="0">
              <a:solidFill>
                <a:srgbClr val="2D3748"/>
              </a:solidFill>
              <a:latin typeface="Segoe UI" panose="020B0502040204020203"/>
              <a:ea typeface="微软雅黑" panose="020B0503020204020204" charset="-122"/>
              <a:cs typeface="Segoe UI" panose="020B0502040204020203"/>
            </a:endParaRPr>
          </a:p>
        </p:txBody>
      </p:sp>
      <p:sp>
        <p:nvSpPr>
          <p:cNvPr id="11" name="TextBox 11"/>
          <p:cNvSpPr txBox="1"/>
          <p:nvPr/>
        </p:nvSpPr>
        <p:spPr>
          <a:xfrm>
            <a:off x="1033145" y="1812290"/>
            <a:ext cx="7124065" cy="262255"/>
          </a:xfrm>
          <a:prstGeom prst="rect">
            <a:avLst/>
          </a:prstGeom>
          <a:noFill/>
          <a:ln>
            <a:noFill/>
          </a:ln>
        </p:spPr>
        <p:txBody>
          <a:bodyPr wrap="none" lIns="0" tIns="0" rIns="0" bIns="0" anchor="t" anchorCtr="0">
            <a:noAutofit/>
          </a:bodyPr>
          <a:lstStyle/>
          <a:p>
            <a:pPr algn="l"/>
            <a:r>
              <a:rPr lang="zh-CN" sz="1600" dirty="0">
                <a:solidFill>
                  <a:srgbClr val="2D3748"/>
                </a:solidFill>
                <a:latin typeface="Segoe UI" panose="020B0502040204020203"/>
                <a:ea typeface="微软雅黑" panose="020B0503020204020204" charset="-122"/>
                <a:cs typeface="Segoe UI" panose="020B0502040204020203"/>
              </a:rPr>
              <a:t>（分式、根号、上下标、矩阵等），符号之间不是简单的线性排列，传统OCR技术难以直接应用。</a:t>
            </a:r>
            <a:endParaRPr lang="zh-CN" sz="1600" dirty="0">
              <a:solidFill>
                <a:srgbClr val="2D3748"/>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762000" y="2757805"/>
            <a:ext cx="2320290" cy="306070"/>
          </a:xfrm>
          <a:prstGeom prst="rect">
            <a:avLst/>
          </a:prstGeom>
          <a:noFill/>
          <a:ln>
            <a:noFill/>
          </a:ln>
        </p:spPr>
        <p:txBody>
          <a:bodyPr wrap="none" lIns="0" tIns="0" rIns="0" bIns="0" anchor="t" anchorCtr="0">
            <a:noAutofit/>
          </a:bodyPr>
          <a:lstStyle/>
          <a:p>
            <a:pPr algn="l"/>
            <a:r>
              <a:rPr lang="zh-CN" b="1" dirty="0">
                <a:solidFill>
                  <a:srgbClr val="2D3748"/>
                </a:solidFill>
                <a:latin typeface="Segoe UI" panose="020B0502040204020203"/>
                <a:ea typeface="微软雅黑" panose="020B0503020204020204" charset="-122"/>
                <a:cs typeface="Segoe UI" panose="020B0502040204020203"/>
              </a:rPr>
              <a:t>对比两条技术路线</a:t>
            </a:r>
            <a:endParaRPr lang="zh-CN" b="1" dirty="0">
              <a:solidFill>
                <a:srgbClr val="2D3748"/>
              </a:solidFill>
              <a:latin typeface="Segoe UI" panose="020B0502040204020203"/>
              <a:ea typeface="微软雅黑" panose="020B0503020204020204" charset="-122"/>
              <a:cs typeface="Segoe UI" panose="020B0502040204020203"/>
            </a:endParaRPr>
          </a:p>
        </p:txBody>
      </p:sp>
      <p:sp>
        <p:nvSpPr>
          <p:cNvPr id="13" name="Rectangle 13"/>
          <p:cNvSpPr/>
          <p:nvPr>
            <p:custDataLst>
              <p:tags r:id="rId1"/>
            </p:custDataLst>
          </p:nvPr>
        </p:nvSpPr>
        <p:spPr>
          <a:xfrm>
            <a:off x="762000" y="3337560"/>
            <a:ext cx="5594985" cy="1356995"/>
          </a:xfrm>
          <a:prstGeom prst="roundRect">
            <a:avLst>
              <a:gd name="adj" fmla="val 6000"/>
            </a:avLst>
          </a:prstGeom>
          <a:solidFill>
            <a:srgbClr val="EBF8FF"/>
          </a:solidFill>
          <a:ln>
            <a:noFill/>
          </a:ln>
        </p:spPr>
      </p:sp>
      <p:sp>
        <p:nvSpPr>
          <p:cNvPr id="14" name="Rectangle 14"/>
          <p:cNvSpPr/>
          <p:nvPr>
            <p:custDataLst>
              <p:tags r:id="rId2"/>
            </p:custDataLst>
          </p:nvPr>
        </p:nvSpPr>
        <p:spPr>
          <a:xfrm>
            <a:off x="762000" y="3337560"/>
            <a:ext cx="76200" cy="1356995"/>
          </a:xfrm>
          <a:prstGeom prst="rect">
            <a:avLst/>
          </a:prstGeom>
          <a:solidFill>
            <a:srgbClr val="3182CE"/>
          </a:solidFill>
          <a:ln>
            <a:noFill/>
          </a:ln>
        </p:spPr>
      </p:sp>
      <p:sp>
        <p:nvSpPr>
          <p:cNvPr id="15" name="TextBox 15"/>
          <p:cNvSpPr txBox="1"/>
          <p:nvPr/>
        </p:nvSpPr>
        <p:spPr>
          <a:xfrm>
            <a:off x="984885" y="3493770"/>
            <a:ext cx="1876425" cy="306070"/>
          </a:xfrm>
          <a:prstGeom prst="rect">
            <a:avLst/>
          </a:prstGeom>
          <a:noFill/>
          <a:ln>
            <a:noFill/>
          </a:ln>
        </p:spPr>
        <p:txBody>
          <a:bodyPr wrap="none" lIns="0" tIns="0" rIns="0" bIns="0" anchor="t" anchorCtr="0">
            <a:noAutofit/>
          </a:bodyPr>
          <a:lstStyle/>
          <a:p>
            <a:pPr algn="l"/>
            <a:r>
              <a:rPr lang="zh-CN" b="1" dirty="0">
                <a:solidFill>
                  <a:srgbClr val="2B6CB0"/>
                </a:solidFill>
                <a:latin typeface="Segoe UI" panose="020B0502040204020203"/>
                <a:ea typeface="微软雅黑" panose="020B0503020204020204" charset="-122"/>
                <a:cs typeface="Segoe UI" panose="020B0502040204020203"/>
              </a:rPr>
              <a:t>路线A：传统机器学习</a:t>
            </a:r>
            <a:endParaRPr lang="zh-CN" b="1" dirty="0">
              <a:solidFill>
                <a:srgbClr val="2B6CB0"/>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986790" y="3747770"/>
            <a:ext cx="3500120" cy="262255"/>
          </a:xfrm>
          <a:prstGeom prst="rect">
            <a:avLst/>
          </a:prstGeom>
          <a:noFill/>
          <a:ln>
            <a:noFill/>
          </a:ln>
        </p:spPr>
        <p:txBody>
          <a:bodyPr wrap="none" lIns="0" tIns="0" rIns="0" bIns="0" anchor="t" anchorCtr="0">
            <a:noAutofit/>
          </a:bodyPr>
          <a:lstStyle/>
          <a:p>
            <a:pPr algn="l"/>
            <a:r>
              <a:rPr lang="zh-CN" sz="1600" dirty="0">
                <a:solidFill>
                  <a:srgbClr val="4A5568"/>
                </a:solidFill>
                <a:latin typeface="Segoe UI" panose="020B0502040204020203"/>
                <a:ea typeface="微软雅黑" panose="020B0503020204020204" charset="-122"/>
                <a:cs typeface="Segoe UI" panose="020B0502040204020203"/>
              </a:rPr>
              <a:t>HOG + LBP + PCA + SVM — 手工特征 + 分类器</a:t>
            </a:r>
            <a:endParaRPr lang="zh-CN" sz="1600" dirty="0">
              <a:solidFill>
                <a:srgbClr val="4A5568"/>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987425" y="3994150"/>
            <a:ext cx="1939290" cy="235585"/>
          </a:xfrm>
          <a:prstGeom prst="rect">
            <a:avLst/>
          </a:prstGeom>
          <a:noFill/>
          <a:ln>
            <a:noFill/>
          </a:ln>
        </p:spPr>
        <p:txBody>
          <a:bodyPr wrap="none" lIns="0" tIns="0" rIns="0" bIns="0" anchor="t" anchorCtr="0">
            <a:noAutofit/>
          </a:bodyPr>
          <a:lstStyle/>
          <a:p>
            <a:pPr algn="l"/>
            <a:r>
              <a:rPr lang="zh-CN" sz="1400" dirty="0">
                <a:solidFill>
                  <a:srgbClr val="718096"/>
                </a:solidFill>
                <a:latin typeface="Segoe UI" panose="020B0502040204020203"/>
                <a:ea typeface="微软雅黑" panose="020B0503020204020204" charset="-122"/>
                <a:cs typeface="Segoe UI" panose="020B0502040204020203"/>
              </a:rPr>
              <a:t>课程已学方法，建立性能基线</a:t>
            </a:r>
            <a:endParaRPr lang="zh-CN" sz="1400" dirty="0">
              <a:solidFill>
                <a:srgbClr val="718096"/>
              </a:solidFill>
              <a:latin typeface="Segoe UI" panose="020B0502040204020203"/>
              <a:ea typeface="微软雅黑" panose="020B0503020204020204" charset="-122"/>
              <a:cs typeface="Segoe UI" panose="020B0502040204020203"/>
            </a:endParaRPr>
          </a:p>
        </p:txBody>
      </p:sp>
      <p:sp>
        <p:nvSpPr>
          <p:cNvPr id="18" name="Rectangle 18"/>
          <p:cNvSpPr/>
          <p:nvPr>
            <p:custDataLst>
              <p:tags r:id="rId3"/>
            </p:custDataLst>
          </p:nvPr>
        </p:nvSpPr>
        <p:spPr>
          <a:xfrm>
            <a:off x="6286500" y="3337560"/>
            <a:ext cx="5594985" cy="1356995"/>
          </a:xfrm>
          <a:prstGeom prst="roundRect">
            <a:avLst>
              <a:gd name="adj" fmla="val 6000"/>
            </a:avLst>
          </a:prstGeom>
          <a:solidFill>
            <a:srgbClr val="FFF5F5"/>
          </a:solidFill>
          <a:ln>
            <a:noFill/>
          </a:ln>
        </p:spPr>
      </p:sp>
      <p:sp>
        <p:nvSpPr>
          <p:cNvPr id="19" name="Rectangle 19"/>
          <p:cNvSpPr/>
          <p:nvPr>
            <p:custDataLst>
              <p:tags r:id="rId4"/>
            </p:custDataLst>
          </p:nvPr>
        </p:nvSpPr>
        <p:spPr>
          <a:xfrm>
            <a:off x="6286500" y="3337560"/>
            <a:ext cx="76200" cy="1356995"/>
          </a:xfrm>
          <a:prstGeom prst="rect">
            <a:avLst/>
          </a:prstGeom>
          <a:solidFill>
            <a:srgbClr val="E53E3E"/>
          </a:solidFill>
          <a:ln>
            <a:noFill/>
          </a:ln>
        </p:spPr>
      </p:sp>
      <p:sp>
        <p:nvSpPr>
          <p:cNvPr id="20" name="TextBox 20"/>
          <p:cNvSpPr txBox="1"/>
          <p:nvPr/>
        </p:nvSpPr>
        <p:spPr>
          <a:xfrm>
            <a:off x="6509385" y="3493770"/>
            <a:ext cx="1864995" cy="306070"/>
          </a:xfrm>
          <a:prstGeom prst="rect">
            <a:avLst/>
          </a:prstGeom>
          <a:noFill/>
          <a:ln>
            <a:noFill/>
          </a:ln>
        </p:spPr>
        <p:txBody>
          <a:bodyPr wrap="none" lIns="0" tIns="0" rIns="0" bIns="0" anchor="t" anchorCtr="0">
            <a:noAutofit/>
          </a:bodyPr>
          <a:lstStyle/>
          <a:p>
            <a:pPr algn="l"/>
            <a:r>
              <a:rPr lang="zh-CN" b="1" dirty="0">
                <a:solidFill>
                  <a:srgbClr val="C53030"/>
                </a:solidFill>
                <a:latin typeface="Segoe UI" panose="020B0502040204020203"/>
                <a:ea typeface="微软雅黑" panose="020B0503020204020204" charset="-122"/>
                <a:cs typeface="Segoe UI" panose="020B0502040204020203"/>
              </a:rPr>
              <a:t>路线B：多模态大模型</a:t>
            </a:r>
            <a:endParaRPr lang="zh-CN" b="1" dirty="0">
              <a:solidFill>
                <a:srgbClr val="C53030"/>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6511290" y="3747770"/>
            <a:ext cx="3397250" cy="262255"/>
          </a:xfrm>
          <a:prstGeom prst="rect">
            <a:avLst/>
          </a:prstGeom>
          <a:noFill/>
          <a:ln>
            <a:noFill/>
          </a:ln>
        </p:spPr>
        <p:txBody>
          <a:bodyPr wrap="none" lIns="0" tIns="0" rIns="0" bIns="0" anchor="t" anchorCtr="0">
            <a:noAutofit/>
          </a:bodyPr>
          <a:lstStyle/>
          <a:p>
            <a:pPr algn="l"/>
            <a:r>
              <a:rPr lang="zh-CN" sz="1600" dirty="0">
                <a:solidFill>
                  <a:srgbClr val="4A5568"/>
                </a:solidFill>
                <a:latin typeface="Segoe UI" panose="020B0502040204020203"/>
                <a:ea typeface="微软雅黑" panose="020B0503020204020204" charset="-122"/>
                <a:cs typeface="Segoe UI" panose="020B0502040204020203"/>
              </a:rPr>
              <a:t>TrOCR + LoRA + DeepSeek — 端到端深度学习</a:t>
            </a:r>
            <a:endParaRPr lang="zh-CN" sz="1600" dirty="0">
              <a:solidFill>
                <a:srgbClr val="4A5568"/>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6511925" y="3994150"/>
            <a:ext cx="1491615" cy="235585"/>
          </a:xfrm>
          <a:prstGeom prst="rect">
            <a:avLst/>
          </a:prstGeom>
          <a:noFill/>
          <a:ln>
            <a:noFill/>
          </a:ln>
        </p:spPr>
        <p:txBody>
          <a:bodyPr wrap="none" lIns="0" tIns="0" rIns="0" bIns="0" anchor="t" anchorCtr="0">
            <a:noAutofit/>
          </a:bodyPr>
          <a:lstStyle/>
          <a:p>
            <a:pPr algn="l"/>
            <a:r>
              <a:rPr lang="zh-CN" sz="1400" dirty="0">
                <a:solidFill>
                  <a:srgbClr val="718096"/>
                </a:solidFill>
                <a:latin typeface="Segoe UI" panose="020B0502040204020203"/>
                <a:ea typeface="微软雅黑" panose="020B0503020204020204" charset="-122"/>
                <a:cs typeface="Segoe UI" panose="020B0502040204020203"/>
              </a:rPr>
              <a:t>新方法，追求更高性能</a:t>
            </a:r>
            <a:endParaRPr lang="zh-CN" sz="1400" dirty="0">
              <a:solidFill>
                <a:srgbClr val="718096"/>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11513820" y="6570345"/>
            <a:ext cx="154877" cy="182880"/>
          </a:xfrm>
          <a:prstGeom prst="rect">
            <a:avLst/>
          </a:prstGeom>
          <a:noFill/>
          <a:ln>
            <a:noFill/>
          </a:ln>
        </p:spPr>
        <p:txBody>
          <a:bodyPr wrap="none" lIns="0" tIns="0" rIns="0" bIns="0" anchor="t" anchorCtr="0">
            <a:spAutoFit/>
          </a:bodyPr>
          <a:lstStyle/>
          <a:p>
            <a:pPr algn="l"/>
            <a:r>
              <a:rPr lang="zh-CN" sz="900" dirty="0">
                <a:solidFill>
                  <a:srgbClr val="CBD5E0"/>
                </a:solidFill>
                <a:latin typeface="Consolas" panose="020B0609020204030204"/>
                <a:ea typeface="微软雅黑" panose="020B0503020204020204" charset="-122"/>
                <a:cs typeface="Consolas" panose="020B0609020204030204"/>
              </a:rPr>
              <a:t>03</a:t>
            </a:r>
            <a:endParaRPr lang="zh-CN" sz="900" dirty="0">
              <a:solidFill>
                <a:srgbClr val="CBD5E0"/>
              </a:solidFill>
              <a:latin typeface="Consolas" panose="020B0609020204030204"/>
              <a:ea typeface="微软雅黑" panose="020B0503020204020204" charset="-122"/>
              <a:cs typeface="Consolas" panose="020B0609020204030204"/>
            </a:endParaRPr>
          </a:p>
        </p:txBody>
      </p:sp>
      <p:sp>
        <p:nvSpPr>
          <p:cNvPr id="24" name="文本框 23"/>
          <p:cNvSpPr txBox="1"/>
          <p:nvPr/>
        </p:nvSpPr>
        <p:spPr>
          <a:xfrm>
            <a:off x="1035685" y="2167255"/>
            <a:ext cx="6217920" cy="398780"/>
          </a:xfrm>
          <a:prstGeom prst="rect">
            <a:avLst/>
          </a:prstGeom>
          <a:noFill/>
        </p:spPr>
        <p:txBody>
          <a:bodyPr wrap="square" rtlCol="0">
            <a:spAutoFit/>
          </a:bodyPr>
          <a:p>
            <a:r>
              <a:rPr lang="zh-CN" altLang="en-US" sz="2000" b="1"/>
              <a:t>最终目标就是：成功识别出来手写数学公式</a:t>
            </a:r>
            <a:endParaRPr lang="zh-CN" altLang="en-US" sz="2000" b="1"/>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47625"/>
          </a:xfrm>
          <a:prstGeom prst="rect">
            <a:avLst/>
          </a:prstGeom>
          <a:solidFill>
            <a:srgbClr val="3182CE"/>
          </a:solidFill>
          <a:ln>
            <a:noFill/>
          </a:ln>
        </p:spPr>
      </p:sp>
      <p:sp>
        <p:nvSpPr>
          <p:cNvPr id="4" name="Rectangle 4"/>
          <p:cNvSpPr/>
          <p:nvPr/>
        </p:nvSpPr>
        <p:spPr>
          <a:xfrm>
            <a:off x="762000" y="476250"/>
            <a:ext cx="627380" cy="361315"/>
          </a:xfrm>
          <a:prstGeom prst="roundRect">
            <a:avLst>
              <a:gd name="adj" fmla="val 13333"/>
            </a:avLst>
          </a:prstGeom>
          <a:solidFill>
            <a:srgbClr val="3182CE"/>
          </a:solidFill>
          <a:ln>
            <a:noFill/>
          </a:ln>
        </p:spPr>
      </p:sp>
      <p:sp>
        <p:nvSpPr>
          <p:cNvPr id="5" name="TextBox 5"/>
          <p:cNvSpPr txBox="1"/>
          <p:nvPr/>
        </p:nvSpPr>
        <p:spPr>
          <a:xfrm>
            <a:off x="899160" y="561340"/>
            <a:ext cx="327025" cy="250190"/>
          </a:xfrm>
          <a:prstGeom prst="rect">
            <a:avLst/>
          </a:prstGeom>
          <a:noFill/>
          <a:ln>
            <a:noFill/>
          </a:ln>
        </p:spPr>
        <p:txBody>
          <a:bodyPr wrap="none" lIns="0" tIns="0" rIns="0" bIns="0" anchor="t" anchorCtr="0">
            <a:noAutofit/>
          </a:bodyPr>
          <a:lstStyle/>
          <a:p>
            <a:pPr algn="ctr"/>
            <a:r>
              <a:rPr lang="zh-CN" sz="975" b="1" dirty="0">
                <a:solidFill>
                  <a:srgbClr val="FFFFFF"/>
                </a:solidFill>
                <a:latin typeface="Segoe UI" panose="020B0502040204020203"/>
                <a:ea typeface="微软雅黑" panose="020B0503020204020204" charset="-122"/>
                <a:cs typeface="Segoe UI" panose="020B0502040204020203"/>
              </a:rPr>
              <a:t>目标</a:t>
            </a:r>
            <a:endParaRPr lang="zh-CN" sz="975" b="1" dirty="0">
              <a:solidFill>
                <a:srgbClr val="FFFFFF"/>
              </a:solidFill>
              <a:latin typeface="Segoe UI" panose="020B0502040204020203"/>
              <a:ea typeface="微软雅黑" panose="020B0503020204020204" charset="-122"/>
              <a:cs typeface="Segoe UI" panose="020B0502040204020203"/>
            </a:endParaRPr>
          </a:p>
        </p:txBody>
      </p:sp>
      <p:sp>
        <p:nvSpPr>
          <p:cNvPr id="6" name="TextBox 6"/>
          <p:cNvSpPr txBox="1"/>
          <p:nvPr/>
        </p:nvSpPr>
        <p:spPr>
          <a:xfrm>
            <a:off x="1457325" y="504825"/>
            <a:ext cx="3767455" cy="385445"/>
          </a:xfrm>
          <a:prstGeom prst="rect">
            <a:avLst/>
          </a:prstGeom>
          <a:noFill/>
          <a:ln>
            <a:noFill/>
          </a:ln>
        </p:spPr>
        <p:txBody>
          <a:bodyPr wrap="none" lIns="0" tIns="0" rIns="0" bIns="0" anchor="t" anchorCtr="0">
            <a:noAutofit/>
          </a:bodyPr>
          <a:lstStyle/>
          <a:p>
            <a:pPr algn="l"/>
            <a:r>
              <a:rPr lang="zh-CN" sz="1500" b="1" dirty="0">
                <a:solidFill>
                  <a:srgbClr val="2D3748"/>
                </a:solidFill>
                <a:latin typeface="Segoe UI" panose="020B0502040204020203"/>
                <a:ea typeface="微软雅黑" panose="020B0503020204020204" charset="-122"/>
                <a:cs typeface="Segoe UI" panose="020B0502040204020203"/>
              </a:rPr>
              <a:t>挖掘目标定义 — 项目目标与技术挑战</a:t>
            </a:r>
            <a:endParaRPr lang="zh-CN" sz="1500" b="1" dirty="0">
              <a:solidFill>
                <a:srgbClr val="2D3748"/>
              </a:solidFill>
              <a:latin typeface="Segoe UI" panose="020B0502040204020203"/>
              <a:ea typeface="微软雅黑" panose="020B0503020204020204" charset="-122"/>
              <a:cs typeface="Segoe UI" panose="020B0502040204020203"/>
            </a:endParaRPr>
          </a:p>
        </p:txBody>
      </p:sp>
      <p:sp>
        <p:nvSpPr>
          <p:cNvPr id="7" name="Line 7"/>
          <p:cNvSpPr/>
          <p:nvPr/>
        </p:nvSpPr>
        <p:spPr>
          <a:xfrm>
            <a:off x="762000" y="904875"/>
            <a:ext cx="11717655" cy="76200"/>
          </a:xfrm>
          <a:custGeom>
            <a:avLst/>
            <a:gdLst/>
            <a:ahLst/>
            <a:cxnLst/>
            <a:rect l="l" t="t" r="r" b="b"/>
            <a:pathLst>
              <a:path w="10668000" h="9525">
                <a:moveTo>
                  <a:pt x="0" y="0"/>
                </a:moveTo>
                <a:lnTo>
                  <a:pt x="10668000" y="0"/>
                </a:lnTo>
              </a:path>
            </a:pathLst>
          </a:custGeom>
          <a:noFill/>
          <a:ln w="9525">
            <a:solidFill>
              <a:srgbClr val="E2E8F0"/>
            </a:solidFill>
          </a:ln>
        </p:spPr>
      </p:sp>
      <p:sp>
        <p:nvSpPr>
          <p:cNvPr id="8" name="TextBox 8"/>
          <p:cNvSpPr txBox="1"/>
          <p:nvPr/>
        </p:nvSpPr>
        <p:spPr>
          <a:xfrm>
            <a:off x="746125" y="1100455"/>
            <a:ext cx="819785" cy="327660"/>
          </a:xfrm>
          <a:prstGeom prst="rect">
            <a:avLst/>
          </a:prstGeom>
          <a:noFill/>
          <a:ln>
            <a:noFill/>
          </a:ln>
        </p:spPr>
        <p:txBody>
          <a:bodyPr wrap="none" lIns="0" tIns="0" rIns="0" bIns="0" anchor="t" anchorCtr="0">
            <a:noAutofit/>
          </a:bodyPr>
          <a:lstStyle/>
          <a:p>
            <a:pPr algn="l"/>
            <a:r>
              <a:rPr lang="zh-CN" sz="1275" b="1" dirty="0">
                <a:solidFill>
                  <a:srgbClr val="2D3748"/>
                </a:solidFill>
                <a:latin typeface="Segoe UI" panose="020B0502040204020203"/>
                <a:ea typeface="微软雅黑" panose="020B0503020204020204" charset="-122"/>
                <a:cs typeface="Segoe UI" panose="020B0502040204020203"/>
              </a:rPr>
              <a:t>项目目标</a:t>
            </a:r>
            <a:endParaRPr lang="zh-CN" sz="1275" b="1" dirty="0">
              <a:solidFill>
                <a:srgbClr val="2D3748"/>
              </a:solidFill>
              <a:latin typeface="Segoe UI" panose="020B0502040204020203"/>
              <a:ea typeface="微软雅黑" panose="020B0503020204020204" charset="-122"/>
              <a:cs typeface="Segoe UI" panose="020B0502040204020203"/>
            </a:endParaRPr>
          </a:p>
        </p:txBody>
      </p:sp>
      <p:sp>
        <p:nvSpPr>
          <p:cNvPr id="9" name="Rectangle 9"/>
          <p:cNvSpPr/>
          <p:nvPr/>
        </p:nvSpPr>
        <p:spPr>
          <a:xfrm>
            <a:off x="762000" y="1409700"/>
            <a:ext cx="10931525" cy="602615"/>
          </a:xfrm>
          <a:prstGeom prst="roundRect">
            <a:avLst>
              <a:gd name="adj" fmla="val 12000"/>
            </a:avLst>
          </a:prstGeom>
          <a:solidFill>
            <a:srgbClr val="1A365D"/>
          </a:solidFill>
          <a:ln>
            <a:noFill/>
          </a:ln>
        </p:spPr>
      </p:sp>
      <p:sp>
        <p:nvSpPr>
          <p:cNvPr id="10" name="TextBox 10"/>
          <p:cNvSpPr txBox="1"/>
          <p:nvPr/>
        </p:nvSpPr>
        <p:spPr>
          <a:xfrm>
            <a:off x="2838450" y="1550035"/>
            <a:ext cx="7155815" cy="346710"/>
          </a:xfrm>
          <a:prstGeom prst="rect">
            <a:avLst/>
          </a:prstGeom>
          <a:noFill/>
          <a:ln>
            <a:noFill/>
          </a:ln>
        </p:spPr>
        <p:txBody>
          <a:bodyPr wrap="none" lIns="0" tIns="0" rIns="0" bIns="0" anchor="t" anchorCtr="0">
            <a:noAutofit/>
          </a:bodyPr>
          <a:lstStyle/>
          <a:p>
            <a:pPr algn="ctr"/>
            <a:r>
              <a:rPr lang="zh-CN" sz="1350" dirty="0">
                <a:solidFill>
                  <a:srgbClr val="FFFFFF"/>
                </a:solidFill>
                <a:latin typeface="Segoe UI" panose="020B0502040204020203"/>
                <a:ea typeface="微软雅黑" panose="020B0503020204020204" charset="-122"/>
                <a:cs typeface="Segoe UI" panose="020B0502040204020203"/>
              </a:rPr>
              <a:t>系统比较传统机器学习与多模态大模型在手写数学公式识别任务上的性能与适用性</a:t>
            </a:r>
            <a:endParaRPr lang="zh-CN" sz="1350" dirty="0">
              <a:solidFill>
                <a:srgbClr val="FFFFFF"/>
              </a:solidFill>
              <a:latin typeface="Segoe UI" panose="020B0502040204020203"/>
              <a:ea typeface="微软雅黑" panose="020B0503020204020204" charset="-122"/>
              <a:cs typeface="Segoe UI" panose="020B0502040204020203"/>
            </a:endParaRPr>
          </a:p>
        </p:txBody>
      </p:sp>
      <p:sp>
        <p:nvSpPr>
          <p:cNvPr id="11" name="TextBox 11"/>
          <p:cNvSpPr txBox="1"/>
          <p:nvPr/>
        </p:nvSpPr>
        <p:spPr>
          <a:xfrm>
            <a:off x="746125" y="2100580"/>
            <a:ext cx="819785" cy="327660"/>
          </a:xfrm>
          <a:prstGeom prst="rect">
            <a:avLst/>
          </a:prstGeom>
          <a:noFill/>
          <a:ln>
            <a:noFill/>
          </a:ln>
        </p:spPr>
        <p:txBody>
          <a:bodyPr wrap="none" lIns="0" tIns="0" rIns="0" bIns="0" anchor="t" anchorCtr="0">
            <a:noAutofit/>
          </a:bodyPr>
          <a:lstStyle/>
          <a:p>
            <a:pPr algn="l"/>
            <a:r>
              <a:rPr lang="zh-CN" sz="1275" b="1" dirty="0">
                <a:solidFill>
                  <a:srgbClr val="2D3748"/>
                </a:solidFill>
                <a:latin typeface="Segoe UI" panose="020B0502040204020203"/>
                <a:ea typeface="微软雅黑" panose="020B0503020204020204" charset="-122"/>
                <a:cs typeface="Segoe UI" panose="020B0502040204020203"/>
              </a:rPr>
              <a:t>技术挑战</a:t>
            </a:r>
            <a:endParaRPr lang="zh-CN" sz="1275" b="1" dirty="0">
              <a:solidFill>
                <a:srgbClr val="2D3748"/>
              </a:solidFill>
              <a:latin typeface="Segoe UI" panose="020B0502040204020203"/>
              <a:ea typeface="微软雅黑" panose="020B0503020204020204" charset="-122"/>
              <a:cs typeface="Segoe UI" panose="020B0502040204020203"/>
            </a:endParaRPr>
          </a:p>
        </p:txBody>
      </p:sp>
      <p:sp>
        <p:nvSpPr>
          <p:cNvPr id="12" name="Rectangle 12"/>
          <p:cNvSpPr/>
          <p:nvPr>
            <p:custDataLst>
              <p:tags r:id="rId1"/>
            </p:custDataLst>
          </p:nvPr>
        </p:nvSpPr>
        <p:spPr>
          <a:xfrm>
            <a:off x="762000" y="2428875"/>
            <a:ext cx="2719705" cy="1446530"/>
          </a:xfrm>
          <a:prstGeom prst="roundRect">
            <a:avLst>
              <a:gd name="adj" fmla="val 5000"/>
            </a:avLst>
          </a:prstGeom>
          <a:solidFill>
            <a:srgbClr val="FFF5F5"/>
          </a:solidFill>
          <a:ln>
            <a:noFill/>
          </a:ln>
        </p:spPr>
      </p:sp>
      <p:sp>
        <p:nvSpPr>
          <p:cNvPr id="13" name="Rectangle 13"/>
          <p:cNvSpPr/>
          <p:nvPr>
            <p:custDataLst>
              <p:tags r:id="rId2"/>
            </p:custDataLst>
          </p:nvPr>
        </p:nvSpPr>
        <p:spPr>
          <a:xfrm>
            <a:off x="762000" y="2428875"/>
            <a:ext cx="2719705" cy="76200"/>
          </a:xfrm>
          <a:prstGeom prst="rect">
            <a:avLst/>
          </a:prstGeom>
          <a:solidFill>
            <a:srgbClr val="E53E3E"/>
          </a:solidFill>
          <a:ln>
            <a:noFill/>
          </a:ln>
        </p:spPr>
      </p:sp>
      <p:sp>
        <p:nvSpPr>
          <p:cNvPr id="14" name="TextBox 14"/>
          <p:cNvSpPr txBox="1"/>
          <p:nvPr>
            <p:custDataLst>
              <p:tags r:id="rId3"/>
            </p:custDataLst>
          </p:nvPr>
        </p:nvSpPr>
        <p:spPr>
          <a:xfrm>
            <a:off x="1398905" y="2601595"/>
            <a:ext cx="1320800" cy="269875"/>
          </a:xfrm>
          <a:prstGeom prst="rect">
            <a:avLst/>
          </a:prstGeom>
          <a:noFill/>
          <a:ln>
            <a:noFill/>
          </a:ln>
        </p:spPr>
        <p:txBody>
          <a:bodyPr wrap="none" lIns="0" tIns="0" rIns="0" bIns="0" anchor="t" anchorCtr="0">
            <a:noAutofit/>
          </a:bodyPr>
          <a:lstStyle/>
          <a:p>
            <a:pPr algn="ctr"/>
            <a:r>
              <a:rPr lang="zh-CN" sz="1050" b="1" dirty="0">
                <a:solidFill>
                  <a:srgbClr val="C53030"/>
                </a:solidFill>
                <a:latin typeface="Segoe UI" panose="020B0502040204020203"/>
                <a:ea typeface="微软雅黑" panose="020B0503020204020204" charset="-122"/>
                <a:cs typeface="Segoe UI" panose="020B0502040204020203"/>
              </a:rPr>
              <a:t>挑战一：二维结构</a:t>
            </a:r>
            <a:endParaRPr lang="zh-CN" sz="1050" b="1" dirty="0">
              <a:solidFill>
                <a:srgbClr val="C53030"/>
              </a:solidFill>
              <a:latin typeface="Segoe UI" panose="020B0502040204020203"/>
              <a:ea typeface="微软雅黑" panose="020B0503020204020204" charset="-122"/>
              <a:cs typeface="Segoe UI" panose="020B0502040204020203"/>
            </a:endParaRPr>
          </a:p>
        </p:txBody>
      </p:sp>
      <p:sp>
        <p:nvSpPr>
          <p:cNvPr id="15" name="TextBox 15"/>
          <p:cNvSpPr txBox="1"/>
          <p:nvPr>
            <p:custDataLst>
              <p:tags r:id="rId4"/>
            </p:custDataLst>
          </p:nvPr>
        </p:nvSpPr>
        <p:spPr>
          <a:xfrm>
            <a:off x="940435" y="2847340"/>
            <a:ext cx="2025650" cy="250190"/>
          </a:xfrm>
          <a:prstGeom prst="rect">
            <a:avLst/>
          </a:prstGeom>
          <a:noFill/>
          <a:ln>
            <a:noFill/>
          </a:ln>
        </p:spPr>
        <p:txBody>
          <a:bodyPr wrap="none" lIns="0" tIns="0" rIns="0" bIns="0" anchor="t" anchorCtr="0">
            <a:no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公式包含分式、根号、上下标、</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16" name="TextBox 16"/>
          <p:cNvSpPr txBox="1"/>
          <p:nvPr>
            <p:custDataLst>
              <p:tags r:id="rId5"/>
            </p:custDataLst>
          </p:nvPr>
        </p:nvSpPr>
        <p:spPr>
          <a:xfrm>
            <a:off x="940435" y="3037840"/>
            <a:ext cx="2025650" cy="250190"/>
          </a:xfrm>
          <a:prstGeom prst="rect">
            <a:avLst/>
          </a:prstGeom>
          <a:noFill/>
          <a:ln>
            <a:noFill/>
          </a:ln>
        </p:spPr>
        <p:txBody>
          <a:bodyPr wrap="none" lIns="0" tIns="0" rIns="0" bIns="0" anchor="t" anchorCtr="0">
            <a:no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矩阵等二维排布，不是线性序列</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17" name="Rectangle 17"/>
          <p:cNvSpPr/>
          <p:nvPr>
            <p:custDataLst>
              <p:tags r:id="rId6"/>
            </p:custDataLst>
          </p:nvPr>
        </p:nvSpPr>
        <p:spPr>
          <a:xfrm>
            <a:off x="3524250" y="2428875"/>
            <a:ext cx="2719705" cy="1446530"/>
          </a:xfrm>
          <a:prstGeom prst="roundRect">
            <a:avLst>
              <a:gd name="adj" fmla="val 5000"/>
            </a:avLst>
          </a:prstGeom>
          <a:solidFill>
            <a:srgbClr val="FFF5F5"/>
          </a:solidFill>
          <a:ln>
            <a:noFill/>
          </a:ln>
        </p:spPr>
      </p:sp>
      <p:sp>
        <p:nvSpPr>
          <p:cNvPr id="18" name="Rectangle 18"/>
          <p:cNvSpPr/>
          <p:nvPr>
            <p:custDataLst>
              <p:tags r:id="rId7"/>
            </p:custDataLst>
          </p:nvPr>
        </p:nvSpPr>
        <p:spPr>
          <a:xfrm>
            <a:off x="3524250" y="2428875"/>
            <a:ext cx="2719705" cy="76200"/>
          </a:xfrm>
          <a:prstGeom prst="rect">
            <a:avLst/>
          </a:prstGeom>
          <a:solidFill>
            <a:srgbClr val="E53E3E"/>
          </a:solidFill>
          <a:ln>
            <a:noFill/>
          </a:ln>
        </p:spPr>
      </p:sp>
      <p:sp>
        <p:nvSpPr>
          <p:cNvPr id="19" name="TextBox 19"/>
          <p:cNvSpPr txBox="1"/>
          <p:nvPr>
            <p:custDataLst>
              <p:tags r:id="rId8"/>
            </p:custDataLst>
          </p:nvPr>
        </p:nvSpPr>
        <p:spPr>
          <a:xfrm>
            <a:off x="4161155" y="2601595"/>
            <a:ext cx="1320800" cy="269875"/>
          </a:xfrm>
          <a:prstGeom prst="rect">
            <a:avLst/>
          </a:prstGeom>
          <a:noFill/>
          <a:ln>
            <a:noFill/>
          </a:ln>
        </p:spPr>
        <p:txBody>
          <a:bodyPr wrap="none" lIns="0" tIns="0" rIns="0" bIns="0" anchor="t" anchorCtr="0">
            <a:noAutofit/>
          </a:bodyPr>
          <a:lstStyle/>
          <a:p>
            <a:pPr algn="ctr"/>
            <a:r>
              <a:rPr lang="zh-CN" sz="1050" b="1" dirty="0">
                <a:solidFill>
                  <a:srgbClr val="C53030"/>
                </a:solidFill>
                <a:latin typeface="Segoe UI" panose="020B0502040204020203"/>
                <a:ea typeface="微软雅黑" panose="020B0503020204020204" charset="-122"/>
                <a:cs typeface="Segoe UI" panose="020B0502040204020203"/>
              </a:rPr>
              <a:t>挑战二：视觉识别</a:t>
            </a:r>
            <a:endParaRPr lang="zh-CN" sz="1050" b="1" dirty="0">
              <a:solidFill>
                <a:srgbClr val="C53030"/>
              </a:solidFill>
              <a:latin typeface="Segoe UI" panose="020B0502040204020203"/>
              <a:ea typeface="微软雅黑" panose="020B0503020204020204" charset="-122"/>
              <a:cs typeface="Segoe UI" panose="020B0502040204020203"/>
            </a:endParaRPr>
          </a:p>
        </p:txBody>
      </p:sp>
      <p:sp>
        <p:nvSpPr>
          <p:cNvPr id="20" name="TextBox 20"/>
          <p:cNvSpPr txBox="1"/>
          <p:nvPr>
            <p:custDataLst>
              <p:tags r:id="rId9"/>
            </p:custDataLst>
          </p:nvPr>
        </p:nvSpPr>
        <p:spPr>
          <a:xfrm>
            <a:off x="3702685" y="2847340"/>
            <a:ext cx="1740535" cy="250190"/>
          </a:xfrm>
          <a:prstGeom prst="rect">
            <a:avLst/>
          </a:prstGeom>
          <a:noFill/>
          <a:ln>
            <a:noFill/>
          </a:ln>
        </p:spPr>
        <p:txBody>
          <a:bodyPr wrap="none" lIns="0" tIns="0" rIns="0" bIns="0" anchor="t" anchorCtr="0">
            <a:no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手写体变化大、风格多样，</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21" name="TextBox 21"/>
          <p:cNvSpPr txBox="1"/>
          <p:nvPr>
            <p:custDataLst>
              <p:tags r:id="rId10"/>
            </p:custDataLst>
          </p:nvPr>
        </p:nvSpPr>
        <p:spPr>
          <a:xfrm>
            <a:off x="3702685" y="3037840"/>
            <a:ext cx="1883410" cy="250190"/>
          </a:xfrm>
          <a:prstGeom prst="rect">
            <a:avLst/>
          </a:prstGeom>
          <a:noFill/>
          <a:ln>
            <a:noFill/>
          </a:ln>
        </p:spPr>
        <p:txBody>
          <a:bodyPr wrap="none" lIns="0" tIns="0" rIns="0" bIns="0" anchor="t" anchorCtr="0">
            <a:no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需要模型具备鲁棒的视觉感知</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22" name="Rectangle 22"/>
          <p:cNvSpPr/>
          <p:nvPr>
            <p:custDataLst>
              <p:tags r:id="rId11"/>
            </p:custDataLst>
          </p:nvPr>
        </p:nvSpPr>
        <p:spPr>
          <a:xfrm>
            <a:off x="6286500" y="2428875"/>
            <a:ext cx="2719705" cy="1446530"/>
          </a:xfrm>
          <a:prstGeom prst="roundRect">
            <a:avLst>
              <a:gd name="adj" fmla="val 5000"/>
            </a:avLst>
          </a:prstGeom>
          <a:solidFill>
            <a:srgbClr val="FFF5F5"/>
          </a:solidFill>
          <a:ln>
            <a:noFill/>
          </a:ln>
        </p:spPr>
      </p:sp>
      <p:sp>
        <p:nvSpPr>
          <p:cNvPr id="23" name="Rectangle 23"/>
          <p:cNvSpPr/>
          <p:nvPr>
            <p:custDataLst>
              <p:tags r:id="rId12"/>
            </p:custDataLst>
          </p:nvPr>
        </p:nvSpPr>
        <p:spPr>
          <a:xfrm>
            <a:off x="6286500" y="2428875"/>
            <a:ext cx="2719705" cy="76200"/>
          </a:xfrm>
          <a:prstGeom prst="rect">
            <a:avLst/>
          </a:prstGeom>
          <a:solidFill>
            <a:srgbClr val="E53E3E"/>
          </a:solidFill>
          <a:ln>
            <a:noFill/>
          </a:ln>
        </p:spPr>
      </p:sp>
      <p:sp>
        <p:nvSpPr>
          <p:cNvPr id="24" name="TextBox 24"/>
          <p:cNvSpPr txBox="1"/>
          <p:nvPr>
            <p:custDataLst>
              <p:tags r:id="rId13"/>
            </p:custDataLst>
          </p:nvPr>
        </p:nvSpPr>
        <p:spPr>
          <a:xfrm>
            <a:off x="6923405" y="2601595"/>
            <a:ext cx="1320800" cy="269875"/>
          </a:xfrm>
          <a:prstGeom prst="rect">
            <a:avLst/>
          </a:prstGeom>
          <a:noFill/>
          <a:ln>
            <a:noFill/>
          </a:ln>
        </p:spPr>
        <p:txBody>
          <a:bodyPr wrap="none" lIns="0" tIns="0" rIns="0" bIns="0" anchor="t" anchorCtr="0">
            <a:noAutofit/>
          </a:bodyPr>
          <a:lstStyle/>
          <a:p>
            <a:pPr algn="ctr"/>
            <a:r>
              <a:rPr lang="zh-CN" sz="1050" b="1" dirty="0">
                <a:solidFill>
                  <a:srgbClr val="C53030"/>
                </a:solidFill>
                <a:latin typeface="Segoe UI" panose="020B0502040204020203"/>
                <a:ea typeface="微软雅黑" panose="020B0503020204020204" charset="-122"/>
                <a:cs typeface="Segoe UI" panose="020B0502040204020203"/>
              </a:rPr>
              <a:t>挑战三：语义理解</a:t>
            </a:r>
            <a:endParaRPr lang="zh-CN" sz="1050" b="1" dirty="0">
              <a:solidFill>
                <a:srgbClr val="C53030"/>
              </a:solidFill>
              <a:latin typeface="Segoe UI" panose="020B0502040204020203"/>
              <a:ea typeface="微软雅黑" panose="020B0503020204020204" charset="-122"/>
              <a:cs typeface="Segoe UI" panose="020B0502040204020203"/>
            </a:endParaRPr>
          </a:p>
        </p:txBody>
      </p:sp>
      <p:sp>
        <p:nvSpPr>
          <p:cNvPr id="25" name="TextBox 25"/>
          <p:cNvSpPr txBox="1"/>
          <p:nvPr>
            <p:custDataLst>
              <p:tags r:id="rId14"/>
            </p:custDataLst>
          </p:nvPr>
        </p:nvSpPr>
        <p:spPr>
          <a:xfrm>
            <a:off x="6464935" y="2847340"/>
            <a:ext cx="1597660" cy="250190"/>
          </a:xfrm>
          <a:prstGeom prst="rect">
            <a:avLst/>
          </a:prstGeom>
          <a:noFill/>
          <a:ln>
            <a:noFill/>
          </a:ln>
        </p:spPr>
        <p:txBody>
          <a:bodyPr wrap="none" lIns="0" tIns="0" rIns="0" bIns="0" anchor="t" anchorCtr="0">
            <a:no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数字和变量的误识别需要</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26" name="TextBox 26"/>
          <p:cNvSpPr txBox="1"/>
          <p:nvPr>
            <p:custDataLst>
              <p:tags r:id="rId15"/>
            </p:custDataLst>
          </p:nvPr>
        </p:nvSpPr>
        <p:spPr>
          <a:xfrm>
            <a:off x="6464935" y="3037840"/>
            <a:ext cx="1312545" cy="250190"/>
          </a:xfrm>
          <a:prstGeom prst="rect">
            <a:avLst/>
          </a:prstGeom>
          <a:noFill/>
          <a:ln>
            <a:noFill/>
          </a:ln>
        </p:spPr>
        <p:txBody>
          <a:bodyPr wrap="none" lIns="0" tIns="0" rIns="0" bIns="0" anchor="t" anchorCtr="0">
            <a:no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数学语义理解来纠正</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27" name="Rectangle 27"/>
          <p:cNvSpPr/>
          <p:nvPr>
            <p:custDataLst>
              <p:tags r:id="rId16"/>
            </p:custDataLst>
          </p:nvPr>
        </p:nvSpPr>
        <p:spPr>
          <a:xfrm>
            <a:off x="9048750" y="2428875"/>
            <a:ext cx="2614930" cy="1446530"/>
          </a:xfrm>
          <a:prstGeom prst="roundRect">
            <a:avLst>
              <a:gd name="adj" fmla="val 5000"/>
            </a:avLst>
          </a:prstGeom>
          <a:solidFill>
            <a:srgbClr val="FFF5F5"/>
          </a:solidFill>
          <a:ln>
            <a:noFill/>
          </a:ln>
        </p:spPr>
      </p:sp>
      <p:sp>
        <p:nvSpPr>
          <p:cNvPr id="28" name="Rectangle 28"/>
          <p:cNvSpPr/>
          <p:nvPr>
            <p:custDataLst>
              <p:tags r:id="rId17"/>
            </p:custDataLst>
          </p:nvPr>
        </p:nvSpPr>
        <p:spPr>
          <a:xfrm>
            <a:off x="9048750" y="2428875"/>
            <a:ext cx="2614930" cy="76200"/>
          </a:xfrm>
          <a:prstGeom prst="rect">
            <a:avLst/>
          </a:prstGeom>
          <a:solidFill>
            <a:srgbClr val="E53E3E"/>
          </a:solidFill>
          <a:ln>
            <a:noFill/>
          </a:ln>
        </p:spPr>
      </p:sp>
      <p:sp>
        <p:nvSpPr>
          <p:cNvPr id="29" name="TextBox 29"/>
          <p:cNvSpPr txBox="1"/>
          <p:nvPr>
            <p:custDataLst>
              <p:tags r:id="rId18"/>
            </p:custDataLst>
          </p:nvPr>
        </p:nvSpPr>
        <p:spPr>
          <a:xfrm>
            <a:off x="9638030" y="2601595"/>
            <a:ext cx="1320800" cy="269875"/>
          </a:xfrm>
          <a:prstGeom prst="rect">
            <a:avLst/>
          </a:prstGeom>
          <a:noFill/>
          <a:ln>
            <a:noFill/>
          </a:ln>
        </p:spPr>
        <p:txBody>
          <a:bodyPr wrap="none" lIns="0" tIns="0" rIns="0" bIns="0" anchor="t" anchorCtr="0">
            <a:noAutofit/>
          </a:bodyPr>
          <a:lstStyle/>
          <a:p>
            <a:pPr algn="ctr"/>
            <a:r>
              <a:rPr lang="zh-CN" sz="1050" b="1" dirty="0">
                <a:solidFill>
                  <a:srgbClr val="C53030"/>
                </a:solidFill>
                <a:latin typeface="Segoe UI" panose="020B0502040204020203"/>
                <a:ea typeface="微软雅黑" panose="020B0503020204020204" charset="-122"/>
                <a:cs typeface="Segoe UI" panose="020B0502040204020203"/>
              </a:rPr>
              <a:t>挑战四：矩阵公式</a:t>
            </a:r>
            <a:endParaRPr lang="zh-CN" sz="1050" b="1" dirty="0">
              <a:solidFill>
                <a:srgbClr val="C53030"/>
              </a:solidFill>
              <a:latin typeface="Segoe UI" panose="020B0502040204020203"/>
              <a:ea typeface="微软雅黑" panose="020B0503020204020204" charset="-122"/>
              <a:cs typeface="Segoe UI" panose="020B0502040204020203"/>
            </a:endParaRPr>
          </a:p>
        </p:txBody>
      </p:sp>
      <p:sp>
        <p:nvSpPr>
          <p:cNvPr id="30" name="TextBox 30"/>
          <p:cNvSpPr txBox="1"/>
          <p:nvPr>
            <p:custDataLst>
              <p:tags r:id="rId19"/>
            </p:custDataLst>
          </p:nvPr>
        </p:nvSpPr>
        <p:spPr>
          <a:xfrm>
            <a:off x="9227185" y="2847340"/>
            <a:ext cx="1597660" cy="250190"/>
          </a:xfrm>
          <a:prstGeom prst="rect">
            <a:avLst/>
          </a:prstGeom>
          <a:noFill/>
          <a:ln>
            <a:noFill/>
          </a:ln>
        </p:spPr>
        <p:txBody>
          <a:bodyPr wrap="none" lIns="0" tIns="0" rIns="0" bIns="0" anchor="t" anchorCtr="0">
            <a:no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矩阵结构复杂多变，传统</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31" name="TextBox 31"/>
          <p:cNvSpPr txBox="1"/>
          <p:nvPr>
            <p:custDataLst>
              <p:tags r:id="rId20"/>
            </p:custDataLst>
          </p:nvPr>
        </p:nvSpPr>
        <p:spPr>
          <a:xfrm>
            <a:off x="9227185" y="3037840"/>
            <a:ext cx="1169670" cy="250190"/>
          </a:xfrm>
          <a:prstGeom prst="rect">
            <a:avLst/>
          </a:prstGeom>
          <a:noFill/>
          <a:ln>
            <a:noFill/>
          </a:ln>
        </p:spPr>
        <p:txBody>
          <a:bodyPr wrap="none" lIns="0" tIns="0" rIns="0" bIns="0" anchor="t" anchorCtr="0">
            <a:no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分类方法难以处理</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11513820" y="6570345"/>
            <a:ext cx="154877" cy="182880"/>
          </a:xfrm>
          <a:prstGeom prst="rect">
            <a:avLst/>
          </a:prstGeom>
          <a:noFill/>
          <a:ln>
            <a:noFill/>
          </a:ln>
        </p:spPr>
        <p:txBody>
          <a:bodyPr wrap="none" lIns="0" tIns="0" rIns="0" bIns="0" anchor="t" anchorCtr="0">
            <a:spAutoFit/>
          </a:bodyPr>
          <a:lstStyle/>
          <a:p>
            <a:pPr algn="l"/>
            <a:r>
              <a:rPr lang="zh-CN" sz="900" dirty="0">
                <a:solidFill>
                  <a:srgbClr val="CBD5E0"/>
                </a:solidFill>
                <a:latin typeface="Consolas" panose="020B0609020204030204"/>
                <a:ea typeface="微软雅黑" panose="020B0503020204020204" charset="-122"/>
                <a:cs typeface="Consolas" panose="020B0609020204030204"/>
              </a:rPr>
              <a:t>04</a:t>
            </a:r>
            <a:endParaRPr lang="zh-CN" sz="900" dirty="0">
              <a:solidFill>
                <a:srgbClr val="CBD5E0"/>
              </a:solidFill>
              <a:latin typeface="Consolas" panose="020B0609020204030204"/>
              <a:ea typeface="微软雅黑" panose="020B0503020204020204" charset="-122"/>
              <a:cs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59690" y="0"/>
            <a:ext cx="12192000" cy="6858000"/>
          </a:xfrm>
          <a:prstGeom prst="rect">
            <a:avLst/>
          </a:prstGeom>
          <a:solidFill>
            <a:srgbClr val="FFFFFF"/>
          </a:solidFill>
          <a:ln>
            <a:noFill/>
          </a:ln>
        </p:spPr>
      </p:sp>
      <p:sp>
        <p:nvSpPr>
          <p:cNvPr id="3" name="Rectangle 3"/>
          <p:cNvSpPr/>
          <p:nvPr/>
        </p:nvSpPr>
        <p:spPr>
          <a:xfrm>
            <a:off x="0" y="0"/>
            <a:ext cx="12192000" cy="47625"/>
          </a:xfrm>
          <a:prstGeom prst="rect">
            <a:avLst/>
          </a:prstGeom>
          <a:solidFill>
            <a:srgbClr val="3182CE"/>
          </a:solidFill>
          <a:ln>
            <a:noFill/>
          </a:ln>
        </p:spPr>
      </p:sp>
      <p:sp>
        <p:nvSpPr>
          <p:cNvPr id="4" name="Rectangle 4"/>
          <p:cNvSpPr/>
          <p:nvPr/>
        </p:nvSpPr>
        <p:spPr>
          <a:xfrm>
            <a:off x="762000" y="476250"/>
            <a:ext cx="571500" cy="285750"/>
          </a:xfrm>
          <a:prstGeom prst="roundRect">
            <a:avLst>
              <a:gd name="adj" fmla="val 13333"/>
            </a:avLst>
          </a:prstGeom>
          <a:solidFill>
            <a:srgbClr val="3182CE"/>
          </a:solidFill>
          <a:ln>
            <a:noFill/>
          </a:ln>
        </p:spPr>
      </p:sp>
      <p:sp>
        <p:nvSpPr>
          <p:cNvPr id="5" name="TextBox 5"/>
          <p:cNvSpPr txBox="1"/>
          <p:nvPr/>
        </p:nvSpPr>
        <p:spPr>
          <a:xfrm>
            <a:off x="898850" y="561499"/>
            <a:ext cx="29779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panose="020B0502040204020203"/>
                <a:ea typeface="微软雅黑" panose="020B0503020204020204" charset="-122"/>
                <a:cs typeface="Segoe UI" panose="020B0502040204020203"/>
              </a:rPr>
              <a:t>数据</a:t>
            </a:r>
            <a:endParaRPr lang="zh-CN" sz="975" b="1" dirty="0">
              <a:solidFill>
                <a:srgbClr val="FFFFFF"/>
              </a:solidFill>
              <a:latin typeface="Segoe UI" panose="020B0502040204020203"/>
              <a:ea typeface="微软雅黑" panose="020B0503020204020204" charset="-122"/>
              <a:cs typeface="Segoe UI" panose="020B0502040204020203"/>
            </a:endParaRPr>
          </a:p>
        </p:txBody>
      </p:sp>
      <p:sp>
        <p:nvSpPr>
          <p:cNvPr id="6" name="TextBox 6"/>
          <p:cNvSpPr txBox="1"/>
          <p:nvPr/>
        </p:nvSpPr>
        <p:spPr>
          <a:xfrm>
            <a:off x="1457325" y="504825"/>
            <a:ext cx="2589919" cy="304800"/>
          </a:xfrm>
          <a:prstGeom prst="rect">
            <a:avLst/>
          </a:prstGeom>
          <a:noFill/>
          <a:ln>
            <a:noFill/>
          </a:ln>
        </p:spPr>
        <p:txBody>
          <a:bodyPr wrap="none" lIns="0" tIns="0" rIns="0" bIns="0" anchor="t" anchorCtr="0">
            <a:spAutoFit/>
          </a:bodyPr>
          <a:lstStyle/>
          <a:p>
            <a:pPr algn="l"/>
            <a:r>
              <a:rPr lang="zh-CN" sz="1500" b="1" dirty="0">
                <a:solidFill>
                  <a:srgbClr val="2D3748"/>
                </a:solidFill>
                <a:latin typeface="Segoe UI" panose="020B0502040204020203"/>
                <a:ea typeface="微软雅黑" panose="020B0503020204020204" charset="-122"/>
                <a:cs typeface="Segoe UI" panose="020B0502040204020203"/>
              </a:rPr>
              <a:t>数据准备 — CROHME 数据集</a:t>
            </a:r>
            <a:endParaRPr lang="zh-CN" sz="1500" b="1" dirty="0">
              <a:solidFill>
                <a:srgbClr val="2D3748"/>
              </a:solidFill>
              <a:latin typeface="Segoe UI" panose="020B0502040204020203"/>
              <a:ea typeface="微软雅黑" panose="020B0503020204020204" charset="-122"/>
              <a:cs typeface="Segoe UI" panose="020B0502040204020203"/>
            </a:endParaRPr>
          </a:p>
        </p:txBody>
      </p:sp>
      <p:sp>
        <p:nvSpPr>
          <p:cNvPr id="7" name="Line 7"/>
          <p:cNvSpPr/>
          <p:nvPr/>
        </p:nvSpPr>
        <p:spPr>
          <a:xfrm>
            <a:off x="762000" y="904875"/>
            <a:ext cx="10668000" cy="9525"/>
          </a:xfrm>
          <a:custGeom>
            <a:avLst/>
            <a:gdLst/>
            <a:ahLst/>
            <a:cxnLst/>
            <a:rect l="l" t="t" r="r" b="b"/>
            <a:pathLst>
              <a:path w="10668000" h="9525">
                <a:moveTo>
                  <a:pt x="0" y="0"/>
                </a:moveTo>
                <a:lnTo>
                  <a:pt x="10668000" y="0"/>
                </a:lnTo>
              </a:path>
            </a:pathLst>
          </a:custGeom>
          <a:noFill/>
          <a:ln w="9525">
            <a:solidFill>
              <a:srgbClr val="E2E8F0"/>
            </a:solidFill>
          </a:ln>
        </p:spPr>
      </p:sp>
      <p:sp>
        <p:nvSpPr>
          <p:cNvPr id="8" name="TextBox 8"/>
          <p:cNvSpPr txBox="1"/>
          <p:nvPr/>
        </p:nvSpPr>
        <p:spPr>
          <a:xfrm>
            <a:off x="747712" y="1116806"/>
            <a:ext cx="7469505" cy="228600"/>
          </a:xfrm>
          <a:prstGeom prst="rect">
            <a:avLst/>
          </a:prstGeom>
          <a:noFill/>
          <a:ln>
            <a:noFill/>
          </a:ln>
        </p:spPr>
        <p:txBody>
          <a:bodyPr wrap="none" lIns="0" tIns="0" rIns="0" bIns="0" anchor="t" anchorCtr="0">
            <a:spAutoFit/>
          </a:bodyPr>
          <a:lstStyle/>
          <a:p>
            <a:pPr algn="l"/>
            <a:r>
              <a:rPr lang="zh-CN" sz="1125" dirty="0">
                <a:solidFill>
                  <a:srgbClr val="4A5568"/>
                </a:solidFill>
                <a:latin typeface="Segoe UI" panose="020B0502040204020203"/>
                <a:ea typeface="微软雅黑" panose="020B0503020204020204" charset="-122"/>
                <a:cs typeface="Segoe UI" panose="020B0502040204020203"/>
              </a:rPr>
              <a:t>CROHME（Competition on Recognition of Online Handwritten Mathematical Expressions）国际竞赛数据集</a:t>
            </a:r>
            <a:endParaRPr lang="zh-CN" sz="1125" dirty="0">
              <a:solidFill>
                <a:srgbClr val="4A5568"/>
              </a:solidFill>
              <a:latin typeface="Segoe UI" panose="020B0502040204020203"/>
              <a:ea typeface="微软雅黑" panose="020B0503020204020204" charset="-122"/>
              <a:cs typeface="Segoe UI" panose="020B0502040204020203"/>
            </a:endParaRPr>
          </a:p>
        </p:txBody>
      </p:sp>
      <p:sp>
        <p:nvSpPr>
          <p:cNvPr id="9" name="Rectangle 9"/>
          <p:cNvSpPr/>
          <p:nvPr/>
        </p:nvSpPr>
        <p:spPr>
          <a:xfrm>
            <a:off x="762000" y="1476375"/>
            <a:ext cx="3333750" cy="857250"/>
          </a:xfrm>
          <a:prstGeom prst="roundRect">
            <a:avLst>
              <a:gd name="adj" fmla="val 6667"/>
            </a:avLst>
          </a:prstGeom>
          <a:solidFill>
            <a:srgbClr val="EBF8FF"/>
          </a:solidFill>
          <a:ln>
            <a:noFill/>
          </a:ln>
        </p:spPr>
      </p:sp>
      <p:sp>
        <p:nvSpPr>
          <p:cNvPr id="10" name="TextBox 10"/>
          <p:cNvSpPr txBox="1"/>
          <p:nvPr/>
        </p:nvSpPr>
        <p:spPr>
          <a:xfrm>
            <a:off x="1034415" y="1601152"/>
            <a:ext cx="1482152" cy="213360"/>
          </a:xfrm>
          <a:prstGeom prst="rect">
            <a:avLst/>
          </a:prstGeom>
          <a:noFill/>
          <a:ln>
            <a:noFill/>
          </a:ln>
        </p:spPr>
        <p:txBody>
          <a:bodyPr wrap="none" lIns="0" tIns="0" rIns="0" bIns="0" anchor="t" anchorCtr="0">
            <a:spAutoFit/>
          </a:bodyPr>
          <a:lstStyle/>
          <a:p>
            <a:pPr algn="l"/>
            <a:r>
              <a:rPr lang="zh-CN" sz="1050" b="1" dirty="0">
                <a:solidFill>
                  <a:srgbClr val="2B6CB0"/>
                </a:solidFill>
                <a:latin typeface="Segoe UI" panose="020B0502040204020203"/>
                <a:ea typeface="微软雅黑" panose="020B0503020204020204" charset="-122"/>
                <a:cs typeface="Segoe UI" panose="020B0502040204020203"/>
              </a:rPr>
              <a:t>CROHME Training 2011</a:t>
            </a:r>
            <a:endParaRPr lang="zh-CN" sz="1050" b="1" dirty="0">
              <a:solidFill>
                <a:srgbClr val="2B6CB0"/>
              </a:solidFill>
              <a:latin typeface="Segoe UI" panose="020B0502040204020203"/>
              <a:ea typeface="微软雅黑" panose="020B0503020204020204" charset="-122"/>
              <a:cs typeface="Segoe UI" panose="020B0502040204020203"/>
            </a:endParaRPr>
          </a:p>
        </p:txBody>
      </p:sp>
      <p:sp>
        <p:nvSpPr>
          <p:cNvPr id="11" name="TextBox 11"/>
          <p:cNvSpPr txBox="1"/>
          <p:nvPr/>
        </p:nvSpPr>
        <p:spPr>
          <a:xfrm>
            <a:off x="1021080" y="1725930"/>
            <a:ext cx="464991" cy="426720"/>
          </a:xfrm>
          <a:prstGeom prst="rect">
            <a:avLst/>
          </a:prstGeom>
          <a:noFill/>
          <a:ln>
            <a:noFill/>
          </a:ln>
        </p:spPr>
        <p:txBody>
          <a:bodyPr wrap="none" lIns="0" tIns="0" rIns="0" bIns="0" anchor="t" anchorCtr="0">
            <a:spAutoFit/>
          </a:bodyPr>
          <a:lstStyle/>
          <a:p>
            <a:pPr algn="l"/>
            <a:r>
              <a:rPr lang="zh-CN" sz="2100" b="1" dirty="0">
                <a:solidFill>
                  <a:srgbClr val="E53E3E"/>
                </a:solidFill>
                <a:latin typeface="Consolas" panose="020B0609020204030204"/>
                <a:ea typeface="微软雅黑" panose="020B0503020204020204" charset="-122"/>
                <a:cs typeface="Consolas" panose="020B0609020204030204"/>
              </a:rPr>
              <a:t>921</a:t>
            </a:r>
            <a:endParaRPr lang="zh-CN" sz="2100" b="1" dirty="0">
              <a:solidFill>
                <a:srgbClr val="E53E3E"/>
              </a:solidFill>
              <a:latin typeface="Consolas" panose="020B0609020204030204"/>
              <a:ea typeface="微软雅黑" panose="020B0503020204020204" charset="-122"/>
              <a:cs typeface="Consolas" panose="020B0609020204030204"/>
            </a:endParaRPr>
          </a:p>
        </p:txBody>
      </p:sp>
      <p:sp>
        <p:nvSpPr>
          <p:cNvPr id="12" name="TextBox 12"/>
          <p:cNvSpPr txBox="1"/>
          <p:nvPr/>
        </p:nvSpPr>
        <p:spPr>
          <a:xfrm>
            <a:off x="1893570" y="1855470"/>
            <a:ext cx="1163002" cy="182880"/>
          </a:xfrm>
          <a:prstGeom prst="rect">
            <a:avLst/>
          </a:prstGeom>
          <a:noFill/>
          <a:ln>
            <a:noFill/>
          </a:ln>
        </p:spPr>
        <p:txBody>
          <a:bodyPr wrap="none" lIns="0" tIns="0" rIns="0" bIns="0" anchor="t" anchorCtr="0">
            <a:spAutoFit/>
          </a:bodyPr>
          <a:lstStyle/>
          <a:p>
            <a:pPr algn="l"/>
            <a:r>
              <a:rPr lang="zh-CN" sz="900" dirty="0">
                <a:solidFill>
                  <a:srgbClr val="718096"/>
                </a:solidFill>
                <a:latin typeface="Segoe UI" panose="020B0502040204020203"/>
                <a:ea typeface="微软雅黑" panose="020B0503020204020204" charset="-122"/>
                <a:cs typeface="Segoe UI" panose="020B0502040204020203"/>
              </a:rPr>
              <a:t>样本 · 含 LaTeX 真值</a:t>
            </a:r>
            <a:endParaRPr lang="zh-CN" sz="900" dirty="0">
              <a:solidFill>
                <a:srgbClr val="718096"/>
              </a:solidFill>
              <a:latin typeface="Segoe UI" panose="020B0502040204020203"/>
              <a:ea typeface="微软雅黑" panose="020B0503020204020204" charset="-122"/>
              <a:cs typeface="Segoe UI" panose="020B0502040204020203"/>
            </a:endParaRPr>
          </a:p>
        </p:txBody>
      </p:sp>
      <p:sp>
        <p:nvSpPr>
          <p:cNvPr id="13" name="Rectangle 13"/>
          <p:cNvSpPr/>
          <p:nvPr/>
        </p:nvSpPr>
        <p:spPr>
          <a:xfrm>
            <a:off x="4333875" y="1476375"/>
            <a:ext cx="3333750" cy="857250"/>
          </a:xfrm>
          <a:prstGeom prst="roundRect">
            <a:avLst>
              <a:gd name="adj" fmla="val 6667"/>
            </a:avLst>
          </a:prstGeom>
          <a:solidFill>
            <a:srgbClr val="EBF8FF"/>
          </a:solidFill>
          <a:ln>
            <a:noFill/>
          </a:ln>
        </p:spPr>
      </p:sp>
      <p:sp>
        <p:nvSpPr>
          <p:cNvPr id="14" name="TextBox 14"/>
          <p:cNvSpPr txBox="1"/>
          <p:nvPr/>
        </p:nvSpPr>
        <p:spPr>
          <a:xfrm>
            <a:off x="4606290" y="1601152"/>
            <a:ext cx="1313081" cy="213360"/>
          </a:xfrm>
          <a:prstGeom prst="rect">
            <a:avLst/>
          </a:prstGeom>
          <a:noFill/>
          <a:ln>
            <a:noFill/>
          </a:ln>
        </p:spPr>
        <p:txBody>
          <a:bodyPr wrap="none" lIns="0" tIns="0" rIns="0" bIns="0" anchor="t" anchorCtr="0">
            <a:spAutoFit/>
          </a:bodyPr>
          <a:lstStyle/>
          <a:p>
            <a:pPr algn="l"/>
            <a:r>
              <a:rPr lang="zh-CN" sz="1050" b="1" dirty="0">
                <a:solidFill>
                  <a:srgbClr val="2B6CB0"/>
                </a:solidFill>
                <a:latin typeface="Segoe UI" panose="020B0502040204020203"/>
                <a:ea typeface="微软雅黑" panose="020B0503020204020204" charset="-122"/>
                <a:cs typeface="Segoe UI" panose="020B0502040204020203"/>
              </a:rPr>
              <a:t>2012+2013 训练数据</a:t>
            </a:r>
            <a:endParaRPr lang="zh-CN" sz="1050" b="1" dirty="0">
              <a:solidFill>
                <a:srgbClr val="2B6CB0"/>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4592955" y="1725930"/>
            <a:ext cx="950152" cy="426720"/>
          </a:xfrm>
          <a:prstGeom prst="rect">
            <a:avLst/>
          </a:prstGeom>
          <a:noFill/>
          <a:ln>
            <a:noFill/>
          </a:ln>
        </p:spPr>
        <p:txBody>
          <a:bodyPr wrap="none" lIns="0" tIns="0" rIns="0" bIns="0" anchor="t" anchorCtr="0">
            <a:spAutoFit/>
          </a:bodyPr>
          <a:lstStyle/>
          <a:p>
            <a:pPr algn="l"/>
            <a:r>
              <a:rPr lang="zh-CN" sz="2100" b="1" dirty="0">
                <a:solidFill>
                  <a:srgbClr val="3182CE"/>
                </a:solidFill>
                <a:latin typeface="Consolas" panose="020B0609020204030204"/>
                <a:ea typeface="微软雅黑" panose="020B0503020204020204" charset="-122"/>
                <a:cs typeface="Consolas" panose="020B0609020204030204"/>
              </a:rPr>
              <a:t>19,880</a:t>
            </a:r>
            <a:endParaRPr lang="zh-CN" sz="2100" b="1" dirty="0">
              <a:solidFill>
                <a:srgbClr val="3182CE"/>
              </a:solidFill>
              <a:latin typeface="Consolas" panose="020B0609020204030204"/>
              <a:ea typeface="微软雅黑" panose="020B0503020204020204" charset="-122"/>
              <a:cs typeface="Consolas" panose="020B0609020204030204"/>
            </a:endParaRPr>
          </a:p>
        </p:txBody>
      </p:sp>
      <p:sp>
        <p:nvSpPr>
          <p:cNvPr id="16" name="TextBox 16"/>
          <p:cNvSpPr txBox="1"/>
          <p:nvPr/>
        </p:nvSpPr>
        <p:spPr>
          <a:xfrm>
            <a:off x="5465445" y="1855470"/>
            <a:ext cx="760952" cy="182880"/>
          </a:xfrm>
          <a:prstGeom prst="rect">
            <a:avLst/>
          </a:prstGeom>
          <a:noFill/>
          <a:ln>
            <a:noFill/>
          </a:ln>
        </p:spPr>
        <p:txBody>
          <a:bodyPr wrap="none" lIns="0" tIns="0" rIns="0" bIns="0" anchor="t" anchorCtr="0">
            <a:spAutoFit/>
          </a:bodyPr>
          <a:lstStyle/>
          <a:p>
            <a:pPr algn="l"/>
            <a:r>
              <a:rPr lang="zh-CN" sz="900" dirty="0">
                <a:solidFill>
                  <a:srgbClr val="718096"/>
                </a:solidFill>
                <a:latin typeface="Segoe UI" panose="020B0502040204020203"/>
                <a:ea typeface="微软雅黑" panose="020B0503020204020204" charset="-122"/>
                <a:cs typeface="Segoe UI" panose="020B0502040204020203"/>
              </a:rPr>
              <a:t>样本 · 含真值</a:t>
            </a:r>
            <a:endParaRPr lang="zh-CN" sz="900" dirty="0">
              <a:solidFill>
                <a:srgbClr val="718096"/>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7905750" y="1476375"/>
            <a:ext cx="3524250" cy="857250"/>
          </a:xfrm>
          <a:prstGeom prst="roundRect">
            <a:avLst>
              <a:gd name="adj" fmla="val 6667"/>
            </a:avLst>
          </a:prstGeom>
          <a:solidFill>
            <a:srgbClr val="EBF8FF"/>
          </a:solidFill>
          <a:ln>
            <a:noFill/>
          </a:ln>
        </p:spPr>
      </p:sp>
      <p:sp>
        <p:nvSpPr>
          <p:cNvPr id="18" name="TextBox 18"/>
          <p:cNvSpPr txBox="1"/>
          <p:nvPr/>
        </p:nvSpPr>
        <p:spPr>
          <a:xfrm>
            <a:off x="8178165" y="1601152"/>
            <a:ext cx="1298379" cy="213360"/>
          </a:xfrm>
          <a:prstGeom prst="rect">
            <a:avLst/>
          </a:prstGeom>
          <a:noFill/>
          <a:ln>
            <a:noFill/>
          </a:ln>
        </p:spPr>
        <p:txBody>
          <a:bodyPr wrap="none" lIns="0" tIns="0" rIns="0" bIns="0" anchor="t" anchorCtr="0">
            <a:spAutoFit/>
          </a:bodyPr>
          <a:lstStyle/>
          <a:p>
            <a:pPr algn="l"/>
            <a:r>
              <a:rPr lang="zh-CN" sz="1050" b="1" dirty="0">
                <a:solidFill>
                  <a:srgbClr val="2B6CB0"/>
                </a:solidFill>
                <a:latin typeface="Segoe UI" panose="020B0502040204020203"/>
                <a:ea typeface="微软雅黑" panose="020B0503020204020204" charset="-122"/>
                <a:cs typeface="Segoe UI" panose="020B0502040204020203"/>
              </a:rPr>
              <a:t>Matrices 矩阵数据</a:t>
            </a:r>
            <a:endParaRPr lang="zh-CN" sz="1050" b="1" dirty="0">
              <a:solidFill>
                <a:srgbClr val="2B6CB0"/>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8164830" y="1725930"/>
            <a:ext cx="1111872" cy="426720"/>
          </a:xfrm>
          <a:prstGeom prst="rect">
            <a:avLst/>
          </a:prstGeom>
          <a:noFill/>
          <a:ln>
            <a:noFill/>
          </a:ln>
        </p:spPr>
        <p:txBody>
          <a:bodyPr wrap="none" lIns="0" tIns="0" rIns="0" bIns="0" anchor="t" anchorCtr="0">
            <a:spAutoFit/>
          </a:bodyPr>
          <a:lstStyle/>
          <a:p>
            <a:pPr algn="l"/>
            <a:r>
              <a:rPr lang="zh-CN" sz="2100" b="1" dirty="0">
                <a:solidFill>
                  <a:srgbClr val="DD6B20"/>
                </a:solidFill>
                <a:latin typeface="Consolas" panose="020B0609020204030204"/>
                <a:ea typeface="微软雅黑" panose="020B0503020204020204" charset="-122"/>
                <a:cs typeface="Consolas" panose="020B0609020204030204"/>
              </a:rPr>
              <a:t>512+244</a:t>
            </a:r>
            <a:endParaRPr lang="zh-CN" sz="2100" b="1" dirty="0">
              <a:solidFill>
                <a:srgbClr val="DD6B20"/>
              </a:solidFill>
              <a:latin typeface="Consolas" panose="020B0609020204030204"/>
              <a:ea typeface="微软雅黑" panose="020B0503020204020204" charset="-122"/>
              <a:cs typeface="Consolas" panose="020B0609020204030204"/>
            </a:endParaRPr>
          </a:p>
        </p:txBody>
      </p:sp>
      <p:sp>
        <p:nvSpPr>
          <p:cNvPr id="20" name="TextBox 20"/>
          <p:cNvSpPr txBox="1"/>
          <p:nvPr/>
        </p:nvSpPr>
        <p:spPr>
          <a:xfrm>
            <a:off x="9132570" y="1855470"/>
            <a:ext cx="568928" cy="182880"/>
          </a:xfrm>
          <a:prstGeom prst="rect">
            <a:avLst/>
          </a:prstGeom>
          <a:noFill/>
          <a:ln>
            <a:noFill/>
          </a:ln>
        </p:spPr>
        <p:txBody>
          <a:bodyPr wrap="none" lIns="0" tIns="0" rIns="0" bIns="0" anchor="t" anchorCtr="0">
            <a:spAutoFit/>
          </a:bodyPr>
          <a:lstStyle/>
          <a:p>
            <a:pPr algn="l"/>
            <a:r>
              <a:rPr lang="zh-CN" sz="900" dirty="0">
                <a:solidFill>
                  <a:srgbClr val="718096"/>
                </a:solidFill>
                <a:latin typeface="Segoe UI" panose="020B0502040204020203"/>
                <a:ea typeface="微软雅黑" panose="020B0503020204020204" charset="-122"/>
                <a:cs typeface="Segoe UI" panose="020B0502040204020203"/>
              </a:rPr>
              <a:t>训练+测试</a:t>
            </a:r>
            <a:endParaRPr lang="zh-CN" sz="900" dirty="0">
              <a:solidFill>
                <a:srgbClr val="718096"/>
              </a:solidFill>
              <a:latin typeface="Segoe UI" panose="020B0502040204020203"/>
              <a:ea typeface="微软雅黑" panose="020B0503020204020204" charset="-122"/>
              <a:cs typeface="Segoe UI" panose="020B0502040204020203"/>
            </a:endParaRPr>
          </a:p>
        </p:txBody>
      </p:sp>
      <p:sp>
        <p:nvSpPr>
          <p:cNvPr id="21" name="Rectangle 21"/>
          <p:cNvSpPr/>
          <p:nvPr/>
        </p:nvSpPr>
        <p:spPr>
          <a:xfrm>
            <a:off x="762000" y="2571750"/>
            <a:ext cx="10668000" cy="523875"/>
          </a:xfrm>
          <a:prstGeom prst="roundRect">
            <a:avLst>
              <a:gd name="adj" fmla="val 10909"/>
            </a:avLst>
          </a:prstGeom>
          <a:solidFill>
            <a:srgbClr val="1A365D"/>
          </a:solidFill>
          <a:ln>
            <a:noFill/>
          </a:ln>
        </p:spPr>
      </p:sp>
      <p:sp>
        <p:nvSpPr>
          <p:cNvPr id="22" name="TextBox 22"/>
          <p:cNvSpPr txBox="1"/>
          <p:nvPr/>
        </p:nvSpPr>
        <p:spPr>
          <a:xfrm>
            <a:off x="4098833" y="2664142"/>
            <a:ext cx="3994335"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panose="020B0502040204020203"/>
                <a:ea typeface="微软雅黑" panose="020B0503020204020204" charset="-122"/>
                <a:cs typeface="Segoe UI" panose="020B0502040204020203"/>
              </a:rPr>
              <a:t>总计 22,021 样本 · 5,317 唯一 LaTeX 公式类别</a:t>
            </a:r>
            <a:endParaRPr lang="zh-CN" sz="1350" b="1" dirty="0">
              <a:solidFill>
                <a:srgbClr val="FFFFFF"/>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4670425" y="2874645"/>
            <a:ext cx="2851150" cy="215265"/>
          </a:xfrm>
          <a:prstGeom prst="rect">
            <a:avLst/>
          </a:prstGeom>
          <a:noFill/>
          <a:ln>
            <a:noFill/>
          </a:ln>
        </p:spPr>
        <p:txBody>
          <a:bodyPr wrap="none" lIns="0" tIns="0" rIns="0" bIns="0" anchor="t" anchorCtr="0">
            <a:spAutoFit/>
          </a:bodyPr>
          <a:lstStyle/>
          <a:p>
            <a:pPr algn="ctr"/>
            <a:r>
              <a:rPr lang="zh-CN" sz="900" dirty="0">
                <a:solidFill>
                  <a:srgbClr val="90CDF4"/>
                </a:solidFill>
                <a:latin typeface="Segoe UI" panose="020B0502040204020203"/>
                <a:ea typeface="微软雅黑" panose="020B0503020204020204" charset="-122"/>
                <a:cs typeface="Segoe UI" panose="020B0502040204020203"/>
              </a:rPr>
              <a:t>传统 ML 使用 </a:t>
            </a:r>
            <a:r>
              <a:rPr lang="zh-CN" sz="1400" b="1" dirty="0">
                <a:solidFill>
                  <a:srgbClr val="90CDF4"/>
                </a:solidFill>
                <a:latin typeface="Segoe UI" panose="020B0502040204020203"/>
                <a:ea typeface="微软雅黑" panose="020B0503020204020204" charset="-122"/>
                <a:cs typeface="Segoe UI" panose="020B0502040204020203"/>
              </a:rPr>
              <a:t>30 类子集</a:t>
            </a:r>
            <a:r>
              <a:rPr lang="zh-CN" sz="900" dirty="0">
                <a:solidFill>
                  <a:srgbClr val="90CDF4"/>
                </a:solidFill>
                <a:latin typeface="Segoe UI" panose="020B0502040204020203"/>
                <a:ea typeface="微软雅黑" panose="020B0503020204020204" charset="-122"/>
                <a:cs typeface="Segoe UI" panose="020B0502040204020203"/>
              </a:rPr>
              <a:t> · 多模态大模型使用</a:t>
            </a:r>
            <a:r>
              <a:rPr lang="zh-CN" sz="1400" b="1" dirty="0">
                <a:solidFill>
                  <a:srgbClr val="90CDF4"/>
                </a:solidFill>
                <a:latin typeface="Segoe UI" panose="020B0502040204020203"/>
                <a:ea typeface="微软雅黑" panose="020B0503020204020204" charset="-122"/>
                <a:cs typeface="Segoe UI" panose="020B0502040204020203"/>
              </a:rPr>
              <a:t>全量</a:t>
            </a:r>
            <a:endParaRPr lang="zh-CN" sz="1400" b="1" dirty="0">
              <a:solidFill>
                <a:srgbClr val="90CDF4"/>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746760" y="3347085"/>
            <a:ext cx="1206627" cy="243840"/>
          </a:xfrm>
          <a:prstGeom prst="rect">
            <a:avLst/>
          </a:prstGeom>
          <a:noFill/>
          <a:ln>
            <a:noFill/>
          </a:ln>
        </p:spPr>
        <p:txBody>
          <a:bodyPr wrap="none" lIns="0" tIns="0" rIns="0" bIns="0" anchor="t" anchorCtr="0">
            <a:spAutoFit/>
          </a:bodyPr>
          <a:lstStyle/>
          <a:p>
            <a:pPr algn="l"/>
            <a:r>
              <a:rPr lang="zh-CN" sz="1200" b="1" dirty="0">
                <a:solidFill>
                  <a:srgbClr val="2D3748"/>
                </a:solidFill>
                <a:latin typeface="Segoe UI" panose="020B0502040204020203"/>
                <a:ea typeface="微软雅黑" panose="020B0503020204020204" charset="-122"/>
                <a:cs typeface="Segoe UI" panose="020B0502040204020203"/>
              </a:rPr>
              <a:t>InkML 数据格式</a:t>
            </a:r>
            <a:endParaRPr lang="zh-CN" sz="1200" b="1" dirty="0">
              <a:solidFill>
                <a:srgbClr val="2D3748"/>
              </a:solidFill>
              <a:latin typeface="Segoe UI" panose="020B0502040204020203"/>
              <a:ea typeface="微软雅黑" panose="020B0503020204020204" charset="-122"/>
              <a:cs typeface="Segoe UI" panose="020B0502040204020203"/>
            </a:endParaRPr>
          </a:p>
        </p:txBody>
      </p:sp>
      <p:sp>
        <p:nvSpPr>
          <p:cNvPr id="25" name="Rectangle 25"/>
          <p:cNvSpPr/>
          <p:nvPr/>
        </p:nvSpPr>
        <p:spPr>
          <a:xfrm>
            <a:off x="737870" y="3563620"/>
            <a:ext cx="5190490" cy="3241040"/>
          </a:xfrm>
          <a:prstGeom prst="roundRect">
            <a:avLst>
              <a:gd name="adj" fmla="val 6000"/>
            </a:avLst>
          </a:prstGeom>
          <a:solidFill>
            <a:srgbClr val="2D3748"/>
          </a:solidFill>
          <a:ln>
            <a:noFill/>
          </a:ln>
        </p:spPr>
        <p:txBody>
          <a:bodyPr/>
          <a:p>
            <a:endParaRPr lang="zh-CN" altLang="en-US"/>
          </a:p>
        </p:txBody>
      </p:sp>
      <p:sp>
        <p:nvSpPr>
          <p:cNvPr id="26" name="TextBox 26"/>
          <p:cNvSpPr txBox="1"/>
          <p:nvPr/>
        </p:nvSpPr>
        <p:spPr>
          <a:xfrm>
            <a:off x="1036320" y="3827145"/>
            <a:ext cx="1247013" cy="182880"/>
          </a:xfrm>
          <a:prstGeom prst="rect">
            <a:avLst/>
          </a:prstGeom>
          <a:noFill/>
          <a:ln>
            <a:noFill/>
          </a:ln>
        </p:spPr>
        <p:txBody>
          <a:bodyPr wrap="none" lIns="0" tIns="0" rIns="0" bIns="0" anchor="t" anchorCtr="0">
            <a:spAutoFit/>
          </a:bodyPr>
          <a:lstStyle/>
          <a:p>
            <a:pPr algn="l"/>
            <a:r>
              <a:rPr lang="zh-CN" sz="900" dirty="0">
                <a:solidFill>
                  <a:srgbClr val="A0AEC0"/>
                </a:solidFill>
                <a:latin typeface="Consolas" panose="020B0609020204030204"/>
                <a:ea typeface="微软雅黑" panose="020B0503020204020204" charset="-122"/>
                <a:cs typeface="Consolas" panose="020B0609020204030204"/>
              </a:rPr>
              <a:t>&lt;!-- 笔画坐标序列 --&gt;</a:t>
            </a:r>
            <a:endParaRPr lang="zh-CN" sz="900" dirty="0">
              <a:solidFill>
                <a:srgbClr val="A0AEC0"/>
              </a:solidFill>
              <a:latin typeface="Consolas" panose="020B0609020204030204"/>
              <a:ea typeface="微软雅黑" panose="020B0503020204020204" charset="-122"/>
              <a:cs typeface="Consolas" panose="020B0609020204030204"/>
            </a:endParaRPr>
          </a:p>
        </p:txBody>
      </p:sp>
      <p:sp>
        <p:nvSpPr>
          <p:cNvPr id="27" name="TextBox 27"/>
          <p:cNvSpPr txBox="1"/>
          <p:nvPr/>
        </p:nvSpPr>
        <p:spPr>
          <a:xfrm>
            <a:off x="1036320" y="4017645"/>
            <a:ext cx="2747200" cy="182880"/>
          </a:xfrm>
          <a:prstGeom prst="rect">
            <a:avLst/>
          </a:prstGeom>
          <a:noFill/>
          <a:ln>
            <a:noFill/>
          </a:ln>
        </p:spPr>
        <p:txBody>
          <a:bodyPr wrap="none" lIns="0" tIns="0" rIns="0" bIns="0" anchor="t" anchorCtr="0">
            <a:spAutoFit/>
          </a:bodyPr>
          <a:lstStyle/>
          <a:p>
            <a:pPr algn="l"/>
            <a:r>
              <a:rPr lang="zh-CN" sz="900" dirty="0">
                <a:solidFill>
                  <a:srgbClr val="A0AEC0"/>
                </a:solidFill>
                <a:latin typeface="Consolas" panose="020B0609020204030204"/>
                <a:ea typeface="微软雅黑" panose="020B0503020204020204" charset="-122"/>
                <a:cs typeface="Consolas" panose="020B0609020204030204"/>
              </a:rPr>
              <a:t>&lt;trace&gt; 456,341 520,380 580,395 ... &lt;/trace&gt;</a:t>
            </a:r>
            <a:endParaRPr lang="zh-CN" sz="900" dirty="0">
              <a:solidFill>
                <a:srgbClr val="A0AEC0"/>
              </a:solidFill>
              <a:latin typeface="Consolas" panose="020B0609020204030204"/>
              <a:ea typeface="微软雅黑" panose="020B0503020204020204" charset="-122"/>
              <a:cs typeface="Consolas" panose="020B0609020204030204"/>
            </a:endParaRPr>
          </a:p>
        </p:txBody>
      </p:sp>
      <p:sp>
        <p:nvSpPr>
          <p:cNvPr id="28" name="TextBox 28"/>
          <p:cNvSpPr txBox="1"/>
          <p:nvPr/>
        </p:nvSpPr>
        <p:spPr>
          <a:xfrm>
            <a:off x="1036320" y="4208145"/>
            <a:ext cx="3353276" cy="182880"/>
          </a:xfrm>
          <a:prstGeom prst="rect">
            <a:avLst/>
          </a:prstGeom>
          <a:noFill/>
          <a:ln>
            <a:noFill/>
          </a:ln>
        </p:spPr>
        <p:txBody>
          <a:bodyPr wrap="none" lIns="0" tIns="0" rIns="0" bIns="0" anchor="t" anchorCtr="0">
            <a:spAutoFit/>
          </a:bodyPr>
          <a:lstStyle/>
          <a:p>
            <a:pPr algn="l"/>
            <a:r>
              <a:rPr lang="zh-CN" sz="900" dirty="0">
                <a:solidFill>
                  <a:srgbClr val="68D391"/>
                </a:solidFill>
                <a:latin typeface="Consolas" panose="020B0609020204030204"/>
                <a:ea typeface="微软雅黑" panose="020B0503020204020204" charset="-122"/>
                <a:cs typeface="Consolas" panose="020B0609020204030204"/>
              </a:rPr>
              <a:t>&lt;annotation type="truth"&gt; \sin x + \cos y &lt;/annotation&gt;</a:t>
            </a:r>
            <a:endParaRPr lang="zh-CN" sz="900" dirty="0">
              <a:solidFill>
                <a:srgbClr val="68D391"/>
              </a:solidFill>
              <a:latin typeface="Consolas" panose="020B0609020204030204"/>
              <a:ea typeface="微软雅黑" panose="020B0503020204020204" charset="-122"/>
              <a:cs typeface="Consolas" panose="020B0609020204030204"/>
            </a:endParaRPr>
          </a:p>
        </p:txBody>
      </p:sp>
      <p:sp>
        <p:nvSpPr>
          <p:cNvPr id="29" name="Rectangle 29"/>
          <p:cNvSpPr/>
          <p:nvPr/>
        </p:nvSpPr>
        <p:spPr>
          <a:xfrm>
            <a:off x="6191250" y="3667125"/>
            <a:ext cx="5238750" cy="952500"/>
          </a:xfrm>
          <a:prstGeom prst="roundRect">
            <a:avLst>
              <a:gd name="adj" fmla="val 6000"/>
            </a:avLst>
          </a:prstGeom>
          <a:solidFill>
            <a:srgbClr val="EBF8FF"/>
          </a:solidFill>
          <a:ln>
            <a:noFill/>
          </a:ln>
        </p:spPr>
      </p:sp>
      <p:sp>
        <p:nvSpPr>
          <p:cNvPr id="30" name="TextBox 30"/>
          <p:cNvSpPr txBox="1"/>
          <p:nvPr/>
        </p:nvSpPr>
        <p:spPr>
          <a:xfrm>
            <a:off x="6463665" y="3810952"/>
            <a:ext cx="761762" cy="213360"/>
          </a:xfrm>
          <a:prstGeom prst="rect">
            <a:avLst/>
          </a:prstGeom>
          <a:noFill/>
          <a:ln>
            <a:noFill/>
          </a:ln>
        </p:spPr>
        <p:txBody>
          <a:bodyPr wrap="none" lIns="0" tIns="0" rIns="0" bIns="0" anchor="t" anchorCtr="0">
            <a:spAutoFit/>
          </a:bodyPr>
          <a:lstStyle/>
          <a:p>
            <a:pPr algn="l"/>
            <a:r>
              <a:rPr lang="zh-CN" sz="1050" b="1" dirty="0">
                <a:solidFill>
                  <a:srgbClr val="2B6CB0"/>
                </a:solidFill>
                <a:latin typeface="Segoe UI" panose="020B0502040204020203"/>
                <a:ea typeface="微软雅黑" panose="020B0503020204020204" charset="-122"/>
                <a:cs typeface="Segoe UI" panose="020B0502040204020203"/>
              </a:rPr>
              <a:t>预处理流程</a:t>
            </a:r>
            <a:endParaRPr lang="zh-CN" sz="1050" b="1" dirty="0">
              <a:solidFill>
                <a:srgbClr val="2B6CB0"/>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6464618" y="4038124"/>
            <a:ext cx="2521077"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① InkML 解析 → 提取笔画轨迹 + LaTeX 标签</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6464618" y="4228624"/>
            <a:ext cx="2495074"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② 坐标渲染 → 灰度图像 · ③ 自适应缩放居中</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6464618" y="4419124"/>
            <a:ext cx="1643467"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④ Y-down 到 Y-up 坐标转换</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11513820" y="6570345"/>
            <a:ext cx="154877" cy="182880"/>
          </a:xfrm>
          <a:prstGeom prst="rect">
            <a:avLst/>
          </a:prstGeom>
          <a:noFill/>
          <a:ln>
            <a:noFill/>
          </a:ln>
        </p:spPr>
        <p:txBody>
          <a:bodyPr wrap="none" lIns="0" tIns="0" rIns="0" bIns="0" anchor="t" anchorCtr="0">
            <a:spAutoFit/>
          </a:bodyPr>
          <a:lstStyle/>
          <a:p>
            <a:pPr algn="l"/>
            <a:r>
              <a:rPr lang="zh-CN" sz="900" dirty="0">
                <a:solidFill>
                  <a:srgbClr val="CBD5E0"/>
                </a:solidFill>
                <a:latin typeface="Consolas" panose="020B0609020204030204"/>
                <a:ea typeface="微软雅黑" panose="020B0503020204020204" charset="-122"/>
                <a:cs typeface="Consolas" panose="020B0609020204030204"/>
              </a:rPr>
              <a:t>05</a:t>
            </a:r>
            <a:endParaRPr lang="zh-CN" sz="900" dirty="0">
              <a:solidFill>
                <a:srgbClr val="CBD5E0"/>
              </a:solidFill>
              <a:latin typeface="Consolas" panose="020B0609020204030204"/>
              <a:ea typeface="微软雅黑" panose="020B0503020204020204" charset="-122"/>
              <a:cs typeface="Consolas" panose="020B0609020204030204"/>
            </a:endParaRPr>
          </a:p>
        </p:txBody>
      </p:sp>
      <p:sp>
        <p:nvSpPr>
          <p:cNvPr id="35" name="文本框 34"/>
          <p:cNvSpPr txBox="1"/>
          <p:nvPr/>
        </p:nvSpPr>
        <p:spPr>
          <a:xfrm>
            <a:off x="6191250" y="3223260"/>
            <a:ext cx="4955540" cy="368300"/>
          </a:xfrm>
          <a:prstGeom prst="rect">
            <a:avLst/>
          </a:prstGeom>
          <a:noFill/>
        </p:spPr>
        <p:txBody>
          <a:bodyPr wrap="square" rtlCol="0">
            <a:spAutoFit/>
          </a:bodyPr>
          <a:p>
            <a:r>
              <a:rPr lang="zh-CN" altLang="en-US"/>
              <a:t>简单来说，原始数据</a:t>
            </a:r>
            <a:r>
              <a:rPr lang="zh-CN" altLang="en-US"/>
              <a:t>就是</a:t>
            </a:r>
            <a:r>
              <a:rPr lang="zh-CN" altLang="en-US"/>
              <a:t>一堆坐标点的结构</a:t>
            </a:r>
            <a:endParaRPr lang="zh-CN" altLang="en-US"/>
          </a:p>
        </p:txBody>
      </p:sp>
      <p:sp>
        <p:nvSpPr>
          <p:cNvPr id="36" name="文本框 35"/>
          <p:cNvSpPr txBox="1"/>
          <p:nvPr/>
        </p:nvSpPr>
        <p:spPr>
          <a:xfrm>
            <a:off x="6252210" y="4946650"/>
            <a:ext cx="4895850" cy="1198880"/>
          </a:xfrm>
          <a:prstGeom prst="rect">
            <a:avLst/>
          </a:prstGeom>
          <a:noFill/>
        </p:spPr>
        <p:txBody>
          <a:bodyPr wrap="square" rtlCol="0">
            <a:spAutoFit/>
          </a:bodyPr>
          <a:p>
            <a:r>
              <a:rPr lang="en-US" altLang="zh-CN"/>
              <a:t> </a:t>
            </a:r>
            <a:r>
              <a:rPr lang="zh-CN" altLang="en-US"/>
              <a:t>在具体的代码中体现为：</a:t>
            </a:r>
            <a:r>
              <a:rPr lang="en-US" altLang="zh-CN"/>
              <a:t>render_strokes() </a:t>
            </a:r>
            <a:r>
              <a:rPr lang="zh-CN" altLang="en-US"/>
              <a:t>函数</a:t>
            </a:r>
            <a:r>
              <a:rPr lang="en-US" altLang="zh-CN"/>
              <a:t>——</a:t>
            </a:r>
            <a:r>
              <a:rPr lang="zh-CN" altLang="en-US"/>
              <a:t>它负责把</a:t>
            </a:r>
            <a:r>
              <a:rPr lang="en-US" altLang="zh-CN"/>
              <a:t>"</a:t>
            </a:r>
            <a:r>
              <a:rPr lang="zh-CN" altLang="en-US"/>
              <a:t>点数据</a:t>
            </a:r>
            <a:r>
              <a:rPr lang="en-US" altLang="zh-CN"/>
              <a:t>"</a:t>
            </a:r>
            <a:r>
              <a:rPr lang="zh-CN" altLang="en-US"/>
              <a:t>变成</a:t>
            </a:r>
            <a:r>
              <a:rPr lang="en-US" altLang="zh-CN"/>
              <a:t>"</a:t>
            </a:r>
            <a:r>
              <a:rPr lang="zh-CN" altLang="en-US"/>
              <a:t>图像数据</a:t>
            </a:r>
            <a:r>
              <a:rPr lang="en-US" altLang="zh-CN"/>
              <a:t>"</a:t>
            </a:r>
            <a:r>
              <a:rPr lang="zh-CN" altLang="en-US"/>
              <a:t>。没有这步，所有后续的</a:t>
            </a:r>
            <a:r>
              <a:rPr lang="en-US" altLang="zh-CN"/>
              <a:t> HOG </a:t>
            </a:r>
            <a:r>
              <a:rPr lang="zh-CN" altLang="en-US"/>
              <a:t>特征提取、</a:t>
            </a:r>
            <a:r>
              <a:rPr lang="en-US" altLang="zh-CN"/>
              <a:t>ViT</a:t>
            </a:r>
            <a:r>
              <a:rPr lang="zh-CN" altLang="en-US"/>
              <a:t>编码器处理都无从谈起。</a:t>
            </a:r>
            <a:endParaRPr lang="zh-CN" altLang="en-US"/>
          </a:p>
        </p:txBody>
      </p:sp>
      <p:graphicFrame>
        <p:nvGraphicFramePr>
          <p:cNvPr id="38" name="表格 37"/>
          <p:cNvGraphicFramePr/>
          <p:nvPr/>
        </p:nvGraphicFramePr>
        <p:xfrm>
          <a:off x="762000" y="4488180"/>
          <a:ext cx="5082540" cy="2016760"/>
        </p:xfrm>
        <a:graphic>
          <a:graphicData uri="http://schemas.openxmlformats.org/drawingml/2006/table">
            <a:tbl>
              <a:tblPr/>
              <a:tblGrid>
                <a:gridCol w="1694180"/>
                <a:gridCol w="1694180"/>
                <a:gridCol w="1694180"/>
              </a:tblGrid>
              <a:tr h="269240">
                <a:tc>
                  <a:txBody>
                    <a:bodyPr/>
                    <a:p>
                      <a:pPr algn="l"/>
                      <a:r>
                        <a:rPr lang="zh-CN" altLang="en-US" sz="1100">
                          <a:solidFill>
                            <a:schemeClr val="bg1"/>
                          </a:solidFill>
                        </a:rPr>
                        <a:t>元素</a:t>
                      </a:r>
                      <a:endParaRPr lang="zh-CN" altLang="en-US" sz="1100">
                        <a:solidFill>
                          <a:schemeClr val="bg1"/>
                        </a:solidFill>
                      </a:endParaRPr>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solidFill>
                            <a:schemeClr val="bg1"/>
                          </a:solidFill>
                        </a:rPr>
                        <a:t>作用</a:t>
                      </a:r>
                      <a:endParaRPr lang="zh-CN" altLang="en-US" sz="1100">
                        <a:solidFill>
                          <a:schemeClr val="bg1"/>
                        </a:solidFill>
                      </a:endParaRPr>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solidFill>
                            <a:schemeClr val="bg1"/>
                          </a:solidFill>
                        </a:rPr>
                        <a:t>说明</a:t>
                      </a:r>
                      <a:endParaRPr lang="zh-CN" altLang="en-US" sz="1100">
                        <a:solidFill>
                          <a:schemeClr val="bg1"/>
                        </a:solidFill>
                      </a:endParaRPr>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436880">
                <a:tc>
                  <a:txBody>
                    <a:bodyPr/>
                    <a:p>
                      <a:pPr algn="l"/>
                      <a:r>
                        <a:rPr lang="en-US" altLang="zh-CN" sz="1100">
                          <a:solidFill>
                            <a:schemeClr val="bg1"/>
                          </a:solidFill>
                        </a:rPr>
                        <a:t>&lt;trace&gt;</a:t>
                      </a:r>
                      <a:endParaRPr lang="en-US" altLang="zh-CN" sz="1100">
                        <a:solidFill>
                          <a:schemeClr val="bg1"/>
                        </a:solidFill>
                      </a:endParaRPr>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solidFill>
                            <a:schemeClr val="bg1"/>
                          </a:solidFill>
                        </a:rPr>
                        <a:t>记录一笔笔画</a:t>
                      </a:r>
                      <a:endParaRPr lang="zh-CN" altLang="en-US" sz="1100">
                        <a:solidFill>
                          <a:schemeClr val="bg1"/>
                        </a:solidFill>
                      </a:endParaRPr>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solidFill>
                            <a:schemeClr val="bg1"/>
                          </a:solidFill>
                        </a:rPr>
                        <a:t>内容为逗号分隔的 </a:t>
                      </a:r>
                      <a:r>
                        <a:rPr lang="en-US" altLang="zh-CN" sz="1100">
                          <a:solidFill>
                            <a:schemeClr val="bg1"/>
                          </a:solidFill>
                        </a:rPr>
                        <a:t>(x,y) </a:t>
                      </a:r>
                      <a:r>
                        <a:rPr lang="zh-CN" altLang="en-US" sz="1100">
                          <a:solidFill>
                            <a:schemeClr val="bg1"/>
                          </a:solidFill>
                        </a:rPr>
                        <a:t>坐标点序列</a:t>
                      </a:r>
                      <a:endParaRPr lang="zh-CN" altLang="en-US" sz="1100">
                        <a:solidFill>
                          <a:schemeClr val="bg1"/>
                        </a:solidFill>
                      </a:endParaRPr>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436880">
                <a:tc>
                  <a:txBody>
                    <a:bodyPr/>
                    <a:p>
                      <a:pPr algn="l"/>
                      <a:r>
                        <a:rPr lang="en-US" altLang="zh-CN" sz="1100">
                          <a:solidFill>
                            <a:schemeClr val="bg1"/>
                          </a:solidFill>
                        </a:rPr>
                        <a:t>&lt;annotation type="truth"&gt;</a:t>
                      </a:r>
                      <a:endParaRPr lang="en-US" altLang="zh-CN" sz="1100">
                        <a:solidFill>
                          <a:schemeClr val="bg1"/>
                        </a:solidFill>
                      </a:endParaRPr>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en-US" altLang="zh-CN" sz="1100">
                          <a:solidFill>
                            <a:schemeClr val="bg1"/>
                          </a:solidFill>
                        </a:rPr>
                        <a:t>LaTeX </a:t>
                      </a:r>
                      <a:r>
                        <a:rPr lang="zh-CN" altLang="en-US" sz="1100">
                          <a:solidFill>
                            <a:schemeClr val="bg1"/>
                          </a:solidFill>
                        </a:rPr>
                        <a:t>真值</a:t>
                      </a:r>
                      <a:endParaRPr lang="zh-CN" altLang="en-US" sz="1100">
                        <a:solidFill>
                          <a:schemeClr val="bg1"/>
                        </a:solidFill>
                      </a:endParaRPr>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solidFill>
                            <a:schemeClr val="bg1"/>
                          </a:solidFill>
                        </a:rPr>
                        <a:t>标注该公式对应的标准 </a:t>
                      </a:r>
                      <a:r>
                        <a:rPr lang="en-US" altLang="zh-CN" sz="1100">
                          <a:solidFill>
                            <a:schemeClr val="bg1"/>
                          </a:solidFill>
                        </a:rPr>
                        <a:t>LaTeX </a:t>
                      </a:r>
                      <a:r>
                        <a:rPr lang="zh-CN" altLang="en-US" sz="1100">
                          <a:solidFill>
                            <a:schemeClr val="bg1"/>
                          </a:solidFill>
                        </a:rPr>
                        <a:t>代码</a:t>
                      </a:r>
                      <a:endParaRPr lang="zh-CN" altLang="en-US" sz="1100">
                        <a:solidFill>
                          <a:schemeClr val="bg1"/>
                        </a:solidFill>
                      </a:endParaRPr>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436880">
                <a:tc>
                  <a:txBody>
                    <a:bodyPr/>
                    <a:p>
                      <a:pPr algn="l"/>
                      <a:r>
                        <a:rPr lang="en-US" altLang="zh-CN" sz="1100">
                          <a:solidFill>
                            <a:schemeClr val="bg1"/>
                          </a:solidFill>
                        </a:rPr>
                        <a:t>&lt;annotation type="UI"&gt;</a:t>
                      </a:r>
                      <a:endParaRPr lang="en-US" altLang="zh-CN" sz="1100">
                        <a:solidFill>
                          <a:schemeClr val="bg1"/>
                        </a:solidFill>
                      </a:endParaRPr>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solidFill>
                            <a:schemeClr val="bg1"/>
                          </a:solidFill>
                        </a:rPr>
                        <a:t>源文档标识</a:t>
                      </a:r>
                      <a:endParaRPr lang="zh-CN" altLang="en-US" sz="1100">
                        <a:solidFill>
                          <a:schemeClr val="bg1"/>
                        </a:solidFill>
                      </a:endParaRPr>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solidFill>
                            <a:schemeClr val="bg1"/>
                          </a:solidFill>
                        </a:rPr>
                        <a:t>标注该公式来自哪个原始文档</a:t>
                      </a:r>
                      <a:endParaRPr lang="zh-CN" altLang="en-US" sz="1100">
                        <a:solidFill>
                          <a:schemeClr val="bg1"/>
                        </a:solidFill>
                      </a:endParaRPr>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436880">
                <a:tc>
                  <a:txBody>
                    <a:bodyPr/>
                    <a:p>
                      <a:pPr algn="l"/>
                      <a:r>
                        <a:rPr lang="en-US" altLang="zh-CN" sz="1100">
                          <a:solidFill>
                            <a:schemeClr val="bg1"/>
                          </a:solidFill>
                        </a:rPr>
                        <a:t>&lt;brush&gt;</a:t>
                      </a:r>
                      <a:endParaRPr lang="en-US" altLang="zh-CN" sz="1100">
                        <a:solidFill>
                          <a:schemeClr val="bg1"/>
                        </a:solidFill>
                      </a:endParaRPr>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solidFill>
                            <a:schemeClr val="bg1"/>
                          </a:solidFill>
                        </a:rPr>
                        <a:t>画笔设置</a:t>
                      </a:r>
                      <a:endParaRPr lang="zh-CN" altLang="en-US" sz="1100">
                        <a:solidFill>
                          <a:schemeClr val="bg1"/>
                        </a:solidFill>
                      </a:endParaRPr>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solidFill>
                            <a:schemeClr val="bg1"/>
                          </a:solidFill>
                        </a:rPr>
                        <a:t>记录笔触宽度、颜色等参数（部分文件有）</a:t>
                      </a:r>
                      <a:endParaRPr lang="zh-CN" altLang="en-US" sz="1100">
                        <a:solidFill>
                          <a:schemeClr val="bg1"/>
                        </a:solidFill>
                      </a:endParaRPr>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47625"/>
          </a:xfrm>
          <a:prstGeom prst="rect">
            <a:avLst/>
          </a:prstGeom>
          <a:solidFill>
            <a:srgbClr val="3182CE"/>
          </a:solidFill>
          <a:ln>
            <a:noFill/>
          </a:ln>
        </p:spPr>
      </p:sp>
      <p:sp>
        <p:nvSpPr>
          <p:cNvPr id="4" name="Rectangle 4"/>
          <p:cNvSpPr/>
          <p:nvPr/>
        </p:nvSpPr>
        <p:spPr>
          <a:xfrm>
            <a:off x="762000" y="476250"/>
            <a:ext cx="571500" cy="285750"/>
          </a:xfrm>
          <a:prstGeom prst="roundRect">
            <a:avLst>
              <a:gd name="adj" fmla="val 13333"/>
            </a:avLst>
          </a:prstGeom>
          <a:solidFill>
            <a:srgbClr val="3182CE"/>
          </a:solidFill>
          <a:ln>
            <a:noFill/>
          </a:ln>
        </p:spPr>
      </p:sp>
      <p:sp>
        <p:nvSpPr>
          <p:cNvPr id="5" name="TextBox 5"/>
          <p:cNvSpPr txBox="1"/>
          <p:nvPr/>
        </p:nvSpPr>
        <p:spPr>
          <a:xfrm>
            <a:off x="898850" y="561499"/>
            <a:ext cx="29779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panose="020B0502040204020203"/>
                <a:ea typeface="微软雅黑" panose="020B0503020204020204" charset="-122"/>
                <a:cs typeface="Segoe UI" panose="020B0502040204020203"/>
              </a:rPr>
              <a:t>数据</a:t>
            </a:r>
            <a:endParaRPr lang="zh-CN" sz="975" b="1" dirty="0">
              <a:solidFill>
                <a:srgbClr val="FFFFFF"/>
              </a:solidFill>
              <a:latin typeface="Segoe UI" panose="020B0502040204020203"/>
              <a:ea typeface="微软雅黑" panose="020B0503020204020204" charset="-122"/>
              <a:cs typeface="Segoe UI" panose="020B0502040204020203"/>
            </a:endParaRPr>
          </a:p>
        </p:txBody>
      </p:sp>
      <p:sp>
        <p:nvSpPr>
          <p:cNvPr id="6" name="TextBox 6"/>
          <p:cNvSpPr txBox="1"/>
          <p:nvPr/>
        </p:nvSpPr>
        <p:spPr>
          <a:xfrm>
            <a:off x="1457325" y="504825"/>
            <a:ext cx="3009971" cy="304800"/>
          </a:xfrm>
          <a:prstGeom prst="rect">
            <a:avLst/>
          </a:prstGeom>
          <a:noFill/>
          <a:ln>
            <a:noFill/>
          </a:ln>
        </p:spPr>
        <p:txBody>
          <a:bodyPr wrap="none" lIns="0" tIns="0" rIns="0" bIns="0" anchor="t" anchorCtr="0">
            <a:spAutoFit/>
          </a:bodyPr>
          <a:lstStyle/>
          <a:p>
            <a:pPr algn="l"/>
            <a:r>
              <a:rPr lang="zh-CN" sz="1500" b="1" dirty="0">
                <a:solidFill>
                  <a:srgbClr val="2D3748"/>
                </a:solidFill>
                <a:latin typeface="Segoe UI" panose="020B0502040204020203"/>
                <a:ea typeface="微软雅黑" panose="020B0503020204020204" charset="-122"/>
                <a:cs typeface="Segoe UI" panose="020B0502040204020203"/>
              </a:rPr>
              <a:t>数据准备 — 两种预处理路线对比</a:t>
            </a:r>
            <a:endParaRPr lang="zh-CN" sz="1500" b="1" dirty="0">
              <a:solidFill>
                <a:srgbClr val="2D3748"/>
              </a:solidFill>
              <a:latin typeface="Segoe UI" panose="020B0502040204020203"/>
              <a:ea typeface="微软雅黑" panose="020B0503020204020204" charset="-122"/>
              <a:cs typeface="Segoe UI" panose="020B0502040204020203"/>
            </a:endParaRPr>
          </a:p>
        </p:txBody>
      </p:sp>
      <p:sp>
        <p:nvSpPr>
          <p:cNvPr id="7" name="Line 7"/>
          <p:cNvSpPr/>
          <p:nvPr/>
        </p:nvSpPr>
        <p:spPr>
          <a:xfrm>
            <a:off x="762000" y="904875"/>
            <a:ext cx="10668000" cy="9525"/>
          </a:xfrm>
          <a:custGeom>
            <a:avLst/>
            <a:gdLst/>
            <a:ahLst/>
            <a:cxnLst/>
            <a:rect l="l" t="t" r="r" b="b"/>
            <a:pathLst>
              <a:path w="10668000" h="9525">
                <a:moveTo>
                  <a:pt x="0" y="0"/>
                </a:moveTo>
                <a:lnTo>
                  <a:pt x="10668000" y="0"/>
                </a:lnTo>
              </a:path>
            </a:pathLst>
          </a:custGeom>
          <a:noFill/>
          <a:ln w="9525">
            <a:solidFill>
              <a:srgbClr val="E2E8F0"/>
            </a:solidFill>
          </a:ln>
        </p:spPr>
      </p:sp>
      <p:sp>
        <p:nvSpPr>
          <p:cNvPr id="8" name="Rectangle 8"/>
          <p:cNvSpPr/>
          <p:nvPr/>
        </p:nvSpPr>
        <p:spPr>
          <a:xfrm>
            <a:off x="762000" y="1143000"/>
            <a:ext cx="5143500" cy="1905000"/>
          </a:xfrm>
          <a:prstGeom prst="roundRect">
            <a:avLst>
              <a:gd name="adj" fmla="val 3000"/>
            </a:avLst>
          </a:prstGeom>
          <a:solidFill>
            <a:srgbClr val="EBF8FF"/>
          </a:solidFill>
          <a:ln>
            <a:noFill/>
          </a:ln>
        </p:spPr>
      </p:sp>
      <p:sp>
        <p:nvSpPr>
          <p:cNvPr id="9" name="Rectangle 9"/>
          <p:cNvSpPr/>
          <p:nvPr/>
        </p:nvSpPr>
        <p:spPr>
          <a:xfrm>
            <a:off x="762000" y="1143000"/>
            <a:ext cx="5143500" cy="342900"/>
          </a:xfrm>
          <a:prstGeom prst="roundRect">
            <a:avLst>
              <a:gd name="adj" fmla="val 16667"/>
            </a:avLst>
          </a:prstGeom>
          <a:solidFill>
            <a:srgbClr val="3182CE"/>
          </a:solidFill>
          <a:ln>
            <a:noFill/>
          </a:ln>
        </p:spPr>
      </p:sp>
      <p:sp>
        <p:nvSpPr>
          <p:cNvPr id="10" name="Rectangle 10"/>
          <p:cNvSpPr/>
          <p:nvPr/>
        </p:nvSpPr>
        <p:spPr>
          <a:xfrm>
            <a:off x="762000" y="1409700"/>
            <a:ext cx="5143500" cy="76200"/>
          </a:xfrm>
          <a:prstGeom prst="rect">
            <a:avLst/>
          </a:prstGeom>
          <a:solidFill>
            <a:srgbClr val="3182CE"/>
          </a:solidFill>
          <a:ln>
            <a:noFill/>
          </a:ln>
        </p:spPr>
      </p:sp>
      <p:sp>
        <p:nvSpPr>
          <p:cNvPr id="11" name="TextBox 11"/>
          <p:cNvSpPr txBox="1"/>
          <p:nvPr/>
        </p:nvSpPr>
        <p:spPr>
          <a:xfrm>
            <a:off x="2846903" y="1250156"/>
            <a:ext cx="97369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panose="020B0502040204020203"/>
                <a:ea typeface="微软雅黑" panose="020B0503020204020204" charset="-122"/>
                <a:cs typeface="Segoe UI" panose="020B0502040204020203"/>
              </a:rPr>
              <a:t>传统机器学习</a:t>
            </a:r>
            <a:endParaRPr lang="zh-CN" sz="1125" b="1" dirty="0">
              <a:solidFill>
                <a:srgbClr val="FFFFFF"/>
              </a:solidFill>
              <a:latin typeface="Segoe UI" panose="020B0502040204020203"/>
              <a:ea typeface="微软雅黑" panose="020B0503020204020204" charset="-122"/>
              <a:cs typeface="Segoe UI" panose="020B0502040204020203"/>
            </a:endParaRPr>
          </a:p>
        </p:txBody>
      </p:sp>
      <p:grpSp>
        <p:nvGrpSpPr>
          <p:cNvPr id="17" name="Group 17"/>
          <p:cNvGrpSpPr/>
          <p:nvPr/>
        </p:nvGrpSpPr>
        <p:grpSpPr>
          <a:xfrm>
            <a:off x="1034415" y="1601152"/>
            <a:ext cx="2497979" cy="1213486"/>
            <a:chOff x="1034415" y="1601152"/>
            <a:chExt cx="2497979" cy="1213486"/>
          </a:xfrm>
        </p:grpSpPr>
        <p:sp>
          <p:nvSpPr>
            <p:cNvPr id="12" name="TextBox 12"/>
            <p:cNvSpPr txBox="1"/>
            <p:nvPr/>
          </p:nvSpPr>
          <p:spPr>
            <a:xfrm>
              <a:off x="1034415" y="1601152"/>
              <a:ext cx="1517856"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图像尺寸：48 × 48 像素</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034415" y="1839278"/>
              <a:ext cx="957786"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笔画宽度：2px</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034415" y="2077402"/>
              <a:ext cx="2357961"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数据增强：旋转/缩放/平移/弹性形变</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1034415" y="2315528"/>
              <a:ext cx="2497979"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增强策略：按类别平衡（每类≥60样本）</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1034415" y="2601278"/>
              <a:ext cx="1909905"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目标：压缩维度适配 HOG 特征</a:t>
              </a:r>
              <a:endParaRPr lang="zh-CN" sz="1050" dirty="0">
                <a:solidFill>
                  <a:srgbClr val="2D3748"/>
                </a:solidFill>
                <a:latin typeface="Segoe UI" panose="020B0502040204020203"/>
                <a:ea typeface="微软雅黑" panose="020B0503020204020204" charset="-122"/>
                <a:cs typeface="Segoe UI" panose="020B0502040204020203"/>
              </a:endParaRPr>
            </a:p>
          </p:txBody>
        </p:sp>
      </p:grpSp>
      <p:sp>
        <p:nvSpPr>
          <p:cNvPr id="18" name="Rectangle 18"/>
          <p:cNvSpPr/>
          <p:nvPr/>
        </p:nvSpPr>
        <p:spPr>
          <a:xfrm>
            <a:off x="6286500" y="1143000"/>
            <a:ext cx="5143500" cy="1905000"/>
          </a:xfrm>
          <a:prstGeom prst="roundRect">
            <a:avLst>
              <a:gd name="adj" fmla="val 3000"/>
            </a:avLst>
          </a:prstGeom>
          <a:solidFill>
            <a:srgbClr val="FFF5F5"/>
          </a:solidFill>
          <a:ln>
            <a:noFill/>
          </a:ln>
        </p:spPr>
      </p:sp>
      <p:sp>
        <p:nvSpPr>
          <p:cNvPr id="19" name="Rectangle 19"/>
          <p:cNvSpPr/>
          <p:nvPr/>
        </p:nvSpPr>
        <p:spPr>
          <a:xfrm>
            <a:off x="6286500" y="1143000"/>
            <a:ext cx="5143500" cy="342900"/>
          </a:xfrm>
          <a:prstGeom prst="roundRect">
            <a:avLst>
              <a:gd name="adj" fmla="val 16667"/>
            </a:avLst>
          </a:prstGeom>
          <a:solidFill>
            <a:srgbClr val="E53E3E"/>
          </a:solidFill>
          <a:ln>
            <a:noFill/>
          </a:ln>
        </p:spPr>
      </p:sp>
      <p:sp>
        <p:nvSpPr>
          <p:cNvPr id="20" name="Rectangle 20"/>
          <p:cNvSpPr/>
          <p:nvPr/>
        </p:nvSpPr>
        <p:spPr>
          <a:xfrm>
            <a:off x="6286500" y="1409700"/>
            <a:ext cx="5143500" cy="76200"/>
          </a:xfrm>
          <a:prstGeom prst="rect">
            <a:avLst/>
          </a:prstGeom>
          <a:solidFill>
            <a:srgbClr val="E53E3E"/>
          </a:solidFill>
          <a:ln>
            <a:noFill/>
          </a:ln>
        </p:spPr>
      </p:sp>
      <p:sp>
        <p:nvSpPr>
          <p:cNvPr id="21" name="TextBox 21"/>
          <p:cNvSpPr txBox="1"/>
          <p:nvPr/>
        </p:nvSpPr>
        <p:spPr>
          <a:xfrm>
            <a:off x="8371403" y="1250156"/>
            <a:ext cx="97369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panose="020B0502040204020203"/>
                <a:ea typeface="微软雅黑" panose="020B0503020204020204" charset="-122"/>
                <a:cs typeface="Segoe UI" panose="020B0502040204020203"/>
              </a:rPr>
              <a:t>多模态大模型</a:t>
            </a:r>
            <a:endParaRPr lang="zh-CN" sz="1125" b="1" dirty="0">
              <a:solidFill>
                <a:srgbClr val="FFFFFF"/>
              </a:solidFill>
              <a:latin typeface="Segoe UI" panose="020B0502040204020203"/>
              <a:ea typeface="微软雅黑" panose="020B0503020204020204" charset="-122"/>
              <a:cs typeface="Segoe UI" panose="020B0502040204020203"/>
            </a:endParaRPr>
          </a:p>
        </p:txBody>
      </p:sp>
      <p:grpSp>
        <p:nvGrpSpPr>
          <p:cNvPr id="27" name="Group 27"/>
          <p:cNvGrpSpPr/>
          <p:nvPr/>
        </p:nvGrpSpPr>
        <p:grpSpPr>
          <a:xfrm>
            <a:off x="6558915" y="1601152"/>
            <a:ext cx="2581989" cy="1213486"/>
            <a:chOff x="6558915" y="1601152"/>
            <a:chExt cx="2581989" cy="1213486"/>
          </a:xfrm>
        </p:grpSpPr>
        <p:sp>
          <p:nvSpPr>
            <p:cNvPr id="22" name="TextBox 22"/>
            <p:cNvSpPr txBox="1"/>
            <p:nvPr/>
          </p:nvSpPr>
          <p:spPr>
            <a:xfrm>
              <a:off x="6558915" y="1601152"/>
              <a:ext cx="2504980"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图像尺寸：448 × 448 像素（面积 87×）</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6558915" y="1839278"/>
              <a:ext cx="957786"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笔画宽度：4px</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6558915" y="2077402"/>
              <a:ext cx="2581989"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数据增强：无（TrOCR 自带 ViT 预处理）</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6558915" y="2315528"/>
              <a:ext cx="2259949"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训练数据：700 原始样本（不增强）</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6558915" y="2601278"/>
              <a:ext cx="1986915"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目标：保留细节适配 ViT 编码器</a:t>
              </a:r>
              <a:endParaRPr lang="zh-CN" sz="1050" dirty="0">
                <a:solidFill>
                  <a:srgbClr val="2D3748"/>
                </a:solidFill>
                <a:latin typeface="Segoe UI" panose="020B0502040204020203"/>
                <a:ea typeface="微软雅黑" panose="020B0503020204020204" charset="-122"/>
                <a:cs typeface="Segoe UI" panose="020B0502040204020203"/>
              </a:endParaRPr>
            </a:p>
          </p:txBody>
        </p:sp>
      </p:grpSp>
      <p:sp>
        <p:nvSpPr>
          <p:cNvPr id="28" name="Rectangle 28"/>
          <p:cNvSpPr/>
          <p:nvPr/>
        </p:nvSpPr>
        <p:spPr>
          <a:xfrm>
            <a:off x="762000" y="3286125"/>
            <a:ext cx="5143500" cy="571500"/>
          </a:xfrm>
          <a:prstGeom prst="roundRect">
            <a:avLst>
              <a:gd name="adj" fmla="val 10000"/>
            </a:avLst>
          </a:prstGeom>
          <a:noFill/>
          <a:ln w="9525">
            <a:solidFill>
              <a:srgbClr val="3182CE"/>
            </a:solidFill>
          </a:ln>
        </p:spPr>
      </p:sp>
      <p:sp>
        <p:nvSpPr>
          <p:cNvPr id="29" name="TextBox 29"/>
          <p:cNvSpPr txBox="1"/>
          <p:nvPr/>
        </p:nvSpPr>
        <p:spPr>
          <a:xfrm>
            <a:off x="1949371" y="3418999"/>
            <a:ext cx="2768758" cy="198120"/>
          </a:xfrm>
          <a:prstGeom prst="rect">
            <a:avLst/>
          </a:prstGeom>
          <a:noFill/>
          <a:ln>
            <a:noFill/>
          </a:ln>
        </p:spPr>
        <p:txBody>
          <a:bodyPr wrap="none" lIns="0" tIns="0" rIns="0" bIns="0" anchor="t" anchorCtr="0">
            <a:spAutoFit/>
          </a:bodyPr>
          <a:lstStyle/>
          <a:p>
            <a:pPr algn="ctr"/>
            <a:r>
              <a:rPr lang="zh-CN" sz="975" b="1" dirty="0">
                <a:solidFill>
                  <a:srgbClr val="3182CE"/>
                </a:solidFill>
                <a:latin typeface="Segoe UI" panose="020B0502040204020203"/>
                <a:ea typeface="微软雅黑" panose="020B0503020204020204" charset="-122"/>
                <a:cs typeface="Segoe UI" panose="020B0502040204020203"/>
              </a:rPr>
              <a:t>训练数据：7,874 样本（22K→Top-30→增强）</a:t>
            </a:r>
            <a:endParaRPr lang="zh-CN" sz="975" b="1" dirty="0">
              <a:solidFill>
                <a:srgbClr val="3182CE"/>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2271486" y="3609499"/>
            <a:ext cx="2124527" cy="198120"/>
          </a:xfrm>
          <a:prstGeom prst="rect">
            <a:avLst/>
          </a:prstGeom>
          <a:noFill/>
          <a:ln>
            <a:noFill/>
          </a:ln>
        </p:spPr>
        <p:txBody>
          <a:bodyPr wrap="none" lIns="0" tIns="0" rIns="0" bIns="0" anchor="t" anchorCtr="0">
            <a:spAutoFit/>
          </a:bodyPr>
          <a:lstStyle/>
          <a:p>
            <a:pPr algn="ctr"/>
            <a:r>
              <a:rPr lang="zh-CN" sz="975" dirty="0">
                <a:solidFill>
                  <a:srgbClr val="3182CE"/>
                </a:solidFill>
                <a:latin typeface="Segoe UI" panose="020B0502040204020203"/>
                <a:ea typeface="微软雅黑" panose="020B0503020204020204" charset="-122"/>
                <a:cs typeface="Segoe UI" panose="020B0502040204020203"/>
              </a:rPr>
              <a:t>HOG 特征维度：900 维 → PCA 303 维</a:t>
            </a:r>
            <a:endParaRPr lang="zh-CN" sz="975" dirty="0">
              <a:solidFill>
                <a:srgbClr val="3182CE"/>
              </a:solidFill>
              <a:latin typeface="Segoe UI" panose="020B0502040204020203"/>
              <a:ea typeface="微软雅黑" panose="020B0503020204020204" charset="-122"/>
              <a:cs typeface="Segoe UI" panose="020B0502040204020203"/>
            </a:endParaRPr>
          </a:p>
        </p:txBody>
      </p:sp>
      <p:sp>
        <p:nvSpPr>
          <p:cNvPr id="31" name="Rectangle 31"/>
          <p:cNvSpPr/>
          <p:nvPr/>
        </p:nvSpPr>
        <p:spPr>
          <a:xfrm>
            <a:off x="6286500" y="3286125"/>
            <a:ext cx="5143500" cy="571500"/>
          </a:xfrm>
          <a:prstGeom prst="roundRect">
            <a:avLst>
              <a:gd name="adj" fmla="val 10000"/>
            </a:avLst>
          </a:prstGeom>
          <a:noFill/>
          <a:ln w="9525">
            <a:solidFill>
              <a:srgbClr val="E53E3E"/>
            </a:solidFill>
          </a:ln>
        </p:spPr>
      </p:sp>
      <p:sp>
        <p:nvSpPr>
          <p:cNvPr id="32" name="TextBox 32"/>
          <p:cNvSpPr txBox="1"/>
          <p:nvPr/>
        </p:nvSpPr>
        <p:spPr>
          <a:xfrm>
            <a:off x="7402200" y="3418999"/>
            <a:ext cx="2912101" cy="198120"/>
          </a:xfrm>
          <a:prstGeom prst="rect">
            <a:avLst/>
          </a:prstGeom>
          <a:noFill/>
          <a:ln>
            <a:noFill/>
          </a:ln>
        </p:spPr>
        <p:txBody>
          <a:bodyPr wrap="none" lIns="0" tIns="0" rIns="0" bIns="0" anchor="t" anchorCtr="0">
            <a:spAutoFit/>
          </a:bodyPr>
          <a:lstStyle/>
          <a:p>
            <a:pPr algn="ctr"/>
            <a:r>
              <a:rPr lang="zh-CN" sz="975" b="1" dirty="0">
                <a:solidFill>
                  <a:srgbClr val="E53E3E"/>
                </a:solidFill>
                <a:latin typeface="Segoe UI" panose="020B0502040204020203"/>
                <a:ea typeface="微软雅黑" panose="020B0503020204020204" charset="-122"/>
                <a:cs typeface="Segoe UI" panose="020B0502040204020203"/>
              </a:rPr>
              <a:t>训练数据：200-700 原始样本（全量公式类型）</a:t>
            </a:r>
            <a:endParaRPr lang="zh-CN" sz="975" b="1" dirty="0">
              <a:solidFill>
                <a:srgbClr val="E53E3E"/>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8065770" y="3609499"/>
            <a:ext cx="1584960"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高分辨率保留完整笔画细节</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11513820" y="6570345"/>
            <a:ext cx="154877" cy="182880"/>
          </a:xfrm>
          <a:prstGeom prst="rect">
            <a:avLst/>
          </a:prstGeom>
          <a:noFill/>
          <a:ln>
            <a:noFill/>
          </a:ln>
        </p:spPr>
        <p:txBody>
          <a:bodyPr wrap="none" lIns="0" tIns="0" rIns="0" bIns="0" anchor="t" anchorCtr="0">
            <a:spAutoFit/>
          </a:bodyPr>
          <a:lstStyle/>
          <a:p>
            <a:pPr algn="l"/>
            <a:r>
              <a:rPr lang="zh-CN" sz="900" dirty="0">
                <a:solidFill>
                  <a:srgbClr val="CBD5E0"/>
                </a:solidFill>
                <a:latin typeface="Consolas" panose="020B0609020204030204"/>
                <a:ea typeface="微软雅黑" panose="020B0503020204020204" charset="-122"/>
                <a:cs typeface="Consolas" panose="020B0609020204030204"/>
              </a:rPr>
              <a:t>06</a:t>
            </a:r>
            <a:endParaRPr lang="zh-CN" sz="900" dirty="0">
              <a:solidFill>
                <a:srgbClr val="CBD5E0"/>
              </a:solidFill>
              <a:latin typeface="Consolas" panose="020B0609020204030204"/>
              <a:ea typeface="微软雅黑" panose="020B0503020204020204" charset="-122"/>
              <a:cs typeface="Consolas" panose="020B0609020204030204"/>
            </a:endParaRPr>
          </a:p>
        </p:txBody>
      </p:sp>
      <p:sp>
        <p:nvSpPr>
          <p:cNvPr id="35" name="文本框 34"/>
          <p:cNvSpPr txBox="1"/>
          <p:nvPr/>
        </p:nvSpPr>
        <p:spPr>
          <a:xfrm>
            <a:off x="1038225" y="4448175"/>
            <a:ext cx="5057775" cy="368300"/>
          </a:xfrm>
          <a:prstGeom prst="rect">
            <a:avLst/>
          </a:prstGeom>
          <a:noFill/>
        </p:spPr>
        <p:txBody>
          <a:bodyPr wrap="square" rtlCol="0">
            <a:spAutoFit/>
          </a:bodyPr>
          <a:p>
            <a:r>
              <a:rPr lang="zh-CN" altLang="en-US"/>
              <a:t>再利用</a:t>
            </a:r>
            <a:r>
              <a:rPr lang="zh-CN" dirty="0">
                <a:solidFill>
                  <a:srgbClr val="4A5568"/>
                </a:solidFill>
                <a:latin typeface="Segoe UI" panose="020B0502040204020203"/>
                <a:ea typeface="微软雅黑" panose="020B0503020204020204" charset="-122"/>
                <a:cs typeface="Segoe UI" panose="020B0502040204020203"/>
                <a:sym typeface="+mn-ea"/>
              </a:rPr>
              <a:t> InkML 解析 </a:t>
            </a:r>
            <a:r>
              <a:rPr lang="zh-CN" altLang="en-US">
                <a:sym typeface="+mn-ea"/>
              </a:rPr>
              <a:t>得到的图像在经过特征增强</a:t>
            </a:r>
            <a:r>
              <a:rPr lang="en-US" altLang="zh-CN" dirty="0">
                <a:solidFill>
                  <a:srgbClr val="4A5568"/>
                </a:solidFill>
                <a:latin typeface="Segoe UI" panose="020B0502040204020203"/>
                <a:ea typeface="微软雅黑" panose="020B0503020204020204" charset="-122"/>
                <a:cs typeface="Segoe UI" panose="020B0502040204020203"/>
                <a:sym typeface="+mn-ea"/>
              </a:rPr>
              <a:t> </a:t>
            </a:r>
            <a:endParaRPr lang="en-US" altLang="zh-CN" dirty="0">
              <a:solidFill>
                <a:srgbClr val="4A5568"/>
              </a:solidFill>
              <a:latin typeface="Segoe UI" panose="020B0502040204020203"/>
              <a:ea typeface="微软雅黑" panose="020B0503020204020204" charset="-122"/>
              <a:cs typeface="Segoe UI" panose="020B0502040204020203"/>
              <a:sym typeface="+mn-ea"/>
            </a:endParaRPr>
          </a:p>
        </p:txBody>
      </p:sp>
      <p:pic>
        <p:nvPicPr>
          <p:cNvPr id="36" name="图片 35"/>
          <p:cNvPicPr>
            <a:picLocks noChangeAspect="1"/>
          </p:cNvPicPr>
          <p:nvPr/>
        </p:nvPicPr>
        <p:blipFill>
          <a:blip r:embed="rId1"/>
          <a:stretch>
            <a:fillRect/>
          </a:stretch>
        </p:blipFill>
        <p:spPr>
          <a:xfrm>
            <a:off x="6040755" y="3818890"/>
            <a:ext cx="9110980" cy="31311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a:endParaRPr lang="zh-CN" altLang="en-US"/>
          </a:p>
        </p:txBody>
      </p:sp>
      <p:sp>
        <p:nvSpPr>
          <p:cNvPr id="3" name="Rectangle 3"/>
          <p:cNvSpPr/>
          <p:nvPr/>
        </p:nvSpPr>
        <p:spPr>
          <a:xfrm>
            <a:off x="0" y="0"/>
            <a:ext cx="12192000" cy="47625"/>
          </a:xfrm>
          <a:prstGeom prst="rect">
            <a:avLst/>
          </a:prstGeom>
          <a:solidFill>
            <a:srgbClr val="3182CE"/>
          </a:solidFill>
          <a:ln>
            <a:noFill/>
          </a:ln>
        </p:spPr>
      </p:sp>
      <p:sp>
        <p:nvSpPr>
          <p:cNvPr id="4" name="Rectangle 4"/>
          <p:cNvSpPr/>
          <p:nvPr/>
        </p:nvSpPr>
        <p:spPr>
          <a:xfrm>
            <a:off x="762000" y="476250"/>
            <a:ext cx="571500" cy="285750"/>
          </a:xfrm>
          <a:prstGeom prst="roundRect">
            <a:avLst>
              <a:gd name="adj" fmla="val 13333"/>
            </a:avLst>
          </a:prstGeom>
          <a:solidFill>
            <a:srgbClr val="3182CE"/>
          </a:solidFill>
          <a:ln>
            <a:noFill/>
          </a:ln>
        </p:spPr>
      </p:sp>
      <p:sp>
        <p:nvSpPr>
          <p:cNvPr id="5" name="TextBox 5"/>
          <p:cNvSpPr txBox="1"/>
          <p:nvPr/>
        </p:nvSpPr>
        <p:spPr>
          <a:xfrm>
            <a:off x="898850" y="561499"/>
            <a:ext cx="29779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panose="020B0502040204020203"/>
                <a:ea typeface="微软雅黑" panose="020B0503020204020204" charset="-122"/>
                <a:cs typeface="Segoe UI" panose="020B0502040204020203"/>
              </a:rPr>
              <a:t>探索</a:t>
            </a:r>
            <a:endParaRPr lang="zh-CN" sz="975" b="1" dirty="0">
              <a:solidFill>
                <a:srgbClr val="FFFFFF"/>
              </a:solidFill>
              <a:latin typeface="Segoe UI" panose="020B0502040204020203"/>
              <a:ea typeface="微软雅黑" panose="020B0503020204020204" charset="-122"/>
              <a:cs typeface="Segoe UI" panose="020B0502040204020203"/>
            </a:endParaRPr>
          </a:p>
        </p:txBody>
      </p:sp>
      <p:sp>
        <p:nvSpPr>
          <p:cNvPr id="6" name="TextBox 6"/>
          <p:cNvSpPr txBox="1"/>
          <p:nvPr/>
        </p:nvSpPr>
        <p:spPr>
          <a:xfrm>
            <a:off x="1457325" y="504825"/>
            <a:ext cx="1718310" cy="304800"/>
          </a:xfrm>
          <a:prstGeom prst="rect">
            <a:avLst/>
          </a:prstGeom>
          <a:noFill/>
          <a:ln>
            <a:noFill/>
          </a:ln>
        </p:spPr>
        <p:txBody>
          <a:bodyPr wrap="none" lIns="0" tIns="0" rIns="0" bIns="0" anchor="t" anchorCtr="0">
            <a:spAutoFit/>
          </a:bodyPr>
          <a:lstStyle/>
          <a:p>
            <a:pPr algn="l"/>
            <a:r>
              <a:rPr lang="zh-CN" sz="1500" b="1" dirty="0">
                <a:solidFill>
                  <a:srgbClr val="2D3748"/>
                </a:solidFill>
                <a:latin typeface="Segoe UI" panose="020B0502040204020203"/>
                <a:ea typeface="微软雅黑" panose="020B0503020204020204" charset="-122"/>
                <a:cs typeface="Segoe UI" panose="020B0502040204020203"/>
              </a:rPr>
              <a:t>数据探索与可视化</a:t>
            </a:r>
            <a:endParaRPr lang="zh-CN" sz="1500" b="1" dirty="0">
              <a:solidFill>
                <a:srgbClr val="2D3748"/>
              </a:solidFill>
              <a:latin typeface="Segoe UI" panose="020B0502040204020203"/>
              <a:ea typeface="微软雅黑" panose="020B0503020204020204" charset="-122"/>
              <a:cs typeface="Segoe UI" panose="020B0502040204020203"/>
            </a:endParaRPr>
          </a:p>
        </p:txBody>
      </p:sp>
      <p:sp>
        <p:nvSpPr>
          <p:cNvPr id="7" name="Line 7"/>
          <p:cNvSpPr/>
          <p:nvPr/>
        </p:nvSpPr>
        <p:spPr>
          <a:xfrm>
            <a:off x="762000" y="904875"/>
            <a:ext cx="10668000" cy="9525"/>
          </a:xfrm>
          <a:custGeom>
            <a:avLst/>
            <a:gdLst/>
            <a:ahLst/>
            <a:cxnLst/>
            <a:rect l="l" t="t" r="r" b="b"/>
            <a:pathLst>
              <a:path w="10668000" h="9525">
                <a:moveTo>
                  <a:pt x="0" y="0"/>
                </a:moveTo>
                <a:lnTo>
                  <a:pt x="10668000" y="0"/>
                </a:lnTo>
              </a:path>
            </a:pathLst>
          </a:custGeom>
          <a:noFill/>
          <a:ln w="9525">
            <a:solidFill>
              <a:srgbClr val="E2E8F0"/>
            </a:solidFill>
          </a:ln>
        </p:spPr>
      </p:sp>
      <p:sp>
        <p:nvSpPr>
          <p:cNvPr id="8" name="TextBox 8"/>
          <p:cNvSpPr txBox="1"/>
          <p:nvPr/>
        </p:nvSpPr>
        <p:spPr>
          <a:xfrm>
            <a:off x="746760" y="1108710"/>
            <a:ext cx="1357846" cy="243840"/>
          </a:xfrm>
          <a:prstGeom prst="rect">
            <a:avLst/>
          </a:prstGeom>
          <a:noFill/>
          <a:ln>
            <a:noFill/>
          </a:ln>
        </p:spPr>
        <p:txBody>
          <a:bodyPr wrap="none" lIns="0" tIns="0" rIns="0" bIns="0" anchor="t" anchorCtr="0">
            <a:spAutoFit/>
          </a:bodyPr>
          <a:lstStyle/>
          <a:p>
            <a:pPr algn="l"/>
            <a:r>
              <a:rPr lang="zh-CN" sz="1200" b="1" dirty="0">
                <a:solidFill>
                  <a:srgbClr val="2D3748"/>
                </a:solidFill>
                <a:latin typeface="Segoe UI" panose="020B0502040204020203"/>
                <a:ea typeface="微软雅黑" panose="020B0503020204020204" charset="-122"/>
                <a:cs typeface="Segoe UI" panose="020B0502040204020203"/>
              </a:rPr>
              <a:t>传统 ML 数据探索</a:t>
            </a:r>
            <a:endParaRPr lang="zh-CN" sz="1200" b="1" dirty="0">
              <a:solidFill>
                <a:srgbClr val="2D3748"/>
              </a:solidFill>
              <a:latin typeface="Segoe UI" panose="020B0502040204020203"/>
              <a:ea typeface="微软雅黑" panose="020B0503020204020204" charset="-122"/>
              <a:cs typeface="Segoe UI" panose="020B0502040204020203"/>
            </a:endParaRPr>
          </a:p>
        </p:txBody>
      </p:sp>
      <p:sp>
        <p:nvSpPr>
          <p:cNvPr id="9" name="Rectangle 9"/>
          <p:cNvSpPr/>
          <p:nvPr/>
        </p:nvSpPr>
        <p:spPr>
          <a:xfrm>
            <a:off x="762000" y="1409700"/>
            <a:ext cx="3333750" cy="1524000"/>
          </a:xfrm>
          <a:prstGeom prst="roundRect">
            <a:avLst>
              <a:gd name="adj" fmla="val 3750"/>
            </a:avLst>
          </a:prstGeom>
          <a:solidFill>
            <a:srgbClr val="EBF8FF"/>
          </a:solidFill>
          <a:ln>
            <a:noFill/>
          </a:ln>
        </p:spPr>
      </p:sp>
      <p:sp>
        <p:nvSpPr>
          <p:cNvPr id="10" name="TextBox 10"/>
          <p:cNvSpPr txBox="1"/>
          <p:nvPr/>
        </p:nvSpPr>
        <p:spPr>
          <a:xfrm>
            <a:off x="1974485" y="1553528"/>
            <a:ext cx="908780" cy="213360"/>
          </a:xfrm>
          <a:prstGeom prst="rect">
            <a:avLst/>
          </a:prstGeom>
          <a:noFill/>
          <a:ln>
            <a:noFill/>
          </a:ln>
        </p:spPr>
        <p:txBody>
          <a:bodyPr wrap="none" lIns="0" tIns="0" rIns="0" bIns="0" anchor="t" anchorCtr="0">
            <a:spAutoFit/>
          </a:bodyPr>
          <a:lstStyle/>
          <a:p>
            <a:pPr algn="ctr"/>
            <a:r>
              <a:rPr lang="zh-CN" sz="1050" b="1" dirty="0">
                <a:solidFill>
                  <a:srgbClr val="3182CE"/>
                </a:solidFill>
                <a:latin typeface="Segoe UI" panose="020B0502040204020203"/>
                <a:ea typeface="微软雅黑" panose="020B0503020204020204" charset="-122"/>
                <a:cs typeface="Segoe UI" panose="020B0502040204020203"/>
              </a:rPr>
              <a:t>样本分布分析</a:t>
            </a:r>
            <a:endParaRPr lang="zh-CN" sz="1050" b="1" dirty="0">
              <a:solidFill>
                <a:srgbClr val="3182CE"/>
              </a:solidFill>
              <a:latin typeface="Segoe UI" panose="020B0502040204020203"/>
              <a:ea typeface="微软雅黑" panose="020B0503020204020204" charset="-122"/>
              <a:cs typeface="Segoe UI" panose="020B0502040204020203"/>
            </a:endParaRPr>
          </a:p>
        </p:txBody>
      </p:sp>
      <p:grpSp>
        <p:nvGrpSpPr>
          <p:cNvPr id="16" name="Group 16"/>
          <p:cNvGrpSpPr/>
          <p:nvPr/>
        </p:nvGrpSpPr>
        <p:grpSpPr>
          <a:xfrm>
            <a:off x="940118" y="1799749"/>
            <a:ext cx="1831991" cy="960120"/>
            <a:chOff x="940118" y="1799749"/>
            <a:chExt cx="1831991" cy="960120"/>
          </a:xfrm>
        </p:grpSpPr>
        <p:sp>
          <p:nvSpPr>
            <p:cNvPr id="11" name="TextBox 11"/>
            <p:cNvSpPr txBox="1"/>
            <p:nvPr/>
          </p:nvSpPr>
          <p:spPr>
            <a:xfrm>
              <a:off x="940118" y="1799749"/>
              <a:ext cx="1831991"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高频类 135 样本（如 x+y=z）</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940118" y="1990249"/>
              <a:ext cx="1175409"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低频类仅 1-5 样本</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940118" y="2180749"/>
              <a:ext cx="915376"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长尾效应显著</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940118" y="2371249"/>
              <a:ext cx="1688973"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Top-30 过滤后 3,937 样本</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940118" y="2561749"/>
              <a:ext cx="1220915"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增强至 7,874 样本</a:t>
              </a:r>
              <a:endParaRPr lang="zh-CN" sz="975" dirty="0">
                <a:solidFill>
                  <a:srgbClr val="4A5568"/>
                </a:solidFill>
                <a:latin typeface="Segoe UI" panose="020B0502040204020203"/>
                <a:ea typeface="微软雅黑" panose="020B0503020204020204" charset="-122"/>
                <a:cs typeface="Segoe UI" panose="020B0502040204020203"/>
              </a:endParaRPr>
            </a:p>
          </p:txBody>
        </p:sp>
      </p:grpSp>
      <p:sp>
        <p:nvSpPr>
          <p:cNvPr id="17" name="Rectangle 17"/>
          <p:cNvSpPr/>
          <p:nvPr/>
        </p:nvSpPr>
        <p:spPr>
          <a:xfrm>
            <a:off x="4381500" y="1409700"/>
            <a:ext cx="3333750" cy="1524000"/>
          </a:xfrm>
          <a:prstGeom prst="roundRect">
            <a:avLst>
              <a:gd name="adj" fmla="val 3750"/>
            </a:avLst>
          </a:prstGeom>
          <a:solidFill>
            <a:srgbClr val="EBF8FF"/>
          </a:solidFill>
          <a:ln>
            <a:noFill/>
          </a:ln>
        </p:spPr>
      </p:sp>
      <p:sp>
        <p:nvSpPr>
          <p:cNvPr id="18" name="TextBox 18"/>
          <p:cNvSpPr txBox="1"/>
          <p:nvPr/>
        </p:nvSpPr>
        <p:spPr>
          <a:xfrm>
            <a:off x="5667494" y="1553528"/>
            <a:ext cx="761762" cy="213360"/>
          </a:xfrm>
          <a:prstGeom prst="rect">
            <a:avLst/>
          </a:prstGeom>
          <a:noFill/>
          <a:ln>
            <a:noFill/>
          </a:ln>
        </p:spPr>
        <p:txBody>
          <a:bodyPr wrap="none" lIns="0" tIns="0" rIns="0" bIns="0" anchor="t" anchorCtr="0">
            <a:spAutoFit/>
          </a:bodyPr>
          <a:lstStyle/>
          <a:p>
            <a:pPr algn="ctr"/>
            <a:r>
              <a:rPr lang="zh-CN" sz="1050" b="1" dirty="0">
                <a:solidFill>
                  <a:srgbClr val="3182CE"/>
                </a:solidFill>
                <a:latin typeface="Segoe UI" panose="020B0502040204020203"/>
                <a:ea typeface="微软雅黑" panose="020B0503020204020204" charset="-122"/>
                <a:cs typeface="Segoe UI" panose="020B0502040204020203"/>
              </a:rPr>
              <a:t>特征可视化</a:t>
            </a:r>
            <a:endParaRPr lang="zh-CN" sz="1050" b="1" dirty="0">
              <a:solidFill>
                <a:srgbClr val="3182CE"/>
              </a:solidFill>
              <a:latin typeface="Segoe UI" panose="020B0502040204020203"/>
              <a:ea typeface="微软雅黑" panose="020B0503020204020204" charset="-122"/>
              <a:cs typeface="Segoe UI" panose="020B0502040204020203"/>
            </a:endParaRPr>
          </a:p>
        </p:txBody>
      </p:sp>
      <p:grpSp>
        <p:nvGrpSpPr>
          <p:cNvPr id="24" name="Group 24"/>
          <p:cNvGrpSpPr/>
          <p:nvPr/>
        </p:nvGrpSpPr>
        <p:grpSpPr>
          <a:xfrm>
            <a:off x="4559618" y="1799749"/>
            <a:ext cx="1799487" cy="960120"/>
            <a:chOff x="4559618" y="1799749"/>
            <a:chExt cx="1799487" cy="960120"/>
          </a:xfrm>
        </p:grpSpPr>
        <p:sp>
          <p:nvSpPr>
            <p:cNvPr id="19" name="TextBox 19"/>
            <p:cNvSpPr txBox="1"/>
            <p:nvPr/>
          </p:nvSpPr>
          <p:spPr>
            <a:xfrm>
              <a:off x="4559618" y="1799749"/>
              <a:ext cx="1324928"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HOG 梯度方向特征图</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4559618" y="1990249"/>
              <a:ext cx="1298924"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LBP 纹理模式直方图</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4559618" y="2180749"/>
              <a:ext cx="1799487"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PCA 方差曲线（95%→303维）</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4559618" y="2371249"/>
              <a:ext cx="1045393"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混淆矩阵热力图</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4559618" y="2561749"/>
              <a:ext cx="1194911"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14 张可视化分析图</a:t>
              </a:r>
              <a:endParaRPr lang="zh-CN" sz="975" dirty="0">
                <a:solidFill>
                  <a:srgbClr val="4A5568"/>
                </a:solidFill>
                <a:latin typeface="Segoe UI" panose="020B0502040204020203"/>
                <a:ea typeface="微软雅黑" panose="020B0503020204020204" charset="-122"/>
                <a:cs typeface="Segoe UI" panose="020B0502040204020203"/>
              </a:endParaRPr>
            </a:p>
          </p:txBody>
        </p:sp>
      </p:grpSp>
      <p:sp>
        <p:nvSpPr>
          <p:cNvPr id="25" name="Rectangle 25"/>
          <p:cNvSpPr/>
          <p:nvPr/>
        </p:nvSpPr>
        <p:spPr>
          <a:xfrm>
            <a:off x="8001000" y="1409700"/>
            <a:ext cx="3429000" cy="1524000"/>
          </a:xfrm>
          <a:prstGeom prst="roundRect">
            <a:avLst>
              <a:gd name="adj" fmla="val 3750"/>
            </a:avLst>
          </a:prstGeom>
          <a:solidFill>
            <a:srgbClr val="FFF5F5"/>
          </a:solidFill>
          <a:ln>
            <a:noFill/>
          </a:ln>
        </p:spPr>
      </p:sp>
      <p:sp>
        <p:nvSpPr>
          <p:cNvPr id="26" name="TextBox 26"/>
          <p:cNvSpPr txBox="1"/>
          <p:nvPr/>
        </p:nvSpPr>
        <p:spPr>
          <a:xfrm>
            <a:off x="9187601" y="1553528"/>
            <a:ext cx="1055799" cy="213360"/>
          </a:xfrm>
          <a:prstGeom prst="rect">
            <a:avLst/>
          </a:prstGeom>
          <a:noFill/>
          <a:ln>
            <a:noFill/>
          </a:ln>
        </p:spPr>
        <p:txBody>
          <a:bodyPr wrap="none" lIns="0" tIns="0" rIns="0" bIns="0" anchor="t" anchorCtr="0">
            <a:spAutoFit/>
          </a:bodyPr>
          <a:lstStyle/>
          <a:p>
            <a:pPr algn="ctr"/>
            <a:r>
              <a:rPr lang="zh-CN" sz="1050" b="1" dirty="0">
                <a:solidFill>
                  <a:srgbClr val="E53E3E"/>
                </a:solidFill>
                <a:latin typeface="Segoe UI" panose="020B0502040204020203"/>
                <a:ea typeface="微软雅黑" panose="020B0503020204020204" charset="-122"/>
                <a:cs typeface="Segoe UI" panose="020B0502040204020203"/>
              </a:rPr>
              <a:t>多模态数据探索</a:t>
            </a:r>
            <a:endParaRPr lang="zh-CN" sz="1050" b="1" dirty="0">
              <a:solidFill>
                <a:srgbClr val="E53E3E"/>
              </a:solidFill>
              <a:latin typeface="Segoe UI" panose="020B0502040204020203"/>
              <a:ea typeface="微软雅黑" panose="020B0503020204020204" charset="-122"/>
              <a:cs typeface="Segoe UI" panose="020B0502040204020203"/>
            </a:endParaRPr>
          </a:p>
        </p:txBody>
      </p:sp>
      <p:grpSp>
        <p:nvGrpSpPr>
          <p:cNvPr id="32" name="Group 32"/>
          <p:cNvGrpSpPr/>
          <p:nvPr/>
        </p:nvGrpSpPr>
        <p:grpSpPr>
          <a:xfrm>
            <a:off x="8179118" y="1799749"/>
            <a:ext cx="1454944" cy="960120"/>
            <a:chOff x="8179118" y="1799749"/>
            <a:chExt cx="1454944" cy="960120"/>
          </a:xfrm>
        </p:grpSpPr>
        <p:sp>
          <p:nvSpPr>
            <p:cNvPr id="27" name="TextBox 27"/>
            <p:cNvSpPr txBox="1"/>
            <p:nvPr/>
          </p:nvSpPr>
          <p:spPr>
            <a:xfrm>
              <a:off x="8179118" y="1799749"/>
              <a:ext cx="1305425"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全量 921 样本无过滤</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8179118" y="1990249"/>
              <a:ext cx="1454944"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448×448 高分辨率图像</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8179118" y="2180749"/>
              <a:ext cx="1175409"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覆盖所有公式类型</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8179118" y="2371249"/>
              <a:ext cx="1266420"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921 张逐样本对比图</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8179118" y="2561749"/>
              <a:ext cx="1318427"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CER 分布 + 长度分析</a:t>
              </a:r>
              <a:endParaRPr lang="zh-CN" sz="975" dirty="0">
                <a:solidFill>
                  <a:srgbClr val="4A5568"/>
                </a:solidFill>
                <a:latin typeface="Segoe UI" panose="020B0502040204020203"/>
                <a:ea typeface="微软雅黑" panose="020B0503020204020204" charset="-122"/>
                <a:cs typeface="Segoe UI" panose="020B0502040204020203"/>
              </a:endParaRPr>
            </a:p>
          </p:txBody>
        </p:sp>
      </p:grpSp>
      <p:sp>
        <p:nvSpPr>
          <p:cNvPr id="33" name="TextBox 33"/>
          <p:cNvSpPr txBox="1"/>
          <p:nvPr/>
        </p:nvSpPr>
        <p:spPr>
          <a:xfrm>
            <a:off x="746760" y="3156585"/>
            <a:ext cx="702564" cy="243840"/>
          </a:xfrm>
          <a:prstGeom prst="rect">
            <a:avLst/>
          </a:prstGeom>
          <a:noFill/>
          <a:ln>
            <a:noFill/>
          </a:ln>
        </p:spPr>
        <p:txBody>
          <a:bodyPr wrap="none" lIns="0" tIns="0" rIns="0" bIns="0" anchor="t" anchorCtr="0">
            <a:spAutoFit/>
          </a:bodyPr>
          <a:lstStyle/>
          <a:p>
            <a:pPr algn="l"/>
            <a:r>
              <a:rPr lang="zh-CN" sz="1200" b="1" dirty="0">
                <a:solidFill>
                  <a:srgbClr val="2D3748"/>
                </a:solidFill>
                <a:latin typeface="Segoe UI" panose="020B0502040204020203"/>
                <a:ea typeface="微软雅黑" panose="020B0503020204020204" charset="-122"/>
                <a:cs typeface="Segoe UI" panose="020B0502040204020203"/>
              </a:rPr>
              <a:t>关键发现</a:t>
            </a:r>
            <a:endParaRPr lang="zh-CN" sz="1200" b="1" dirty="0">
              <a:solidFill>
                <a:srgbClr val="2D3748"/>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762000" y="3476625"/>
            <a:ext cx="10668000" cy="952500"/>
          </a:xfrm>
          <a:prstGeom prst="roundRect">
            <a:avLst>
              <a:gd name="adj" fmla="val 6000"/>
            </a:avLst>
          </a:prstGeom>
          <a:solidFill>
            <a:srgbClr val="F7FAFC"/>
          </a:solidFill>
          <a:ln>
            <a:noFill/>
          </a:ln>
        </p:spPr>
      </p:sp>
      <p:grpSp>
        <p:nvGrpSpPr>
          <p:cNvPr id="38" name="Group 38"/>
          <p:cNvGrpSpPr/>
          <p:nvPr/>
        </p:nvGrpSpPr>
        <p:grpSpPr>
          <a:xfrm>
            <a:off x="1034415" y="3620452"/>
            <a:ext cx="5781389" cy="651510"/>
            <a:chOff x="1034415" y="3620452"/>
            <a:chExt cx="5781389" cy="651510"/>
          </a:xfrm>
        </p:grpSpPr>
        <p:sp>
          <p:nvSpPr>
            <p:cNvPr id="35" name="TextBox 35"/>
            <p:cNvSpPr txBox="1"/>
            <p:nvPr/>
          </p:nvSpPr>
          <p:spPr>
            <a:xfrm>
              <a:off x="1034415" y="3620452"/>
              <a:ext cx="5781389"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① 传统 ML 数据探索受限于 Top-N 选择偏差，无法发现低频但重要的规律（如矩阵公式模式）</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1034415" y="3839528"/>
              <a:ext cx="5718381"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② 多模态大模型的全量数据探索揭示了公式类型的真实分布多样性（5,317 类涵盖范围广泛）</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1034415" y="4058602"/>
              <a:ext cx="4829270"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③ 图像分辨率差异（48 vs 448）直接影响可捕获的笔画细节量，影响识别质量</a:t>
              </a:r>
              <a:endParaRPr lang="zh-CN" sz="1050" dirty="0">
                <a:solidFill>
                  <a:srgbClr val="2D3748"/>
                </a:solidFill>
                <a:latin typeface="Segoe UI" panose="020B0502040204020203"/>
                <a:ea typeface="微软雅黑" panose="020B0503020204020204" charset="-122"/>
                <a:cs typeface="Segoe UI" panose="020B0502040204020203"/>
              </a:endParaRPr>
            </a:p>
          </p:txBody>
        </p:sp>
      </p:grpSp>
      <p:sp>
        <p:nvSpPr>
          <p:cNvPr id="39" name="TextBox 39"/>
          <p:cNvSpPr txBox="1"/>
          <p:nvPr/>
        </p:nvSpPr>
        <p:spPr>
          <a:xfrm>
            <a:off x="11513820" y="6570345"/>
            <a:ext cx="154877" cy="182880"/>
          </a:xfrm>
          <a:prstGeom prst="rect">
            <a:avLst/>
          </a:prstGeom>
          <a:noFill/>
          <a:ln>
            <a:noFill/>
          </a:ln>
        </p:spPr>
        <p:txBody>
          <a:bodyPr wrap="none" lIns="0" tIns="0" rIns="0" bIns="0" anchor="t" anchorCtr="0">
            <a:spAutoFit/>
          </a:bodyPr>
          <a:lstStyle/>
          <a:p>
            <a:pPr algn="l"/>
            <a:r>
              <a:rPr lang="zh-CN" sz="900" dirty="0">
                <a:solidFill>
                  <a:srgbClr val="CBD5E0"/>
                </a:solidFill>
                <a:latin typeface="Consolas" panose="020B0609020204030204"/>
                <a:ea typeface="微软雅黑" panose="020B0503020204020204" charset="-122"/>
                <a:cs typeface="Consolas" panose="020B0609020204030204"/>
              </a:rPr>
              <a:t>07</a:t>
            </a:r>
            <a:endParaRPr lang="zh-CN" sz="900" dirty="0">
              <a:solidFill>
                <a:srgbClr val="CBD5E0"/>
              </a:solidFill>
              <a:latin typeface="Consolas" panose="020B0609020204030204"/>
              <a:ea typeface="微软雅黑" panose="020B0503020204020204" charset="-122"/>
              <a:cs typeface="Consolas" panose="020B0609020204030204"/>
            </a:endParaRPr>
          </a:p>
        </p:txBody>
      </p:sp>
      <p:sp>
        <p:nvSpPr>
          <p:cNvPr id="40" name="文本框 39"/>
          <p:cNvSpPr txBox="1"/>
          <p:nvPr/>
        </p:nvSpPr>
        <p:spPr>
          <a:xfrm>
            <a:off x="0" y="4561840"/>
            <a:ext cx="5754370" cy="2286000"/>
          </a:xfrm>
          <a:prstGeom prst="rect">
            <a:avLst/>
          </a:prstGeom>
          <a:noFill/>
        </p:spPr>
        <p:txBody>
          <a:bodyPr wrap="square" rtlCol="0">
            <a:noAutofit/>
          </a:bodyPr>
          <a:p>
            <a:r>
              <a:rPr lang="en-US" altLang="zh-CN" sz="1400"/>
              <a:t>Q1</a:t>
            </a:r>
            <a:r>
              <a:rPr lang="zh-CN" altLang="en-US" sz="1400"/>
              <a:t>：为什么在传统方法中样本量选取为</a:t>
            </a:r>
            <a:r>
              <a:rPr lang="en-US" altLang="zh-CN" sz="1400"/>
              <a:t>Top-30</a:t>
            </a:r>
            <a:r>
              <a:rPr lang="zh-CN" altLang="en-US" sz="1400"/>
              <a:t>？</a:t>
            </a:r>
            <a:endParaRPr lang="en-US" altLang="zh-CN" sz="1400"/>
          </a:p>
          <a:p>
            <a:r>
              <a:rPr lang="zh-CN" altLang="en-US" sz="1400"/>
              <a:t>第一，数据分布的原因。</a:t>
            </a:r>
            <a:r>
              <a:rPr lang="en-US" altLang="zh-CN" sz="1400"/>
              <a:t>22,021</a:t>
            </a:r>
            <a:r>
              <a:rPr lang="zh-CN" altLang="en-US" sz="1400"/>
              <a:t>个样本分布在</a:t>
            </a:r>
            <a:r>
              <a:rPr lang="en-US" altLang="zh-CN" sz="1400"/>
              <a:t>5,317</a:t>
            </a:r>
            <a:r>
              <a:rPr lang="zh-CN" altLang="en-US" sz="1400"/>
              <a:t>个类中，呈长尾分布。最高频类</a:t>
            </a:r>
            <a:r>
              <a:rPr lang="en-US" altLang="zh-CN" sz="1400"/>
              <a:t>135</a:t>
            </a:r>
            <a:r>
              <a:rPr lang="zh-CN" altLang="en-US" sz="1400"/>
              <a:t>个样本，大量低频类只有</a:t>
            </a:r>
            <a:r>
              <a:rPr lang="en-US" altLang="zh-CN" sz="1400"/>
              <a:t>1-5</a:t>
            </a:r>
            <a:r>
              <a:rPr lang="zh-CN" altLang="en-US" sz="1400"/>
              <a:t>个样本。</a:t>
            </a:r>
            <a:r>
              <a:rPr lang="en-US" altLang="zh-CN" sz="1400"/>
              <a:t>SVM</a:t>
            </a:r>
            <a:r>
              <a:rPr lang="zh-CN" altLang="en-US" sz="1400"/>
              <a:t>需要每类足够样本才能学习有效决策边界。</a:t>
            </a:r>
            <a:endParaRPr lang="en-US" altLang="zh-CN" sz="1400"/>
          </a:p>
          <a:p>
            <a:r>
              <a:rPr lang="zh-CN" altLang="en-US" sz="1400"/>
              <a:t>第二，计算资源的限制。</a:t>
            </a:r>
            <a:r>
              <a:rPr lang="en-US" altLang="zh-CN" sz="1400"/>
              <a:t>SVM</a:t>
            </a:r>
            <a:r>
              <a:rPr lang="zh-CN" altLang="en-US" sz="1400"/>
              <a:t>使用</a:t>
            </a:r>
            <a:r>
              <a:rPr lang="en-US" altLang="zh-CN" sz="1400"/>
              <a:t>OVR</a:t>
            </a:r>
            <a:r>
              <a:rPr lang="zh-CN" altLang="en-US" sz="1400"/>
              <a:t>策略，</a:t>
            </a:r>
            <a:r>
              <a:rPr lang="en-US" altLang="zh-CN" sz="1400"/>
              <a:t>30</a:t>
            </a:r>
            <a:r>
              <a:rPr lang="zh-CN" altLang="en-US" sz="1400"/>
              <a:t>类加超参搜索已需约</a:t>
            </a:r>
            <a:r>
              <a:rPr lang="en-US" altLang="zh-CN" sz="1400"/>
              <a:t>34</a:t>
            </a:r>
            <a:r>
              <a:rPr lang="zh-CN" altLang="en-US" sz="1400"/>
              <a:t>分钟。增加到</a:t>
            </a:r>
            <a:r>
              <a:rPr lang="en-US" altLang="zh-CN" sz="1400"/>
              <a:t>100</a:t>
            </a:r>
            <a:r>
              <a:rPr lang="zh-CN" altLang="en-US" sz="1400"/>
              <a:t>类需要</a:t>
            </a:r>
            <a:r>
              <a:rPr lang="en-US" altLang="zh-CN" sz="1400"/>
              <a:t>2-3</a:t>
            </a:r>
            <a:r>
              <a:rPr lang="zh-CN" altLang="en-US" sz="1400"/>
              <a:t>小时。</a:t>
            </a:r>
            <a:endParaRPr lang="en-US" altLang="zh-CN" sz="1400"/>
          </a:p>
          <a:p>
            <a:r>
              <a:rPr lang="zh-CN" altLang="en-US" sz="1400"/>
              <a:t>第三，类别平衡的考虑。增加大量低频类别会严重拉低整体准确率。</a:t>
            </a:r>
            <a:endParaRPr lang="en-US" altLang="zh-CN" sz="1400"/>
          </a:p>
          <a:p>
            <a:r>
              <a:rPr lang="en-US" altLang="zh-CN" sz="1400"/>
              <a:t>Top-30</a:t>
            </a:r>
            <a:r>
              <a:rPr lang="zh-CN" altLang="en-US" sz="1400"/>
              <a:t>是经过权衡的折衷选择。</a:t>
            </a:r>
            <a:endParaRPr lang="zh-CN" altLang="en-US" sz="1400"/>
          </a:p>
        </p:txBody>
      </p:sp>
      <p:sp>
        <p:nvSpPr>
          <p:cNvPr id="41" name="文本框 40"/>
          <p:cNvSpPr txBox="1"/>
          <p:nvPr/>
        </p:nvSpPr>
        <p:spPr>
          <a:xfrm>
            <a:off x="6866890" y="4505325"/>
            <a:ext cx="5304790" cy="2336165"/>
          </a:xfrm>
          <a:prstGeom prst="rect">
            <a:avLst/>
          </a:prstGeom>
          <a:noFill/>
        </p:spPr>
        <p:txBody>
          <a:bodyPr wrap="square" rtlCol="0">
            <a:noAutofit/>
          </a:bodyPr>
          <a:p>
            <a:r>
              <a:rPr lang="zh-CN" altLang="en-US" sz="1400"/>
              <a:t>Q</a:t>
            </a:r>
            <a:r>
              <a:rPr lang="en-US" altLang="zh-CN" sz="1400"/>
              <a:t>2</a:t>
            </a:r>
            <a:r>
              <a:rPr lang="zh-CN" altLang="en-US" sz="1400"/>
              <a:t>: 为什么多模态中样本量</a:t>
            </a:r>
            <a:r>
              <a:rPr lang="zh-CN" altLang="en-US" sz="1400"/>
              <a:t>921就称为全量？</a:t>
            </a:r>
            <a:endParaRPr lang="zh-CN" altLang="en-US" sz="1400"/>
          </a:p>
          <a:p>
            <a:r>
              <a:rPr lang="en-US" altLang="zh-CN" sz="1400"/>
              <a:t>1.</a:t>
            </a:r>
            <a:r>
              <a:rPr lang="zh-CN" altLang="en-US" sz="1400"/>
              <a:t>全量指的是公式类型的全量覆盖，而非全部数据。</a:t>
            </a:r>
            <a:endParaRPr lang="zh-CN" altLang="en-US" sz="1400"/>
          </a:p>
          <a:p>
            <a:r>
              <a:rPr lang="en-US" altLang="zh-CN" sz="1400"/>
              <a:t>2.</a:t>
            </a:r>
            <a:r>
              <a:rPr lang="zh-CN" altLang="en-US" sz="1400"/>
              <a:t>传统ML从22,021个样本中做了两轮筛选，只覆盖30种公式模式，其他5,287类被丢弃。</a:t>
            </a:r>
            <a:endParaRPr lang="zh-CN" altLang="en-US" sz="1400"/>
          </a:p>
          <a:p>
            <a:r>
              <a:rPr lang="en-US" altLang="zh-CN" sz="1400"/>
              <a:t>3.</a:t>
            </a:r>
            <a:r>
              <a:rPr lang="zh-CN" altLang="en-US" sz="1400"/>
              <a:t>多模态大模型使用的CROHME_training_2011中有921个样本，覆盖了该数据集中的所有公式类型，没有做Top-N筛选、没有频率阈值、没有任何类别过滤。</a:t>
            </a:r>
            <a:endParaRPr lang="zh-CN" altLang="en-US" sz="1400"/>
          </a:p>
          <a:p>
            <a:r>
              <a:rPr lang="zh-CN" altLang="en-US" sz="1400"/>
              <a:t>核心区别：传统ML因分类范式限制必须做类别筛选，大模型的生成范式不需要预定义类别。</a:t>
            </a:r>
            <a:endParaRPr lang="zh-CN" altLang="en-US" sz="1400"/>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47625"/>
          </a:xfrm>
          <a:prstGeom prst="rect">
            <a:avLst/>
          </a:prstGeom>
          <a:solidFill>
            <a:srgbClr val="E53E3E"/>
          </a:solidFill>
          <a:ln>
            <a:noFill/>
          </a:ln>
        </p:spPr>
      </p:sp>
      <p:sp>
        <p:nvSpPr>
          <p:cNvPr id="4" name="Rectangle 4"/>
          <p:cNvSpPr/>
          <p:nvPr/>
        </p:nvSpPr>
        <p:spPr>
          <a:xfrm>
            <a:off x="762000" y="476250"/>
            <a:ext cx="571500" cy="285750"/>
          </a:xfrm>
          <a:prstGeom prst="roundRect">
            <a:avLst>
              <a:gd name="adj" fmla="val 13333"/>
            </a:avLst>
          </a:prstGeom>
          <a:solidFill>
            <a:srgbClr val="E53E3E"/>
          </a:solidFill>
          <a:ln>
            <a:noFill/>
          </a:ln>
        </p:spPr>
      </p:sp>
      <p:sp>
        <p:nvSpPr>
          <p:cNvPr id="5" name="TextBox 5"/>
          <p:cNvSpPr txBox="1"/>
          <p:nvPr/>
        </p:nvSpPr>
        <p:spPr>
          <a:xfrm>
            <a:off x="898850" y="561499"/>
            <a:ext cx="29779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panose="020B0502040204020203"/>
                <a:ea typeface="微软雅黑" panose="020B0503020204020204" charset="-122"/>
                <a:cs typeface="Segoe UI" panose="020B0502040204020203"/>
              </a:rPr>
              <a:t>模型</a:t>
            </a:r>
            <a:endParaRPr lang="zh-CN" sz="975" b="1" dirty="0">
              <a:solidFill>
                <a:srgbClr val="FFFFFF"/>
              </a:solidFill>
              <a:latin typeface="Segoe UI" panose="020B0502040204020203"/>
              <a:ea typeface="微软雅黑" panose="020B0503020204020204" charset="-122"/>
              <a:cs typeface="Segoe UI" panose="020B0502040204020203"/>
            </a:endParaRPr>
          </a:p>
        </p:txBody>
      </p:sp>
      <p:sp>
        <p:nvSpPr>
          <p:cNvPr id="6" name="TextBox 6"/>
          <p:cNvSpPr txBox="1"/>
          <p:nvPr/>
        </p:nvSpPr>
        <p:spPr>
          <a:xfrm>
            <a:off x="1457325" y="504825"/>
            <a:ext cx="2799945" cy="304800"/>
          </a:xfrm>
          <a:prstGeom prst="rect">
            <a:avLst/>
          </a:prstGeom>
          <a:noFill/>
          <a:ln>
            <a:noFill/>
          </a:ln>
        </p:spPr>
        <p:txBody>
          <a:bodyPr wrap="none" lIns="0" tIns="0" rIns="0" bIns="0" anchor="t" anchorCtr="0">
            <a:spAutoFit/>
          </a:bodyPr>
          <a:lstStyle/>
          <a:p>
            <a:pPr algn="l"/>
            <a:r>
              <a:rPr lang="zh-CN" sz="1500" b="1" dirty="0">
                <a:solidFill>
                  <a:srgbClr val="2D3748"/>
                </a:solidFill>
                <a:latin typeface="Segoe UI" panose="020B0502040204020203"/>
                <a:ea typeface="微软雅黑" panose="020B0503020204020204" charset="-122"/>
                <a:cs typeface="Segoe UI" panose="020B0502040204020203"/>
              </a:rPr>
              <a:t>模型建立 — 三条技术路线总览</a:t>
            </a:r>
            <a:endParaRPr lang="zh-CN" sz="1500" b="1" dirty="0">
              <a:solidFill>
                <a:srgbClr val="2D3748"/>
              </a:solidFill>
              <a:latin typeface="Segoe UI" panose="020B0502040204020203"/>
              <a:ea typeface="微软雅黑" panose="020B0503020204020204" charset="-122"/>
              <a:cs typeface="Segoe UI" panose="020B0502040204020203"/>
            </a:endParaRPr>
          </a:p>
        </p:txBody>
      </p:sp>
      <p:sp>
        <p:nvSpPr>
          <p:cNvPr id="7" name="Line 7"/>
          <p:cNvSpPr/>
          <p:nvPr/>
        </p:nvSpPr>
        <p:spPr>
          <a:xfrm>
            <a:off x="762000" y="904875"/>
            <a:ext cx="10668000" cy="9525"/>
          </a:xfrm>
          <a:custGeom>
            <a:avLst/>
            <a:gdLst/>
            <a:ahLst/>
            <a:cxnLst/>
            <a:rect l="l" t="t" r="r" b="b"/>
            <a:pathLst>
              <a:path w="10668000" h="9525">
                <a:moveTo>
                  <a:pt x="0" y="0"/>
                </a:moveTo>
                <a:lnTo>
                  <a:pt x="10668000" y="0"/>
                </a:lnTo>
              </a:path>
            </a:pathLst>
          </a:custGeom>
          <a:noFill/>
          <a:ln w="9525">
            <a:solidFill>
              <a:srgbClr val="E2E8F0"/>
            </a:solidFill>
          </a:ln>
        </p:spPr>
      </p:sp>
      <p:sp>
        <p:nvSpPr>
          <p:cNvPr id="8" name="Rectangle 8"/>
          <p:cNvSpPr/>
          <p:nvPr/>
        </p:nvSpPr>
        <p:spPr>
          <a:xfrm>
            <a:off x="762000" y="1143000"/>
            <a:ext cx="3333750" cy="1619250"/>
          </a:xfrm>
          <a:prstGeom prst="roundRect">
            <a:avLst>
              <a:gd name="adj" fmla="val 3529"/>
            </a:avLst>
          </a:prstGeom>
          <a:solidFill>
            <a:srgbClr val="EBF8FF"/>
          </a:solidFill>
          <a:ln w="14288">
            <a:solidFill>
              <a:srgbClr val="3182CE"/>
            </a:solidFill>
          </a:ln>
        </p:spPr>
      </p:sp>
      <p:sp>
        <p:nvSpPr>
          <p:cNvPr id="9" name="Rectangle 9"/>
          <p:cNvSpPr/>
          <p:nvPr/>
        </p:nvSpPr>
        <p:spPr>
          <a:xfrm>
            <a:off x="762000" y="1143000"/>
            <a:ext cx="3333750" cy="333375"/>
          </a:xfrm>
          <a:prstGeom prst="roundRect">
            <a:avLst>
              <a:gd name="adj" fmla="val 17143"/>
            </a:avLst>
          </a:prstGeom>
          <a:solidFill>
            <a:srgbClr val="3182CE"/>
          </a:solidFill>
          <a:ln>
            <a:noFill/>
          </a:ln>
        </p:spPr>
      </p:sp>
      <p:sp>
        <p:nvSpPr>
          <p:cNvPr id="10" name="TextBox 10"/>
          <p:cNvSpPr txBox="1"/>
          <p:nvPr/>
        </p:nvSpPr>
        <p:spPr>
          <a:xfrm>
            <a:off x="1693935" y="1240631"/>
            <a:ext cx="1469880"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panose="020B0502040204020203"/>
                <a:ea typeface="微软雅黑" panose="020B0503020204020204" charset="-122"/>
                <a:cs typeface="Segoe UI" panose="020B0502040204020203"/>
              </a:rPr>
              <a:t>传统机器学习 ✓ 采用</a:t>
            </a:r>
            <a:endParaRPr lang="zh-CN" sz="1125" b="1" dirty="0">
              <a:solidFill>
                <a:srgbClr val="FFFFFF"/>
              </a:solidFill>
              <a:latin typeface="Segoe UI" panose="020B0502040204020203"/>
              <a:ea typeface="微软雅黑" panose="020B0503020204020204" charset="-122"/>
              <a:cs typeface="Segoe UI" panose="020B0502040204020203"/>
            </a:endParaRPr>
          </a:p>
        </p:txBody>
      </p:sp>
      <p:grpSp>
        <p:nvGrpSpPr>
          <p:cNvPr id="16" name="Group 16"/>
          <p:cNvGrpSpPr/>
          <p:nvPr/>
        </p:nvGrpSpPr>
        <p:grpSpPr>
          <a:xfrm>
            <a:off x="1035368" y="1590199"/>
            <a:ext cx="2059519" cy="979170"/>
            <a:chOff x="1035368" y="1590199"/>
            <a:chExt cx="2059519" cy="979170"/>
          </a:xfrm>
        </p:grpSpPr>
        <p:sp>
          <p:nvSpPr>
            <p:cNvPr id="11" name="TextBox 11"/>
            <p:cNvSpPr txBox="1"/>
            <p:nvPr/>
          </p:nvSpPr>
          <p:spPr>
            <a:xfrm>
              <a:off x="1035368" y="1590199"/>
              <a:ext cx="1895049" cy="198120"/>
            </a:xfrm>
            <a:prstGeom prst="rect">
              <a:avLst/>
            </a:prstGeom>
            <a:noFill/>
            <a:ln>
              <a:noFill/>
            </a:ln>
          </p:spPr>
          <p:txBody>
            <a:bodyPr wrap="none" lIns="0" tIns="0" rIns="0" bIns="0" anchor="t" anchorCtr="0">
              <a:spAutoFit/>
            </a:bodyPr>
            <a:lstStyle/>
            <a:p>
              <a:pPr algn="l"/>
              <a:r>
                <a:rPr lang="zh-CN" sz="975" b="1" dirty="0">
                  <a:solidFill>
                    <a:srgbClr val="2D3748"/>
                  </a:solidFill>
                  <a:latin typeface="Segoe UI" panose="020B0502040204020203"/>
                  <a:ea typeface="微软雅黑" panose="020B0503020204020204" charset="-122"/>
                  <a:cs typeface="Segoe UI" panose="020B0502040204020203"/>
                </a:rPr>
                <a:t>范式：分类（Classification）</a:t>
              </a:r>
              <a:endParaRPr lang="zh-CN" sz="975" b="1" dirty="0">
                <a:solidFill>
                  <a:srgbClr val="2D3748"/>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1035368" y="1780699"/>
              <a:ext cx="1773484"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特征：HOG + LBP → PCA → SVM</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035368" y="1971199"/>
              <a:ext cx="1545955"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准确率：68.73%（30 类）</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035368" y="2180749"/>
              <a:ext cx="2059519" cy="198120"/>
            </a:xfrm>
            <a:prstGeom prst="rect">
              <a:avLst/>
            </a:prstGeom>
            <a:noFill/>
            <a:ln>
              <a:noFill/>
            </a:ln>
          </p:spPr>
          <p:txBody>
            <a:bodyPr wrap="none" lIns="0" tIns="0" rIns="0" bIns="0" anchor="t" anchorCtr="0">
              <a:spAutoFit/>
            </a:bodyPr>
            <a:lstStyle/>
            <a:p>
              <a:pPr algn="l"/>
              <a:r>
                <a:rPr lang="zh-CN" sz="975" dirty="0">
                  <a:solidFill>
                    <a:srgbClr val="3182CE"/>
                  </a:solidFill>
                  <a:latin typeface="Segoe UI" panose="020B0502040204020203"/>
                  <a:ea typeface="微软雅黑" panose="020B0503020204020204" charset="-122"/>
                  <a:cs typeface="Segoe UI" panose="020B0502040204020203"/>
                </a:rPr>
                <a:t>优势：CPU可训、可解释、费用为零</a:t>
              </a:r>
              <a:endParaRPr lang="zh-CN" sz="975" dirty="0">
                <a:solidFill>
                  <a:srgbClr val="3182CE"/>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1035368" y="2371249"/>
              <a:ext cx="1714976" cy="198120"/>
            </a:xfrm>
            <a:prstGeom prst="rect">
              <a:avLst/>
            </a:prstGeom>
            <a:noFill/>
            <a:ln>
              <a:noFill/>
            </a:ln>
          </p:spPr>
          <p:txBody>
            <a:bodyPr wrap="none" lIns="0" tIns="0" rIns="0" bIns="0" anchor="t" anchorCtr="0">
              <a:spAutoFit/>
            </a:bodyPr>
            <a:lstStyle/>
            <a:p>
              <a:pPr algn="l"/>
              <a:r>
                <a:rPr lang="zh-CN" sz="975" dirty="0">
                  <a:solidFill>
                    <a:srgbClr val="E53E3E"/>
                  </a:solidFill>
                  <a:latin typeface="Segoe UI" panose="020B0502040204020203"/>
                  <a:ea typeface="微软雅黑" panose="020B0503020204020204" charset="-122"/>
                  <a:cs typeface="Segoe UI" panose="020B0502040204020203"/>
                </a:rPr>
                <a:t>局限：封闭类别、无矩阵能力</a:t>
              </a:r>
              <a:endParaRPr lang="zh-CN" sz="975" dirty="0">
                <a:solidFill>
                  <a:srgbClr val="E53E3E"/>
                </a:solidFill>
                <a:latin typeface="Segoe UI" panose="020B0502040204020203"/>
                <a:ea typeface="微软雅黑" panose="020B0503020204020204" charset="-122"/>
                <a:cs typeface="Segoe UI" panose="020B0502040204020203"/>
              </a:endParaRPr>
            </a:p>
          </p:txBody>
        </p:sp>
      </p:grpSp>
      <p:sp>
        <p:nvSpPr>
          <p:cNvPr id="17" name="Rectangle 17"/>
          <p:cNvSpPr/>
          <p:nvPr/>
        </p:nvSpPr>
        <p:spPr>
          <a:xfrm>
            <a:off x="4429125" y="1143000"/>
            <a:ext cx="3333750" cy="1619250"/>
          </a:xfrm>
          <a:prstGeom prst="roundRect">
            <a:avLst>
              <a:gd name="adj" fmla="val 3529"/>
            </a:avLst>
          </a:prstGeom>
          <a:solidFill>
            <a:srgbClr val="FFF5F5"/>
          </a:solidFill>
          <a:ln w="14288">
            <a:solidFill>
              <a:srgbClr val="DD6B20"/>
            </a:solidFill>
          </a:ln>
        </p:spPr>
      </p:sp>
      <p:sp>
        <p:nvSpPr>
          <p:cNvPr id="18" name="Rectangle 18"/>
          <p:cNvSpPr/>
          <p:nvPr/>
        </p:nvSpPr>
        <p:spPr>
          <a:xfrm>
            <a:off x="4429125" y="1143000"/>
            <a:ext cx="3333750" cy="333375"/>
          </a:xfrm>
          <a:prstGeom prst="roundRect">
            <a:avLst>
              <a:gd name="adj" fmla="val 17143"/>
            </a:avLst>
          </a:prstGeom>
          <a:solidFill>
            <a:srgbClr val="DD6B20"/>
          </a:solidFill>
          <a:ln>
            <a:noFill/>
          </a:ln>
        </p:spPr>
      </p:sp>
      <p:sp>
        <p:nvSpPr>
          <p:cNvPr id="19" name="TextBox 19"/>
          <p:cNvSpPr txBox="1"/>
          <p:nvPr/>
        </p:nvSpPr>
        <p:spPr>
          <a:xfrm>
            <a:off x="5282300" y="1240631"/>
            <a:ext cx="1627400"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panose="020B0502040204020203"/>
                <a:ea typeface="微软雅黑" panose="020B0503020204020204" charset="-122"/>
                <a:cs typeface="Segoe UI" panose="020B0502040204020203"/>
              </a:rPr>
              <a:t>对比学习 ✗ 探索后放弃</a:t>
            </a:r>
            <a:endParaRPr lang="zh-CN" sz="1125" b="1" dirty="0">
              <a:solidFill>
                <a:srgbClr val="FFFFFF"/>
              </a:solidFill>
              <a:latin typeface="Segoe UI" panose="020B0502040204020203"/>
              <a:ea typeface="微软雅黑" panose="020B0503020204020204" charset="-122"/>
              <a:cs typeface="Segoe UI" panose="020B0502040204020203"/>
            </a:endParaRPr>
          </a:p>
        </p:txBody>
      </p:sp>
      <p:grpSp>
        <p:nvGrpSpPr>
          <p:cNvPr id="25" name="Group 25"/>
          <p:cNvGrpSpPr/>
          <p:nvPr/>
        </p:nvGrpSpPr>
        <p:grpSpPr>
          <a:xfrm>
            <a:off x="4702492" y="1590199"/>
            <a:ext cx="1818989" cy="979170"/>
            <a:chOff x="4702492" y="1590199"/>
            <a:chExt cx="1818989" cy="979170"/>
          </a:xfrm>
        </p:grpSpPr>
        <p:sp>
          <p:nvSpPr>
            <p:cNvPr id="20" name="TextBox 20"/>
            <p:cNvSpPr txBox="1"/>
            <p:nvPr/>
          </p:nvSpPr>
          <p:spPr>
            <a:xfrm>
              <a:off x="4702492" y="1590199"/>
              <a:ext cx="1587885" cy="198120"/>
            </a:xfrm>
            <a:prstGeom prst="rect">
              <a:avLst/>
            </a:prstGeom>
            <a:noFill/>
            <a:ln>
              <a:noFill/>
            </a:ln>
          </p:spPr>
          <p:txBody>
            <a:bodyPr wrap="none" lIns="0" tIns="0" rIns="0" bIns="0" anchor="t" anchorCtr="0">
              <a:spAutoFit/>
            </a:bodyPr>
            <a:lstStyle/>
            <a:p>
              <a:pPr algn="l"/>
              <a:r>
                <a:rPr lang="zh-CN" sz="975" b="1" dirty="0">
                  <a:solidFill>
                    <a:srgbClr val="2D3748"/>
                  </a:solidFill>
                  <a:latin typeface="Segoe UI" panose="020B0502040204020203"/>
                  <a:ea typeface="微软雅黑" panose="020B0503020204020204" charset="-122"/>
                  <a:cs typeface="Segoe UI" panose="020B0502040204020203"/>
                </a:rPr>
                <a:t>范式：检索（Retrieval）</a:t>
              </a:r>
              <a:endParaRPr lang="zh-CN" sz="975" b="1" dirty="0">
                <a:solidFill>
                  <a:srgbClr val="2D374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4702492" y="1780699"/>
              <a:ext cx="1818989"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特征：CNN 编码器 → 128 维向量</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4702492" y="1971199"/>
              <a:ext cx="1584960"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方式：最近邻搜索匹配公式</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4702492" y="2180749"/>
              <a:ext cx="1454944" cy="198120"/>
            </a:xfrm>
            <a:prstGeom prst="rect">
              <a:avLst/>
            </a:prstGeom>
            <a:noFill/>
            <a:ln>
              <a:noFill/>
            </a:ln>
          </p:spPr>
          <p:txBody>
            <a:bodyPr wrap="none" lIns="0" tIns="0" rIns="0" bIns="0" anchor="t" anchorCtr="0">
              <a:spAutoFit/>
            </a:bodyPr>
            <a:lstStyle/>
            <a:p>
              <a:pPr algn="l"/>
              <a:r>
                <a:rPr lang="zh-CN" sz="975" dirty="0">
                  <a:solidFill>
                    <a:srgbClr val="DD6B20"/>
                  </a:solidFill>
                  <a:latin typeface="Segoe UI" panose="020B0502040204020203"/>
                  <a:ea typeface="微软雅黑" panose="020B0503020204020204" charset="-122"/>
                  <a:cs typeface="Segoe UI" panose="020B0502040204020203"/>
                </a:rPr>
                <a:t>优势：思路直观、可解释</a:t>
              </a:r>
              <a:endParaRPr lang="zh-CN" sz="975" dirty="0">
                <a:solidFill>
                  <a:srgbClr val="DD6B20"/>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4702492" y="2371249"/>
              <a:ext cx="1454944" cy="198120"/>
            </a:xfrm>
            <a:prstGeom prst="rect">
              <a:avLst/>
            </a:prstGeom>
            <a:noFill/>
            <a:ln>
              <a:noFill/>
            </a:ln>
          </p:spPr>
          <p:txBody>
            <a:bodyPr wrap="none" lIns="0" tIns="0" rIns="0" bIns="0" anchor="t" anchorCtr="0">
              <a:spAutoFit/>
            </a:bodyPr>
            <a:lstStyle/>
            <a:p>
              <a:pPr algn="l"/>
              <a:r>
                <a:rPr lang="zh-CN" sz="975" dirty="0">
                  <a:solidFill>
                    <a:srgbClr val="E53E3E"/>
                  </a:solidFill>
                  <a:latin typeface="Segoe UI" panose="020B0502040204020203"/>
                  <a:ea typeface="微软雅黑" panose="020B0503020204020204" charset="-122"/>
                  <a:cs typeface="Segoe UI" panose="020B0502040204020203"/>
                </a:rPr>
                <a:t>局限：只能检索已知公式</a:t>
              </a:r>
              <a:endParaRPr lang="zh-CN" sz="975" dirty="0">
                <a:solidFill>
                  <a:srgbClr val="E53E3E"/>
                </a:solidFill>
                <a:latin typeface="Segoe UI" panose="020B0502040204020203"/>
                <a:ea typeface="微软雅黑" panose="020B0503020204020204" charset="-122"/>
                <a:cs typeface="Segoe UI" panose="020B0502040204020203"/>
              </a:endParaRPr>
            </a:p>
          </p:txBody>
        </p:sp>
      </p:grpSp>
      <p:sp>
        <p:nvSpPr>
          <p:cNvPr id="26" name="Rectangle 26"/>
          <p:cNvSpPr/>
          <p:nvPr/>
        </p:nvSpPr>
        <p:spPr>
          <a:xfrm>
            <a:off x="8096250" y="1143000"/>
            <a:ext cx="3333750" cy="1619250"/>
          </a:xfrm>
          <a:prstGeom prst="roundRect">
            <a:avLst>
              <a:gd name="adj" fmla="val 3529"/>
            </a:avLst>
          </a:prstGeom>
          <a:solidFill>
            <a:srgbClr val="F0FFF4"/>
          </a:solidFill>
          <a:ln w="14288">
            <a:solidFill>
              <a:srgbClr val="38A169"/>
            </a:solidFill>
          </a:ln>
        </p:spPr>
      </p:sp>
      <p:sp>
        <p:nvSpPr>
          <p:cNvPr id="27" name="Rectangle 27"/>
          <p:cNvSpPr/>
          <p:nvPr/>
        </p:nvSpPr>
        <p:spPr>
          <a:xfrm>
            <a:off x="8096250" y="1143000"/>
            <a:ext cx="3333750" cy="333375"/>
          </a:xfrm>
          <a:prstGeom prst="roundRect">
            <a:avLst>
              <a:gd name="adj" fmla="val 17143"/>
            </a:avLst>
          </a:prstGeom>
          <a:solidFill>
            <a:srgbClr val="38A169"/>
          </a:solidFill>
          <a:ln>
            <a:noFill/>
          </a:ln>
        </p:spPr>
      </p:sp>
      <p:sp>
        <p:nvSpPr>
          <p:cNvPr id="28" name="TextBox 28"/>
          <p:cNvSpPr txBox="1"/>
          <p:nvPr/>
        </p:nvSpPr>
        <p:spPr>
          <a:xfrm>
            <a:off x="9028185" y="1240631"/>
            <a:ext cx="1469880"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panose="020B0502040204020203"/>
                <a:ea typeface="微软雅黑" panose="020B0503020204020204" charset="-122"/>
                <a:cs typeface="Segoe UI" panose="020B0502040204020203"/>
              </a:rPr>
              <a:t>多模态大模型 ✓ 采用</a:t>
            </a:r>
            <a:endParaRPr lang="zh-CN" sz="1125" b="1" dirty="0">
              <a:solidFill>
                <a:srgbClr val="FFFFFF"/>
              </a:solidFill>
              <a:latin typeface="Segoe UI" panose="020B0502040204020203"/>
              <a:ea typeface="微软雅黑" panose="020B0503020204020204" charset="-122"/>
              <a:cs typeface="Segoe UI" panose="020B0502040204020203"/>
            </a:endParaRPr>
          </a:p>
        </p:txBody>
      </p:sp>
      <p:grpSp>
        <p:nvGrpSpPr>
          <p:cNvPr id="34" name="Group 34"/>
          <p:cNvGrpSpPr/>
          <p:nvPr/>
        </p:nvGrpSpPr>
        <p:grpSpPr>
          <a:xfrm>
            <a:off x="8369618" y="1590199"/>
            <a:ext cx="1975009" cy="979170"/>
            <a:chOff x="8369618" y="1590199"/>
            <a:chExt cx="1975009" cy="979170"/>
          </a:xfrm>
        </p:grpSpPr>
        <p:sp>
          <p:nvSpPr>
            <p:cNvPr id="29" name="TextBox 29"/>
            <p:cNvSpPr txBox="1"/>
            <p:nvPr/>
          </p:nvSpPr>
          <p:spPr>
            <a:xfrm>
              <a:off x="8369618" y="1590199"/>
              <a:ext cx="1697099" cy="198120"/>
            </a:xfrm>
            <a:prstGeom prst="rect">
              <a:avLst/>
            </a:prstGeom>
            <a:noFill/>
            <a:ln>
              <a:noFill/>
            </a:ln>
          </p:spPr>
          <p:txBody>
            <a:bodyPr wrap="none" lIns="0" tIns="0" rIns="0" bIns="0" anchor="t" anchorCtr="0">
              <a:spAutoFit/>
            </a:bodyPr>
            <a:lstStyle/>
            <a:p>
              <a:pPr algn="l"/>
              <a:r>
                <a:rPr lang="zh-CN" sz="975" b="1" dirty="0">
                  <a:solidFill>
                    <a:srgbClr val="2D3748"/>
                  </a:solidFill>
                  <a:latin typeface="Segoe UI" panose="020B0502040204020203"/>
                  <a:ea typeface="微软雅黑" panose="020B0503020204020204" charset="-122"/>
                  <a:cs typeface="Segoe UI" panose="020B0502040204020203"/>
                </a:rPr>
                <a:t>范式：生成（Generation）</a:t>
              </a:r>
              <a:endParaRPr lang="zh-CN" sz="975" b="1" dirty="0">
                <a:solidFill>
                  <a:srgbClr val="2D3748"/>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8369618" y="1780699"/>
              <a:ext cx="1955506"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模型：TrOCR + LoRA + DeepSeek</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8369618" y="1971199"/>
              <a:ext cx="1643467"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准确率：85.2%（全量 921）</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8369618" y="2180749"/>
              <a:ext cx="1975009" cy="198120"/>
            </a:xfrm>
            <a:prstGeom prst="rect">
              <a:avLst/>
            </a:prstGeom>
            <a:noFill/>
            <a:ln>
              <a:noFill/>
            </a:ln>
          </p:spPr>
          <p:txBody>
            <a:bodyPr wrap="none" lIns="0" tIns="0" rIns="0" bIns="0" anchor="t" anchorCtr="0">
              <a:spAutoFit/>
            </a:bodyPr>
            <a:lstStyle/>
            <a:p>
              <a:pPr algn="l"/>
              <a:r>
                <a:rPr lang="zh-CN" sz="975" dirty="0">
                  <a:solidFill>
                    <a:srgbClr val="38A169"/>
                  </a:solidFill>
                  <a:latin typeface="Segoe UI" panose="020B0502040204020203"/>
                  <a:ea typeface="微软雅黑" panose="020B0503020204020204" charset="-122"/>
                  <a:cs typeface="Segoe UI" panose="020B0502040204020203"/>
                </a:rPr>
                <a:t>优势：全量覆盖、可生成任意公式</a:t>
              </a:r>
              <a:endParaRPr lang="zh-CN" sz="975" dirty="0">
                <a:solidFill>
                  <a:srgbClr val="38A169"/>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8369618" y="2371249"/>
              <a:ext cx="1539454" cy="198120"/>
            </a:xfrm>
            <a:prstGeom prst="rect">
              <a:avLst/>
            </a:prstGeom>
            <a:noFill/>
            <a:ln>
              <a:noFill/>
            </a:ln>
          </p:spPr>
          <p:txBody>
            <a:bodyPr wrap="none" lIns="0" tIns="0" rIns="0" bIns="0" anchor="t" anchorCtr="0">
              <a:spAutoFit/>
            </a:bodyPr>
            <a:lstStyle/>
            <a:p>
              <a:pPr algn="l"/>
              <a:r>
                <a:rPr lang="zh-CN" sz="975" dirty="0">
                  <a:solidFill>
                    <a:srgbClr val="E53E3E"/>
                  </a:solidFill>
                  <a:latin typeface="Segoe UI" panose="020B0502040204020203"/>
                  <a:ea typeface="微软雅黑" panose="020B0503020204020204" charset="-122"/>
                  <a:cs typeface="Segoe UI" panose="020B0502040204020203"/>
                </a:rPr>
                <a:t>局限：需要 GPU、API 付费</a:t>
              </a:r>
              <a:endParaRPr lang="zh-CN" sz="975" dirty="0">
                <a:solidFill>
                  <a:srgbClr val="E53E3E"/>
                </a:solidFill>
                <a:latin typeface="Segoe UI" panose="020B0502040204020203"/>
                <a:ea typeface="微软雅黑" panose="020B0503020204020204" charset="-122"/>
                <a:cs typeface="Segoe UI" panose="020B0502040204020203"/>
              </a:endParaRPr>
            </a:p>
          </p:txBody>
        </p:sp>
      </p:grpSp>
      <p:sp>
        <p:nvSpPr>
          <p:cNvPr id="35" name="Rectangle 35"/>
          <p:cNvSpPr/>
          <p:nvPr/>
        </p:nvSpPr>
        <p:spPr>
          <a:xfrm>
            <a:off x="762000" y="3000375"/>
            <a:ext cx="10668000" cy="571500"/>
          </a:xfrm>
          <a:prstGeom prst="roundRect">
            <a:avLst>
              <a:gd name="adj" fmla="val 50000"/>
            </a:avLst>
          </a:prstGeom>
          <a:solidFill>
            <a:srgbClr val="1A365D"/>
          </a:solidFill>
          <a:ln>
            <a:noFill/>
          </a:ln>
        </p:spPr>
      </p:sp>
      <p:sp>
        <p:nvSpPr>
          <p:cNvPr id="36" name="TextBox 36"/>
          <p:cNvSpPr txBox="1"/>
          <p:nvPr/>
        </p:nvSpPr>
        <p:spPr>
          <a:xfrm>
            <a:off x="4963420" y="3108960"/>
            <a:ext cx="2265159"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技术演进：分类 → 检索 → 生成</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5043488" y="3323749"/>
            <a:ext cx="2105025" cy="198120"/>
          </a:xfrm>
          <a:prstGeom prst="rect">
            <a:avLst/>
          </a:prstGeom>
          <a:noFill/>
          <a:ln>
            <a:noFill/>
          </a:ln>
        </p:spPr>
        <p:txBody>
          <a:bodyPr wrap="none" lIns="0" tIns="0" rIns="0" bIns="0" anchor="t" anchorCtr="0">
            <a:spAutoFit/>
          </a:bodyPr>
          <a:lstStyle/>
          <a:p>
            <a:pPr algn="ctr"/>
            <a:r>
              <a:rPr lang="zh-CN" sz="975" dirty="0">
                <a:solidFill>
                  <a:srgbClr val="90CDF4"/>
                </a:solidFill>
                <a:latin typeface="Segoe UI" panose="020B0502040204020203"/>
                <a:ea typeface="微软雅黑" panose="020B0503020204020204" charset="-122"/>
                <a:cs typeface="Segoe UI" panose="020B0502040204020203"/>
              </a:rPr>
              <a:t>每一步都突破了前一范式的根本限制</a:t>
            </a:r>
            <a:endParaRPr lang="zh-CN" sz="975" dirty="0">
              <a:solidFill>
                <a:srgbClr val="90CDF4"/>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746760" y="3823335"/>
            <a:ext cx="1456690" cy="382270"/>
          </a:xfrm>
          <a:prstGeom prst="rect">
            <a:avLst/>
          </a:prstGeom>
          <a:noFill/>
          <a:ln>
            <a:noFill/>
          </a:ln>
        </p:spPr>
        <p:txBody>
          <a:bodyPr wrap="none" lIns="0" tIns="0" rIns="0" bIns="0" anchor="t" anchorCtr="0">
            <a:noAutofit/>
          </a:bodyPr>
          <a:lstStyle/>
          <a:p>
            <a:pPr algn="l"/>
            <a:r>
              <a:rPr lang="zh-CN" sz="1200" b="1" dirty="0">
                <a:solidFill>
                  <a:srgbClr val="2D3748"/>
                </a:solidFill>
                <a:latin typeface="Segoe UI" panose="020B0502040204020203"/>
                <a:ea typeface="微软雅黑" panose="020B0503020204020204" charset="-122"/>
                <a:cs typeface="Segoe UI" panose="020B0502040204020203"/>
              </a:rPr>
              <a:t>算法讲解计划</a:t>
            </a:r>
            <a:endParaRPr lang="zh-CN" sz="1200" b="1" dirty="0">
              <a:solidFill>
                <a:srgbClr val="2D3748"/>
              </a:solidFill>
              <a:latin typeface="Segoe UI" panose="020B0502040204020203"/>
              <a:ea typeface="微软雅黑" panose="020B0503020204020204" charset="-122"/>
              <a:cs typeface="Segoe UI" panose="020B0502040204020203"/>
            </a:endParaRPr>
          </a:p>
        </p:txBody>
      </p:sp>
      <p:grpSp>
        <p:nvGrpSpPr>
          <p:cNvPr id="48" name="Group 48"/>
          <p:cNvGrpSpPr/>
          <p:nvPr/>
        </p:nvGrpSpPr>
        <p:grpSpPr>
          <a:xfrm>
            <a:off x="762000" y="4143375"/>
            <a:ext cx="7093585" cy="2091055"/>
            <a:chOff x="762000" y="4143375"/>
            <a:chExt cx="5057417" cy="1333500"/>
          </a:xfrm>
        </p:grpSpPr>
        <p:sp>
          <p:nvSpPr>
            <p:cNvPr id="39" name="Rectangle 39"/>
            <p:cNvSpPr/>
            <p:nvPr/>
          </p:nvSpPr>
          <p:spPr>
            <a:xfrm>
              <a:off x="762000" y="4143375"/>
              <a:ext cx="1619250" cy="381000"/>
            </a:xfrm>
            <a:prstGeom prst="roundRect">
              <a:avLst>
                <a:gd name="adj" fmla="val 10000"/>
              </a:avLst>
            </a:prstGeom>
            <a:solidFill>
              <a:srgbClr val="EBF8FF"/>
            </a:solidFill>
            <a:ln>
              <a:noFill/>
            </a:ln>
          </p:spPr>
        </p:sp>
        <p:sp>
          <p:nvSpPr>
            <p:cNvPr id="40" name="TextBox 40"/>
            <p:cNvSpPr txBox="1"/>
            <p:nvPr/>
          </p:nvSpPr>
          <p:spPr>
            <a:xfrm>
              <a:off x="1322711" y="4276249"/>
              <a:ext cx="497840" cy="95973"/>
            </a:xfrm>
            <a:prstGeom prst="rect">
              <a:avLst/>
            </a:prstGeom>
            <a:noFill/>
            <a:ln>
              <a:noFill/>
            </a:ln>
          </p:spPr>
          <p:txBody>
            <a:bodyPr wrap="square" lIns="0" tIns="0" rIns="0" bIns="0" anchor="t" anchorCtr="0">
              <a:spAutoFit/>
            </a:bodyPr>
            <a:lstStyle/>
            <a:p>
              <a:pPr algn="ctr"/>
              <a:r>
                <a:rPr lang="zh-CN" sz="975" b="1" dirty="0">
                  <a:solidFill>
                    <a:srgbClr val="3182CE"/>
                  </a:solidFill>
                  <a:latin typeface="Segoe UI" panose="020B0502040204020203"/>
                  <a:ea typeface="微软雅黑" panose="020B0503020204020204" charset="-122"/>
                  <a:cs typeface="Segoe UI" panose="020B0502040204020203"/>
                </a:rPr>
                <a:t>简单</a:t>
              </a:r>
              <a:r>
                <a:rPr lang="zh-CN" sz="975" b="1" dirty="0">
                  <a:solidFill>
                    <a:srgbClr val="3182CE"/>
                  </a:solidFill>
                  <a:latin typeface="Segoe UI" panose="020B0502040204020203"/>
                  <a:ea typeface="微软雅黑" panose="020B0503020204020204" charset="-122"/>
                  <a:cs typeface="Segoe UI" panose="020B0502040204020203"/>
                </a:rPr>
                <a:t>讲述</a:t>
              </a:r>
              <a:endParaRPr lang="zh-CN" sz="975" b="1" dirty="0">
                <a:solidFill>
                  <a:srgbClr val="3182CE"/>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2511742" y="4276249"/>
              <a:ext cx="2163532" cy="95973"/>
            </a:xfrm>
            <a:prstGeom prst="rect">
              <a:avLst/>
            </a:prstGeom>
            <a:noFill/>
            <a:ln>
              <a:noFill/>
            </a:ln>
          </p:spPr>
          <p:txBody>
            <a:bodyPr wrap="squar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HOG / LBP / PCA / SVM（简要回顾）</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42" name="Rectangle 42"/>
            <p:cNvSpPr/>
            <p:nvPr/>
          </p:nvSpPr>
          <p:spPr>
            <a:xfrm>
              <a:off x="762000" y="4619625"/>
              <a:ext cx="1619250" cy="381000"/>
            </a:xfrm>
            <a:prstGeom prst="roundRect">
              <a:avLst>
                <a:gd name="adj" fmla="val 10000"/>
              </a:avLst>
            </a:prstGeom>
            <a:solidFill>
              <a:srgbClr val="FFF5F5"/>
            </a:solidFill>
            <a:ln>
              <a:noFill/>
            </a:ln>
          </p:spPr>
        </p:sp>
        <p:sp>
          <p:nvSpPr>
            <p:cNvPr id="43" name="TextBox 43"/>
            <p:cNvSpPr txBox="1"/>
            <p:nvPr/>
          </p:nvSpPr>
          <p:spPr>
            <a:xfrm>
              <a:off x="1198252" y="4752499"/>
              <a:ext cx="746760" cy="95973"/>
            </a:xfrm>
            <a:prstGeom prst="rect">
              <a:avLst/>
            </a:prstGeom>
            <a:noFill/>
            <a:ln>
              <a:noFill/>
            </a:ln>
          </p:spPr>
          <p:txBody>
            <a:bodyPr wrap="square" lIns="0" tIns="0" rIns="0" bIns="0" anchor="t" anchorCtr="0">
              <a:spAutoFit/>
            </a:bodyPr>
            <a:lstStyle/>
            <a:p>
              <a:pPr algn="ctr"/>
              <a:r>
                <a:rPr lang="zh-CN" sz="975" b="1" dirty="0">
                  <a:solidFill>
                    <a:srgbClr val="E53E3E"/>
                  </a:solidFill>
                  <a:latin typeface="Segoe UI" panose="020B0502040204020203"/>
                  <a:ea typeface="微软雅黑" panose="020B0503020204020204" charset="-122"/>
                  <a:cs typeface="Segoe UI" panose="020B0502040204020203"/>
                </a:rPr>
                <a:t>尝试的</a:t>
              </a:r>
              <a:r>
                <a:rPr lang="zh-CN" sz="975" b="1" dirty="0">
                  <a:solidFill>
                    <a:srgbClr val="E53E3E"/>
                  </a:solidFill>
                  <a:latin typeface="Segoe UI" panose="020B0502040204020203"/>
                  <a:ea typeface="微软雅黑" panose="020B0503020204020204" charset="-122"/>
                  <a:cs typeface="Segoe UI" panose="020B0502040204020203"/>
                </a:rPr>
                <a:t>新方法</a:t>
              </a:r>
              <a:endParaRPr lang="zh-CN" sz="975" b="1" dirty="0">
                <a:solidFill>
                  <a:srgbClr val="E53E3E"/>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2511742" y="4752499"/>
              <a:ext cx="2274046" cy="95973"/>
            </a:xfrm>
            <a:prstGeom prst="rect">
              <a:avLst/>
            </a:prstGeom>
            <a:noFill/>
            <a:ln>
              <a:noFill/>
            </a:ln>
          </p:spPr>
          <p:txBody>
            <a:bodyPr wrap="squar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对比学习 / InfoNCE（讲解+放弃原因）</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45" name="Rectangle 45"/>
            <p:cNvSpPr/>
            <p:nvPr/>
          </p:nvSpPr>
          <p:spPr>
            <a:xfrm>
              <a:off x="762000" y="5095875"/>
              <a:ext cx="1619250" cy="381000"/>
            </a:xfrm>
            <a:prstGeom prst="roundRect">
              <a:avLst>
                <a:gd name="adj" fmla="val 10000"/>
              </a:avLst>
            </a:prstGeom>
            <a:solidFill>
              <a:srgbClr val="F0FFF4"/>
            </a:solidFill>
            <a:ln>
              <a:noFill/>
            </a:ln>
          </p:spPr>
        </p:sp>
        <p:sp>
          <p:nvSpPr>
            <p:cNvPr id="46" name="TextBox 46"/>
            <p:cNvSpPr txBox="1"/>
            <p:nvPr/>
          </p:nvSpPr>
          <p:spPr>
            <a:xfrm>
              <a:off x="1286208" y="5228749"/>
              <a:ext cx="570833" cy="95973"/>
            </a:xfrm>
            <a:prstGeom prst="rect">
              <a:avLst/>
            </a:prstGeom>
            <a:noFill/>
            <a:ln>
              <a:noFill/>
            </a:ln>
          </p:spPr>
          <p:txBody>
            <a:bodyPr wrap="square" lIns="0" tIns="0" rIns="0" bIns="0" anchor="t" anchorCtr="0">
              <a:spAutoFit/>
            </a:bodyPr>
            <a:lstStyle/>
            <a:p>
              <a:pPr algn="ctr"/>
              <a:r>
                <a:rPr lang="zh-CN" sz="975" b="1" dirty="0">
                  <a:solidFill>
                    <a:srgbClr val="38A169"/>
                  </a:solidFill>
                  <a:latin typeface="Segoe UI" panose="020B0502040204020203"/>
                  <a:ea typeface="微软雅黑" panose="020B0503020204020204" charset="-122"/>
                  <a:cs typeface="Segoe UI" panose="020B0502040204020203"/>
                </a:rPr>
                <a:t>核心算法</a:t>
              </a:r>
              <a:endParaRPr lang="zh-CN" sz="975" b="1" dirty="0">
                <a:solidFill>
                  <a:srgbClr val="38A169"/>
                </a:solidFill>
                <a:latin typeface="Segoe UI" panose="020B0502040204020203"/>
                <a:ea typeface="微软雅黑" panose="020B0503020204020204" charset="-122"/>
                <a:cs typeface="Segoe UI" panose="020B0502040204020203"/>
              </a:endParaRPr>
            </a:p>
          </p:txBody>
        </p:sp>
        <p:sp>
          <p:nvSpPr>
            <p:cNvPr id="47" name="TextBox 47"/>
            <p:cNvSpPr txBox="1"/>
            <p:nvPr/>
          </p:nvSpPr>
          <p:spPr>
            <a:xfrm>
              <a:off x="2511742" y="5228749"/>
              <a:ext cx="3307675" cy="95973"/>
            </a:xfrm>
            <a:prstGeom prst="rect">
              <a:avLst/>
            </a:prstGeom>
            <a:noFill/>
            <a:ln>
              <a:noFill/>
            </a:ln>
          </p:spPr>
          <p:txBody>
            <a:bodyPr wrap="squar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Transformer / TrOCR / LoRA / DeepSeek（详细讲解）</a:t>
              </a:r>
              <a:endParaRPr lang="zh-CN" sz="975" dirty="0">
                <a:solidFill>
                  <a:srgbClr val="2D3748"/>
                </a:solidFill>
                <a:latin typeface="Segoe UI" panose="020B0502040204020203"/>
                <a:ea typeface="微软雅黑" panose="020B0503020204020204" charset="-122"/>
                <a:cs typeface="Segoe UI" panose="020B0502040204020203"/>
              </a:endParaRPr>
            </a:p>
          </p:txBody>
        </p:sp>
      </p:grpSp>
      <p:sp>
        <p:nvSpPr>
          <p:cNvPr id="49" name="TextBox 49"/>
          <p:cNvSpPr txBox="1"/>
          <p:nvPr/>
        </p:nvSpPr>
        <p:spPr>
          <a:xfrm>
            <a:off x="11513820" y="6570345"/>
            <a:ext cx="154877" cy="182880"/>
          </a:xfrm>
          <a:prstGeom prst="rect">
            <a:avLst/>
          </a:prstGeom>
          <a:noFill/>
          <a:ln>
            <a:noFill/>
          </a:ln>
        </p:spPr>
        <p:txBody>
          <a:bodyPr wrap="none" lIns="0" tIns="0" rIns="0" bIns="0" anchor="t" anchorCtr="0">
            <a:spAutoFit/>
          </a:bodyPr>
          <a:lstStyle/>
          <a:p>
            <a:pPr algn="l"/>
            <a:r>
              <a:rPr lang="zh-CN" sz="900" dirty="0">
                <a:solidFill>
                  <a:srgbClr val="CBD5E0"/>
                </a:solidFill>
                <a:latin typeface="Consolas" panose="020B0609020204030204"/>
                <a:ea typeface="微软雅黑" panose="020B0503020204020204" charset="-122"/>
                <a:cs typeface="Consolas" panose="020B0609020204030204"/>
              </a:rPr>
              <a:t>08</a:t>
            </a:r>
            <a:endParaRPr lang="zh-CN" sz="900" dirty="0">
              <a:solidFill>
                <a:srgbClr val="CBD5E0"/>
              </a:solidFill>
              <a:latin typeface="Consolas" panose="020B0609020204030204"/>
              <a:ea typeface="微软雅黑" panose="020B0503020204020204" charset="-122"/>
              <a:cs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47625"/>
          </a:xfrm>
          <a:prstGeom prst="rect">
            <a:avLst/>
          </a:prstGeom>
          <a:solidFill>
            <a:srgbClr val="3182CE"/>
          </a:solidFill>
          <a:ln>
            <a:noFill/>
          </a:ln>
        </p:spPr>
      </p:sp>
      <p:sp>
        <p:nvSpPr>
          <p:cNvPr id="4" name="Rectangle 4"/>
          <p:cNvSpPr/>
          <p:nvPr/>
        </p:nvSpPr>
        <p:spPr>
          <a:xfrm>
            <a:off x="762000" y="476250"/>
            <a:ext cx="571500" cy="285750"/>
          </a:xfrm>
          <a:prstGeom prst="roundRect">
            <a:avLst>
              <a:gd name="adj" fmla="val 13333"/>
            </a:avLst>
          </a:prstGeom>
          <a:solidFill>
            <a:srgbClr val="3182CE"/>
          </a:solidFill>
          <a:ln>
            <a:noFill/>
          </a:ln>
        </p:spPr>
      </p:sp>
      <p:sp>
        <p:nvSpPr>
          <p:cNvPr id="5" name="TextBox 5"/>
          <p:cNvSpPr txBox="1"/>
          <p:nvPr/>
        </p:nvSpPr>
        <p:spPr>
          <a:xfrm>
            <a:off x="898850" y="561499"/>
            <a:ext cx="29779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panose="020B0502040204020203"/>
                <a:ea typeface="微软雅黑" panose="020B0503020204020204" charset="-122"/>
                <a:cs typeface="Segoe UI" panose="020B0502040204020203"/>
              </a:rPr>
              <a:t>传统</a:t>
            </a:r>
            <a:endParaRPr lang="zh-CN" sz="975" b="1" dirty="0">
              <a:solidFill>
                <a:srgbClr val="FFFFFF"/>
              </a:solidFill>
              <a:latin typeface="Segoe UI" panose="020B0502040204020203"/>
              <a:ea typeface="微软雅黑" panose="020B0503020204020204" charset="-122"/>
              <a:cs typeface="Segoe UI" panose="020B0502040204020203"/>
            </a:endParaRPr>
          </a:p>
        </p:txBody>
      </p:sp>
      <p:sp>
        <p:nvSpPr>
          <p:cNvPr id="6" name="TextBox 6"/>
          <p:cNvSpPr txBox="1"/>
          <p:nvPr/>
        </p:nvSpPr>
        <p:spPr>
          <a:xfrm>
            <a:off x="1457325" y="504825"/>
            <a:ext cx="3631565" cy="230505"/>
          </a:xfrm>
          <a:prstGeom prst="rect">
            <a:avLst/>
          </a:prstGeom>
          <a:noFill/>
          <a:ln>
            <a:noFill/>
          </a:ln>
        </p:spPr>
        <p:txBody>
          <a:bodyPr wrap="none" lIns="0" tIns="0" rIns="0" bIns="0" anchor="t" anchorCtr="0">
            <a:spAutoFit/>
          </a:bodyPr>
          <a:lstStyle/>
          <a:p>
            <a:pPr algn="l"/>
            <a:r>
              <a:rPr lang="zh-CN" sz="1500" b="1" dirty="0">
                <a:solidFill>
                  <a:srgbClr val="2D3748"/>
                </a:solidFill>
                <a:latin typeface="Segoe UI" panose="020B0502040204020203"/>
                <a:ea typeface="微软雅黑" panose="020B0503020204020204" charset="-122"/>
                <a:cs typeface="Segoe UI" panose="020B0502040204020203"/>
              </a:rPr>
              <a:t>模型建立 — HOG 方向梯度直方图（简要）</a:t>
            </a:r>
            <a:endParaRPr lang="zh-CN" sz="1500" b="1" dirty="0">
              <a:solidFill>
                <a:srgbClr val="2D3748"/>
              </a:solidFill>
              <a:latin typeface="Segoe UI" panose="020B0502040204020203"/>
              <a:ea typeface="微软雅黑" panose="020B0503020204020204" charset="-122"/>
              <a:cs typeface="Segoe UI" panose="020B0502040204020203"/>
            </a:endParaRPr>
          </a:p>
        </p:txBody>
      </p:sp>
      <p:sp>
        <p:nvSpPr>
          <p:cNvPr id="7" name="Line 7"/>
          <p:cNvSpPr/>
          <p:nvPr/>
        </p:nvSpPr>
        <p:spPr>
          <a:xfrm>
            <a:off x="762000" y="904875"/>
            <a:ext cx="10668000" cy="9525"/>
          </a:xfrm>
          <a:custGeom>
            <a:avLst/>
            <a:gdLst/>
            <a:ahLst/>
            <a:cxnLst/>
            <a:rect l="l" t="t" r="r" b="b"/>
            <a:pathLst>
              <a:path w="10668000" h="9525">
                <a:moveTo>
                  <a:pt x="0" y="0"/>
                </a:moveTo>
                <a:lnTo>
                  <a:pt x="10668000" y="0"/>
                </a:lnTo>
              </a:path>
            </a:pathLst>
          </a:custGeom>
          <a:noFill/>
          <a:ln w="9525">
            <a:solidFill>
              <a:srgbClr val="E2E8F0"/>
            </a:solidFill>
          </a:ln>
        </p:spPr>
      </p:sp>
      <p:sp>
        <p:nvSpPr>
          <p:cNvPr id="8" name="Rectangle 8"/>
          <p:cNvSpPr/>
          <p:nvPr/>
        </p:nvSpPr>
        <p:spPr>
          <a:xfrm>
            <a:off x="762000" y="1143000"/>
            <a:ext cx="5143500" cy="1809750"/>
          </a:xfrm>
          <a:prstGeom prst="roundRect">
            <a:avLst>
              <a:gd name="adj" fmla="val 3158"/>
            </a:avLst>
          </a:prstGeom>
          <a:solidFill>
            <a:srgbClr val="EBF8FF"/>
          </a:solidFill>
          <a:ln>
            <a:noFill/>
          </a:ln>
        </p:spPr>
      </p:sp>
      <p:sp>
        <p:nvSpPr>
          <p:cNvPr id="9" name="TextBox 9"/>
          <p:cNvSpPr txBox="1"/>
          <p:nvPr/>
        </p:nvSpPr>
        <p:spPr>
          <a:xfrm>
            <a:off x="2992609" y="1288256"/>
            <a:ext cx="682282" cy="228600"/>
          </a:xfrm>
          <a:prstGeom prst="rect">
            <a:avLst/>
          </a:prstGeom>
          <a:noFill/>
          <a:ln>
            <a:noFill/>
          </a:ln>
        </p:spPr>
        <p:txBody>
          <a:bodyPr wrap="none" lIns="0" tIns="0" rIns="0" bIns="0" anchor="t" anchorCtr="0">
            <a:spAutoFit/>
          </a:bodyPr>
          <a:lstStyle/>
          <a:p>
            <a:pPr algn="ctr"/>
            <a:r>
              <a:rPr lang="zh-CN" sz="1125" b="1" dirty="0">
                <a:solidFill>
                  <a:srgbClr val="3182CE"/>
                </a:solidFill>
                <a:latin typeface="Segoe UI" panose="020B0502040204020203"/>
                <a:ea typeface="微软雅黑" panose="020B0503020204020204" charset="-122"/>
                <a:cs typeface="Segoe UI" panose="020B0502040204020203"/>
              </a:rPr>
              <a:t>HOG 原理</a:t>
            </a:r>
            <a:endParaRPr lang="zh-CN" sz="1125" b="1" dirty="0">
              <a:solidFill>
                <a:srgbClr val="3182CE"/>
              </a:solidFill>
              <a:latin typeface="Segoe UI" panose="020B0502040204020203"/>
              <a:ea typeface="微软雅黑" panose="020B0503020204020204" charset="-122"/>
              <a:cs typeface="Segoe UI" panose="020B0502040204020203"/>
            </a:endParaRPr>
          </a:p>
        </p:txBody>
      </p:sp>
      <p:grpSp>
        <p:nvGrpSpPr>
          <p:cNvPr id="16" name="Group 16"/>
          <p:cNvGrpSpPr/>
          <p:nvPr/>
        </p:nvGrpSpPr>
        <p:grpSpPr>
          <a:xfrm>
            <a:off x="1034415" y="1553528"/>
            <a:ext cx="2280952" cy="1349216"/>
            <a:chOff x="1034415" y="1553528"/>
            <a:chExt cx="2280952" cy="1349216"/>
          </a:xfrm>
        </p:grpSpPr>
        <p:sp>
          <p:nvSpPr>
            <p:cNvPr id="10" name="TextBox 10"/>
            <p:cNvSpPr txBox="1"/>
            <p:nvPr/>
          </p:nvSpPr>
          <p:spPr>
            <a:xfrm>
              <a:off x="1034415" y="1553528"/>
              <a:ext cx="2245947"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 统计图像局部区域的梯度方向分布</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11" name="TextBox 11"/>
            <p:cNvSpPr txBox="1"/>
            <p:nvPr/>
          </p:nvSpPr>
          <p:spPr>
            <a:xfrm>
              <a:off x="1034415" y="1772602"/>
              <a:ext cx="2280952"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 将图像划分为 cell（如 8×8 像素）</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1034415" y="1991678"/>
              <a:ext cx="2028920"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 每个 cell 统计 9 个方向直方图</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034415" y="2210752"/>
              <a:ext cx="2161937"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 相邻 cell 组成 block 进行归一化</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034415" y="2429828"/>
              <a:ext cx="1818894"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 串联所有 block → 特征向量</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1035368" y="2704624"/>
              <a:ext cx="1864495" cy="198120"/>
            </a:xfrm>
            <a:prstGeom prst="rect">
              <a:avLst/>
            </a:prstGeom>
            <a:noFill/>
            <a:ln>
              <a:noFill/>
            </a:ln>
          </p:spPr>
          <p:txBody>
            <a:bodyPr wrap="none" lIns="0" tIns="0" rIns="0" bIns="0" anchor="t" anchorCtr="0">
              <a:spAutoFit/>
            </a:bodyPr>
            <a:lstStyle/>
            <a:p>
              <a:pPr algn="l"/>
              <a:r>
                <a:rPr lang="zh-CN" sz="975" dirty="0">
                  <a:solidFill>
                    <a:srgbClr val="718096"/>
                  </a:solidFill>
                  <a:latin typeface="Segoe UI" panose="020B0502040204020203"/>
                  <a:ea typeface="微软雅黑" panose="020B0503020204020204" charset="-122"/>
                  <a:cs typeface="Segoe UI" panose="020B0502040204020203"/>
                </a:rPr>
                <a:t>HOG 对边缘方向和形状轮廓敏感</a:t>
              </a:r>
              <a:endParaRPr lang="zh-CN" sz="975" dirty="0">
                <a:solidFill>
                  <a:srgbClr val="718096"/>
                </a:solidFill>
                <a:latin typeface="Segoe UI" panose="020B0502040204020203"/>
                <a:ea typeface="微软雅黑" panose="020B0503020204020204" charset="-122"/>
                <a:cs typeface="Segoe UI" panose="020B0502040204020203"/>
              </a:endParaRPr>
            </a:p>
          </p:txBody>
        </p:sp>
      </p:grpSp>
      <p:sp>
        <p:nvSpPr>
          <p:cNvPr id="17" name="Rectangle 17"/>
          <p:cNvSpPr/>
          <p:nvPr/>
        </p:nvSpPr>
        <p:spPr>
          <a:xfrm>
            <a:off x="6191250" y="1143000"/>
            <a:ext cx="5238750" cy="1809750"/>
          </a:xfrm>
          <a:prstGeom prst="roundRect">
            <a:avLst>
              <a:gd name="adj" fmla="val 3158"/>
            </a:avLst>
          </a:prstGeom>
          <a:solidFill>
            <a:srgbClr val="EBF8FF"/>
          </a:solidFill>
          <a:ln>
            <a:noFill/>
          </a:ln>
        </p:spPr>
      </p:sp>
      <p:sp>
        <p:nvSpPr>
          <p:cNvPr id="18" name="TextBox 18"/>
          <p:cNvSpPr txBox="1"/>
          <p:nvPr/>
        </p:nvSpPr>
        <p:spPr>
          <a:xfrm>
            <a:off x="8245019" y="1288256"/>
            <a:ext cx="1131213" cy="228600"/>
          </a:xfrm>
          <a:prstGeom prst="rect">
            <a:avLst/>
          </a:prstGeom>
          <a:noFill/>
          <a:ln>
            <a:noFill/>
          </a:ln>
        </p:spPr>
        <p:txBody>
          <a:bodyPr wrap="none" lIns="0" tIns="0" rIns="0" bIns="0" anchor="t" anchorCtr="0">
            <a:spAutoFit/>
          </a:bodyPr>
          <a:lstStyle/>
          <a:p>
            <a:pPr algn="ctr"/>
            <a:r>
              <a:rPr lang="zh-CN" sz="1125" b="1" dirty="0">
                <a:solidFill>
                  <a:srgbClr val="3182CE"/>
                </a:solidFill>
                <a:latin typeface="Segoe UI" panose="020B0502040204020203"/>
                <a:ea typeface="微软雅黑" panose="020B0503020204020204" charset="-122"/>
                <a:cs typeface="Segoe UI" panose="020B0502040204020203"/>
              </a:rPr>
              <a:t>项目中如何应用</a:t>
            </a:r>
            <a:endParaRPr lang="zh-CN" sz="1125" b="1" dirty="0">
              <a:solidFill>
                <a:srgbClr val="3182CE"/>
              </a:solidFill>
              <a:latin typeface="Segoe UI" panose="020B0502040204020203"/>
              <a:ea typeface="微软雅黑" panose="020B0503020204020204" charset="-122"/>
              <a:cs typeface="Segoe UI" panose="020B0502040204020203"/>
            </a:endParaRPr>
          </a:p>
        </p:txBody>
      </p:sp>
      <p:grpSp>
        <p:nvGrpSpPr>
          <p:cNvPr id="26" name="Group 26"/>
          <p:cNvGrpSpPr/>
          <p:nvPr/>
        </p:nvGrpSpPr>
        <p:grpSpPr>
          <a:xfrm>
            <a:off x="6463665" y="1553528"/>
            <a:ext cx="3604078" cy="1442084"/>
            <a:chOff x="6463665" y="1553528"/>
            <a:chExt cx="3604078" cy="1442084"/>
          </a:xfrm>
        </p:grpSpPr>
        <p:sp>
          <p:nvSpPr>
            <p:cNvPr id="19" name="TextBox 19"/>
            <p:cNvSpPr txBox="1"/>
            <p:nvPr/>
          </p:nvSpPr>
          <p:spPr>
            <a:xfrm>
              <a:off x="6463665" y="1553528"/>
              <a:ext cx="614744" cy="213360"/>
            </a:xfrm>
            <a:prstGeom prst="rect">
              <a:avLst/>
            </a:prstGeom>
            <a:noFill/>
            <a:ln>
              <a:noFill/>
            </a:ln>
          </p:spPr>
          <p:txBody>
            <a:bodyPr wrap="none" lIns="0" tIns="0" rIns="0" bIns="0" anchor="t" anchorCtr="0">
              <a:spAutoFit/>
            </a:bodyPr>
            <a:lstStyle/>
            <a:p>
              <a:pPr algn="l"/>
              <a:r>
                <a:rPr lang="zh-CN" sz="1050" b="1" dirty="0">
                  <a:solidFill>
                    <a:srgbClr val="2D3748"/>
                  </a:solidFill>
                  <a:latin typeface="Segoe UI" panose="020B0502040204020203"/>
                  <a:ea typeface="微软雅黑" panose="020B0503020204020204" charset="-122"/>
                  <a:cs typeface="Segoe UI" panose="020B0502040204020203"/>
                </a:rPr>
                <a:t>参数配置</a:t>
              </a:r>
              <a:endParaRPr lang="zh-CN" sz="1050" b="1" dirty="0">
                <a:solidFill>
                  <a:srgbClr val="2D3748"/>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6463665" y="1772602"/>
              <a:ext cx="2658999"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orientations=9, ppc=(8,8), cpb=(2,2)</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6463665" y="2058352"/>
              <a:ext cx="908780" cy="213360"/>
            </a:xfrm>
            <a:prstGeom prst="rect">
              <a:avLst/>
            </a:prstGeom>
            <a:noFill/>
            <a:ln>
              <a:noFill/>
            </a:ln>
          </p:spPr>
          <p:txBody>
            <a:bodyPr wrap="none" lIns="0" tIns="0" rIns="0" bIns="0" anchor="t" anchorCtr="0">
              <a:spAutoFit/>
            </a:bodyPr>
            <a:lstStyle/>
            <a:p>
              <a:pPr algn="l"/>
              <a:r>
                <a:rPr lang="zh-CN" sz="1050" b="1" dirty="0">
                  <a:solidFill>
                    <a:srgbClr val="2D3748"/>
                  </a:solidFill>
                  <a:latin typeface="Segoe UI" panose="020B0502040204020203"/>
                  <a:ea typeface="微软雅黑" panose="020B0503020204020204" charset="-122"/>
                  <a:cs typeface="Segoe UI" panose="020B0502040204020203"/>
                </a:rPr>
                <a:t>特征维度计算</a:t>
              </a:r>
              <a:endParaRPr lang="zh-CN" sz="1050" b="1" dirty="0">
                <a:solidFill>
                  <a:srgbClr val="2D3748"/>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6463665" y="2277428"/>
              <a:ext cx="1818894"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48×48 图像 → 6×6=36 个 cell</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6463665" y="2496502"/>
              <a:ext cx="1839897"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(6-1)×(6-1)×(9×4) = 900 维</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6463665" y="2782252"/>
              <a:ext cx="1077851" cy="213360"/>
            </a:xfrm>
            <a:prstGeom prst="rect">
              <a:avLst/>
            </a:prstGeom>
            <a:noFill/>
            <a:ln>
              <a:noFill/>
            </a:ln>
          </p:spPr>
          <p:txBody>
            <a:bodyPr wrap="none" lIns="0" tIns="0" rIns="0" bIns="0" anchor="t" anchorCtr="0">
              <a:spAutoFit/>
            </a:bodyPr>
            <a:lstStyle/>
            <a:p>
              <a:pPr algn="l"/>
              <a:r>
                <a:rPr lang="zh-CN" sz="1050" b="1" dirty="0">
                  <a:solidFill>
                    <a:srgbClr val="38A169"/>
                  </a:solidFill>
                  <a:latin typeface="Segoe UI" panose="020B0502040204020203"/>
                  <a:ea typeface="微软雅黑" panose="020B0503020204020204" charset="-122"/>
                  <a:cs typeface="Segoe UI" panose="020B0502040204020203"/>
                </a:rPr>
                <a:t>为什么用 HOG？</a:t>
              </a:r>
              <a:endParaRPr lang="zh-CN" sz="1050" b="1" dirty="0">
                <a:solidFill>
                  <a:srgbClr val="38A169"/>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7683183" y="2746534"/>
              <a:ext cx="2384560"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手写笔画有明确边缘方向，HOG 天然适合</a:t>
              </a:r>
              <a:endParaRPr lang="zh-CN" sz="975" dirty="0">
                <a:solidFill>
                  <a:srgbClr val="4A5568"/>
                </a:solidFill>
                <a:latin typeface="Segoe UI" panose="020B0502040204020203"/>
                <a:ea typeface="微软雅黑" panose="020B0503020204020204" charset="-122"/>
                <a:cs typeface="Segoe UI" panose="020B0502040204020203"/>
              </a:endParaRPr>
            </a:p>
          </p:txBody>
        </p:sp>
      </p:grpSp>
      <p:sp>
        <p:nvSpPr>
          <p:cNvPr id="27" name="Rectangle 27"/>
          <p:cNvSpPr/>
          <p:nvPr/>
        </p:nvSpPr>
        <p:spPr>
          <a:xfrm>
            <a:off x="762000" y="3190875"/>
            <a:ext cx="10668000" cy="1047750"/>
          </a:xfrm>
          <a:prstGeom prst="roundRect">
            <a:avLst>
              <a:gd name="adj" fmla="val 5455"/>
            </a:avLst>
          </a:prstGeom>
          <a:solidFill>
            <a:srgbClr val="2D3748"/>
          </a:solidFill>
          <a:ln>
            <a:noFill/>
          </a:ln>
        </p:spPr>
      </p:sp>
      <p:sp>
        <p:nvSpPr>
          <p:cNvPr id="28" name="TextBox 28"/>
          <p:cNvSpPr txBox="1"/>
          <p:nvPr/>
        </p:nvSpPr>
        <p:spPr>
          <a:xfrm>
            <a:off x="5609153" y="3355181"/>
            <a:ext cx="97369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panose="020B0502040204020203"/>
                <a:ea typeface="微软雅黑" panose="020B0503020204020204" charset="-122"/>
                <a:cs typeface="Segoe UI" panose="020B0502040204020203"/>
              </a:rPr>
              <a:t>特征提取流程</a:t>
            </a:r>
            <a:endParaRPr lang="zh-CN" sz="1125" b="1" dirty="0">
              <a:solidFill>
                <a:srgbClr val="FFFFFF"/>
              </a:solidFill>
              <a:latin typeface="Segoe UI" panose="020B0502040204020203"/>
              <a:ea typeface="微软雅黑" panose="020B0503020204020204" charset="-122"/>
              <a:cs typeface="Segoe UI" panose="020B0502040204020203"/>
            </a:endParaRPr>
          </a:p>
        </p:txBody>
      </p:sp>
      <p:grpSp>
        <p:nvGrpSpPr>
          <p:cNvPr id="31" name="Group 31"/>
          <p:cNvGrpSpPr/>
          <p:nvPr/>
        </p:nvGrpSpPr>
        <p:grpSpPr>
          <a:xfrm>
            <a:off x="3522297" y="3628549"/>
            <a:ext cx="5147405" cy="464820"/>
            <a:chOff x="3522297" y="3628549"/>
            <a:chExt cx="5147405" cy="464820"/>
          </a:xfrm>
        </p:grpSpPr>
        <p:sp>
          <p:nvSpPr>
            <p:cNvPr id="29" name="TextBox 29"/>
            <p:cNvSpPr txBox="1"/>
            <p:nvPr/>
          </p:nvSpPr>
          <p:spPr>
            <a:xfrm>
              <a:off x="3522297" y="3628549"/>
              <a:ext cx="5147405" cy="198120"/>
            </a:xfrm>
            <a:prstGeom prst="rect">
              <a:avLst/>
            </a:prstGeom>
            <a:noFill/>
            <a:ln>
              <a:noFill/>
            </a:ln>
          </p:spPr>
          <p:txBody>
            <a:bodyPr wrap="none" lIns="0" tIns="0" rIns="0" bIns="0" anchor="t" anchorCtr="0">
              <a:spAutoFit/>
            </a:bodyPr>
            <a:lstStyle/>
            <a:p>
              <a:pPr algn="ctr"/>
              <a:r>
                <a:rPr lang="zh-CN" sz="975" dirty="0">
                  <a:solidFill>
                    <a:srgbClr val="90CDF4"/>
                  </a:solidFill>
                  <a:latin typeface="Segoe UI" panose="020B0502040204020203"/>
                  <a:ea typeface="微软雅黑" panose="020B0503020204020204" charset="-122"/>
                  <a:cs typeface="Segoe UI" panose="020B0502040204020203"/>
                </a:rPr>
                <a:t>48×48 灰度图 ⟶ 计算梯度幅值和方向 ⟶ Cell 直方图统计 ⟶ Block 归一化 ⟶ 900 维特征向量</a:t>
              </a:r>
              <a:endParaRPr lang="zh-CN" sz="975" dirty="0">
                <a:solidFill>
                  <a:srgbClr val="90CDF4"/>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4549426" y="3895249"/>
              <a:ext cx="3093149" cy="198120"/>
            </a:xfrm>
            <a:prstGeom prst="rect">
              <a:avLst/>
            </a:prstGeom>
            <a:noFill/>
            <a:ln>
              <a:noFill/>
            </a:ln>
          </p:spPr>
          <p:txBody>
            <a:bodyPr wrap="none" lIns="0" tIns="0" rIns="0" bIns="0" anchor="t" anchorCtr="0">
              <a:spAutoFit/>
            </a:bodyPr>
            <a:lstStyle/>
            <a:p>
              <a:pPr algn="ctr"/>
              <a:r>
                <a:rPr lang="zh-CN" sz="975" dirty="0">
                  <a:solidFill>
                    <a:srgbClr val="A0AEC0"/>
                  </a:solidFill>
                  <a:latin typeface="Segoe UI" panose="020B0502040204020203"/>
                  <a:ea typeface="微软雅黑" panose="020B0503020204020204" charset="-122"/>
                  <a:cs typeface="Segoe UI" panose="020B0502040204020203"/>
                </a:rPr>
                <a:t>将 2,304 个像素值转化为 900 维结构化形状特征描述</a:t>
              </a:r>
              <a:endParaRPr lang="zh-CN" sz="975" dirty="0">
                <a:solidFill>
                  <a:srgbClr val="A0AEC0"/>
                </a:solidFill>
                <a:latin typeface="Segoe UI" panose="020B0502040204020203"/>
                <a:ea typeface="微软雅黑" panose="020B0503020204020204" charset="-122"/>
                <a:cs typeface="Segoe UI" panose="020B0502040204020203"/>
              </a:endParaRPr>
            </a:p>
          </p:txBody>
        </p:sp>
      </p:grpSp>
      <p:sp>
        <p:nvSpPr>
          <p:cNvPr id="32" name="TextBox 32"/>
          <p:cNvSpPr txBox="1"/>
          <p:nvPr/>
        </p:nvSpPr>
        <p:spPr>
          <a:xfrm>
            <a:off x="11513820" y="6570345"/>
            <a:ext cx="154877" cy="182880"/>
          </a:xfrm>
          <a:prstGeom prst="rect">
            <a:avLst/>
          </a:prstGeom>
          <a:noFill/>
          <a:ln>
            <a:noFill/>
          </a:ln>
        </p:spPr>
        <p:txBody>
          <a:bodyPr wrap="none" lIns="0" tIns="0" rIns="0" bIns="0" anchor="t" anchorCtr="0">
            <a:spAutoFit/>
          </a:bodyPr>
          <a:lstStyle/>
          <a:p>
            <a:pPr algn="l"/>
            <a:r>
              <a:rPr lang="zh-CN" sz="900" dirty="0">
                <a:solidFill>
                  <a:srgbClr val="CBD5E0"/>
                </a:solidFill>
                <a:latin typeface="Consolas" panose="020B0609020204030204"/>
                <a:ea typeface="微软雅黑" panose="020B0503020204020204" charset="-122"/>
                <a:cs typeface="Consolas" panose="020B0609020204030204"/>
              </a:rPr>
              <a:t>09</a:t>
            </a:r>
            <a:endParaRPr lang="zh-CN" sz="900" dirty="0">
              <a:solidFill>
                <a:srgbClr val="CBD5E0"/>
              </a:solidFill>
              <a:latin typeface="Consolas" panose="020B0609020204030204"/>
              <a:ea typeface="微软雅黑" panose="020B0503020204020204" charset="-122"/>
              <a:cs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47625"/>
          </a:xfrm>
          <a:prstGeom prst="rect">
            <a:avLst/>
          </a:prstGeom>
          <a:solidFill>
            <a:srgbClr val="3182CE"/>
          </a:solidFill>
          <a:ln>
            <a:noFill/>
          </a:ln>
        </p:spPr>
      </p:sp>
      <p:sp>
        <p:nvSpPr>
          <p:cNvPr id="4" name="Rectangle 4"/>
          <p:cNvSpPr/>
          <p:nvPr/>
        </p:nvSpPr>
        <p:spPr>
          <a:xfrm>
            <a:off x="762000" y="476250"/>
            <a:ext cx="571500" cy="285750"/>
          </a:xfrm>
          <a:prstGeom prst="roundRect">
            <a:avLst>
              <a:gd name="adj" fmla="val 13333"/>
            </a:avLst>
          </a:prstGeom>
          <a:solidFill>
            <a:srgbClr val="3182CE"/>
          </a:solidFill>
          <a:ln>
            <a:noFill/>
          </a:ln>
        </p:spPr>
      </p:sp>
      <p:sp>
        <p:nvSpPr>
          <p:cNvPr id="5" name="TextBox 5"/>
          <p:cNvSpPr txBox="1"/>
          <p:nvPr/>
        </p:nvSpPr>
        <p:spPr>
          <a:xfrm>
            <a:off x="910590" y="561499"/>
            <a:ext cx="274320" cy="165735"/>
          </a:xfrm>
          <a:prstGeom prst="rect">
            <a:avLst/>
          </a:prstGeom>
          <a:noFill/>
          <a:ln>
            <a:noFill/>
          </a:ln>
        </p:spPr>
        <p:txBody>
          <a:bodyPr wrap="none" lIns="0" tIns="0" rIns="0" bIns="0" anchor="t" anchorCtr="0">
            <a:spAutoFit/>
          </a:bodyPr>
          <a:lstStyle/>
          <a:p>
            <a:pPr algn="ctr"/>
            <a:r>
              <a:rPr lang="zh-CN" sz="1080" b="1" dirty="0">
                <a:solidFill>
                  <a:srgbClr val="FFFFFF"/>
                </a:solidFill>
                <a:latin typeface="Segoe UI" panose="020B0502040204020203"/>
                <a:ea typeface="微软雅黑" panose="020B0503020204020204" charset="-122"/>
                <a:cs typeface="Segoe UI" panose="020B0502040204020203"/>
              </a:rPr>
              <a:t>传统</a:t>
            </a:r>
            <a:endParaRPr lang="zh-CN" sz="1080" b="1" dirty="0">
              <a:solidFill>
                <a:srgbClr val="FFFFFF"/>
              </a:solidFill>
              <a:latin typeface="Segoe UI" panose="020B0502040204020203"/>
              <a:ea typeface="微软雅黑" panose="020B0503020204020204" charset="-122"/>
              <a:cs typeface="Segoe UI" panose="020B0502040204020203"/>
            </a:endParaRPr>
          </a:p>
        </p:txBody>
      </p:sp>
      <p:sp>
        <p:nvSpPr>
          <p:cNvPr id="6" name="TextBox 6"/>
          <p:cNvSpPr txBox="1"/>
          <p:nvPr/>
        </p:nvSpPr>
        <p:spPr>
          <a:xfrm>
            <a:off x="1457325" y="504825"/>
            <a:ext cx="3648710" cy="245745"/>
          </a:xfrm>
          <a:prstGeom prst="rect">
            <a:avLst/>
          </a:prstGeom>
          <a:noFill/>
          <a:ln>
            <a:noFill/>
          </a:ln>
        </p:spPr>
        <p:txBody>
          <a:bodyPr wrap="none" lIns="0" tIns="0" rIns="0" bIns="0" anchor="t" anchorCtr="0">
            <a:spAutoFit/>
          </a:bodyPr>
          <a:lstStyle/>
          <a:p>
            <a:pPr algn="l"/>
            <a:r>
              <a:rPr lang="zh-CN" sz="1600" b="1" dirty="0">
                <a:solidFill>
                  <a:srgbClr val="2D3748"/>
                </a:solidFill>
                <a:latin typeface="Segoe UI" panose="020B0502040204020203"/>
                <a:ea typeface="微软雅黑" panose="020B0503020204020204" charset="-122"/>
                <a:cs typeface="Segoe UI" panose="020B0502040204020203"/>
              </a:rPr>
              <a:t>模型建立 — LBP + PCA + SVM（简要）</a:t>
            </a:r>
            <a:endParaRPr lang="zh-CN" sz="1600" b="1" dirty="0">
              <a:solidFill>
                <a:srgbClr val="2D3748"/>
              </a:solidFill>
              <a:latin typeface="Segoe UI" panose="020B0502040204020203"/>
              <a:ea typeface="微软雅黑" panose="020B0503020204020204" charset="-122"/>
              <a:cs typeface="Segoe UI" panose="020B0502040204020203"/>
            </a:endParaRPr>
          </a:p>
        </p:txBody>
      </p:sp>
      <p:sp>
        <p:nvSpPr>
          <p:cNvPr id="7" name="Line 7"/>
          <p:cNvSpPr/>
          <p:nvPr/>
        </p:nvSpPr>
        <p:spPr>
          <a:xfrm>
            <a:off x="762000" y="904875"/>
            <a:ext cx="10668000" cy="9525"/>
          </a:xfrm>
          <a:custGeom>
            <a:avLst/>
            <a:gdLst/>
            <a:ahLst/>
            <a:cxnLst/>
            <a:rect l="l" t="t" r="r" b="b"/>
            <a:pathLst>
              <a:path w="10668000" h="9525">
                <a:moveTo>
                  <a:pt x="0" y="0"/>
                </a:moveTo>
                <a:lnTo>
                  <a:pt x="10668000" y="0"/>
                </a:lnTo>
              </a:path>
            </a:pathLst>
          </a:custGeom>
          <a:noFill/>
          <a:ln w="9525">
            <a:solidFill>
              <a:srgbClr val="E2E8F0"/>
            </a:solidFill>
          </a:ln>
        </p:spPr>
      </p:sp>
      <p:sp>
        <p:nvSpPr>
          <p:cNvPr id="8" name="Rectangle 8"/>
          <p:cNvSpPr/>
          <p:nvPr/>
        </p:nvSpPr>
        <p:spPr>
          <a:xfrm>
            <a:off x="762000" y="1143000"/>
            <a:ext cx="3333750" cy="1524000"/>
          </a:xfrm>
          <a:prstGeom prst="roundRect">
            <a:avLst>
              <a:gd name="adj" fmla="val 3750"/>
            </a:avLst>
          </a:prstGeom>
          <a:solidFill>
            <a:srgbClr val="EBF8FF"/>
          </a:solidFill>
          <a:ln>
            <a:noFill/>
          </a:ln>
        </p:spPr>
      </p:sp>
      <p:sp>
        <p:nvSpPr>
          <p:cNvPr id="9" name="TextBox 9"/>
          <p:cNvSpPr txBox="1"/>
          <p:nvPr/>
        </p:nvSpPr>
        <p:spPr>
          <a:xfrm>
            <a:off x="1816100" y="1296352"/>
            <a:ext cx="1225550" cy="184150"/>
          </a:xfrm>
          <a:prstGeom prst="rect">
            <a:avLst/>
          </a:prstGeom>
          <a:noFill/>
          <a:ln>
            <a:noFill/>
          </a:ln>
        </p:spPr>
        <p:txBody>
          <a:bodyPr wrap="none" lIns="0" tIns="0" rIns="0" bIns="0" anchor="t" anchorCtr="0">
            <a:spAutoFit/>
          </a:bodyPr>
          <a:lstStyle/>
          <a:p>
            <a:pPr algn="ctr"/>
            <a:r>
              <a:rPr lang="zh-CN" sz="1200" b="1" dirty="0">
                <a:solidFill>
                  <a:srgbClr val="3182CE"/>
                </a:solidFill>
                <a:latin typeface="Segoe UI" panose="020B0502040204020203"/>
                <a:ea typeface="微软雅黑" panose="020B0503020204020204" charset="-122"/>
                <a:cs typeface="Segoe UI" panose="020B0502040204020203"/>
              </a:rPr>
              <a:t>LBP 局部二值模式</a:t>
            </a:r>
            <a:endParaRPr lang="zh-CN" sz="1200" b="1" dirty="0">
              <a:solidFill>
                <a:srgbClr val="3182CE"/>
              </a:solidFill>
              <a:latin typeface="Segoe UI" panose="020B0502040204020203"/>
              <a:ea typeface="微软雅黑" panose="020B0503020204020204" charset="-122"/>
              <a:cs typeface="Segoe UI" panose="020B0502040204020203"/>
            </a:endParaRPr>
          </a:p>
        </p:txBody>
      </p:sp>
      <p:grpSp>
        <p:nvGrpSpPr>
          <p:cNvPr id="15" name="Group 15"/>
          <p:cNvGrpSpPr/>
          <p:nvPr/>
        </p:nvGrpSpPr>
        <p:grpSpPr>
          <a:xfrm>
            <a:off x="940118" y="1561624"/>
            <a:ext cx="1739265" cy="975360"/>
            <a:chOff x="940118" y="1561624"/>
            <a:chExt cx="1739265" cy="975360"/>
          </a:xfrm>
        </p:grpSpPr>
        <p:sp>
          <p:nvSpPr>
            <p:cNvPr id="10" name="TextBox 10"/>
            <p:cNvSpPr txBox="1"/>
            <p:nvPr/>
          </p:nvSpPr>
          <p:spPr>
            <a:xfrm>
              <a:off x="940118" y="1561624"/>
              <a:ext cx="1739265" cy="165735"/>
            </a:xfrm>
            <a:prstGeom prst="rect">
              <a:avLst/>
            </a:prstGeom>
            <a:noFill/>
            <a:ln>
              <a:noFill/>
            </a:ln>
          </p:spPr>
          <p:txBody>
            <a:bodyPr wrap="none" lIns="0" tIns="0" rIns="0" bIns="0" anchor="t" anchorCtr="0">
              <a:spAutoFit/>
            </a:bodyPr>
            <a:lstStyle/>
            <a:p>
              <a:pPr algn="l"/>
              <a:r>
                <a:rPr lang="zh-CN" sz="1080" dirty="0">
                  <a:solidFill>
                    <a:srgbClr val="2D3748"/>
                  </a:solidFill>
                  <a:latin typeface="Segoe UI" panose="020B0502040204020203"/>
                  <a:ea typeface="微软雅黑" panose="020B0503020204020204" charset="-122"/>
                  <a:cs typeface="Segoe UI" panose="020B0502040204020203"/>
                </a:rPr>
                <a:t>• 比较中心与邻域像素灰度值</a:t>
              </a:r>
              <a:endParaRPr lang="zh-CN" sz="1080" dirty="0">
                <a:solidFill>
                  <a:srgbClr val="2D3748"/>
                </a:solidFill>
                <a:latin typeface="Segoe UI" panose="020B0502040204020203"/>
                <a:ea typeface="微软雅黑" panose="020B0503020204020204" charset="-122"/>
                <a:cs typeface="Segoe UI" panose="020B0502040204020203"/>
              </a:endParaRPr>
            </a:p>
          </p:txBody>
        </p:sp>
        <p:sp>
          <p:nvSpPr>
            <p:cNvPr id="11" name="TextBox 11"/>
            <p:cNvSpPr txBox="1"/>
            <p:nvPr/>
          </p:nvSpPr>
          <p:spPr>
            <a:xfrm>
              <a:off x="940118" y="1752124"/>
              <a:ext cx="1511300" cy="165735"/>
            </a:xfrm>
            <a:prstGeom prst="rect">
              <a:avLst/>
            </a:prstGeom>
            <a:noFill/>
            <a:ln>
              <a:noFill/>
            </a:ln>
          </p:spPr>
          <p:txBody>
            <a:bodyPr wrap="none" lIns="0" tIns="0" rIns="0" bIns="0" anchor="t" anchorCtr="0">
              <a:spAutoFit/>
            </a:bodyPr>
            <a:lstStyle/>
            <a:p>
              <a:pPr algn="l"/>
              <a:r>
                <a:rPr lang="zh-CN" sz="1080" dirty="0">
                  <a:solidFill>
                    <a:srgbClr val="2D3748"/>
                  </a:solidFill>
                  <a:latin typeface="Segoe UI" panose="020B0502040204020203"/>
                  <a:ea typeface="微软雅黑" panose="020B0503020204020204" charset="-122"/>
                  <a:cs typeface="Segoe UI" panose="020B0502040204020203"/>
                </a:rPr>
                <a:t>• P=8, R=1, uniform 模式</a:t>
              </a:r>
              <a:endParaRPr lang="zh-CN" sz="1080" dirty="0">
                <a:solidFill>
                  <a:srgbClr val="2D3748"/>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940118" y="1942624"/>
              <a:ext cx="1138555" cy="165735"/>
            </a:xfrm>
            <a:prstGeom prst="rect">
              <a:avLst/>
            </a:prstGeom>
            <a:noFill/>
            <a:ln>
              <a:noFill/>
            </a:ln>
          </p:spPr>
          <p:txBody>
            <a:bodyPr wrap="none" lIns="0" tIns="0" rIns="0" bIns="0" anchor="t" anchorCtr="0">
              <a:spAutoFit/>
            </a:bodyPr>
            <a:lstStyle/>
            <a:p>
              <a:pPr algn="l"/>
              <a:r>
                <a:rPr lang="zh-CN" sz="1080" dirty="0">
                  <a:solidFill>
                    <a:srgbClr val="2D3748"/>
                  </a:solidFill>
                  <a:latin typeface="Segoe UI" panose="020B0502040204020203"/>
                  <a:ea typeface="微软雅黑" panose="020B0503020204020204" charset="-122"/>
                  <a:cs typeface="Segoe UI" panose="020B0502040204020203"/>
                </a:rPr>
                <a:t>• 输出 10 维直方图</a:t>
              </a:r>
              <a:endParaRPr lang="zh-CN" sz="1080" dirty="0">
                <a:solidFill>
                  <a:srgbClr val="2D3748"/>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940118" y="2180749"/>
              <a:ext cx="1508760" cy="165735"/>
            </a:xfrm>
            <a:prstGeom prst="rect">
              <a:avLst/>
            </a:prstGeom>
            <a:noFill/>
            <a:ln>
              <a:noFill/>
            </a:ln>
          </p:spPr>
          <p:txBody>
            <a:bodyPr wrap="none" lIns="0" tIns="0" rIns="0" bIns="0" anchor="t" anchorCtr="0">
              <a:spAutoFit/>
            </a:bodyPr>
            <a:lstStyle/>
            <a:p>
              <a:pPr algn="l"/>
              <a:r>
                <a:rPr lang="zh-CN" sz="1080" dirty="0">
                  <a:solidFill>
                    <a:srgbClr val="718096"/>
                  </a:solidFill>
                  <a:latin typeface="Segoe UI" panose="020B0502040204020203"/>
                  <a:ea typeface="微软雅黑" panose="020B0503020204020204" charset="-122"/>
                  <a:cs typeface="Segoe UI" panose="020B0502040204020203"/>
                </a:rPr>
                <a:t>作用：捕获局部纹理模式</a:t>
              </a:r>
              <a:endParaRPr lang="zh-CN" sz="1080" dirty="0">
                <a:solidFill>
                  <a:srgbClr val="718096"/>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940118" y="2371249"/>
              <a:ext cx="1604010" cy="165735"/>
            </a:xfrm>
            <a:prstGeom prst="rect">
              <a:avLst/>
            </a:prstGeom>
            <a:noFill/>
            <a:ln>
              <a:noFill/>
            </a:ln>
          </p:spPr>
          <p:txBody>
            <a:bodyPr wrap="none" lIns="0" tIns="0" rIns="0" bIns="0" anchor="t" anchorCtr="0">
              <a:spAutoFit/>
            </a:bodyPr>
            <a:lstStyle/>
            <a:p>
              <a:pPr algn="l"/>
              <a:r>
                <a:rPr lang="zh-CN" sz="1080" dirty="0">
                  <a:solidFill>
                    <a:srgbClr val="718096"/>
                  </a:solidFill>
                  <a:latin typeface="Segoe UI" panose="020B0502040204020203"/>
                  <a:ea typeface="微软雅黑" panose="020B0503020204020204" charset="-122"/>
                  <a:cs typeface="Segoe UI" panose="020B0502040204020203"/>
                </a:rPr>
                <a:t>作为 HOG 的纹理信息补充</a:t>
              </a:r>
              <a:endParaRPr lang="zh-CN" sz="1080" dirty="0">
                <a:solidFill>
                  <a:srgbClr val="718096"/>
                </a:solidFill>
                <a:latin typeface="Segoe UI" panose="020B0502040204020203"/>
                <a:ea typeface="微软雅黑" panose="020B0503020204020204" charset="-122"/>
                <a:cs typeface="Segoe UI" panose="020B0502040204020203"/>
              </a:endParaRPr>
            </a:p>
          </p:txBody>
        </p:sp>
      </p:grpSp>
      <p:sp>
        <p:nvSpPr>
          <p:cNvPr id="16" name="Rectangle 16"/>
          <p:cNvSpPr/>
          <p:nvPr/>
        </p:nvSpPr>
        <p:spPr>
          <a:xfrm>
            <a:off x="4381500" y="1143000"/>
            <a:ext cx="3333750" cy="1524000"/>
          </a:xfrm>
          <a:prstGeom prst="roundRect">
            <a:avLst>
              <a:gd name="adj" fmla="val 3750"/>
            </a:avLst>
          </a:prstGeom>
          <a:solidFill>
            <a:srgbClr val="EBF8FF"/>
          </a:solidFill>
          <a:ln>
            <a:noFill/>
          </a:ln>
        </p:spPr>
      </p:sp>
      <p:sp>
        <p:nvSpPr>
          <p:cNvPr id="17" name="TextBox 17"/>
          <p:cNvSpPr txBox="1"/>
          <p:nvPr/>
        </p:nvSpPr>
        <p:spPr>
          <a:xfrm>
            <a:off x="5498465" y="1296352"/>
            <a:ext cx="1099820" cy="184150"/>
          </a:xfrm>
          <a:prstGeom prst="rect">
            <a:avLst/>
          </a:prstGeom>
          <a:noFill/>
          <a:ln>
            <a:noFill/>
          </a:ln>
        </p:spPr>
        <p:txBody>
          <a:bodyPr wrap="none" lIns="0" tIns="0" rIns="0" bIns="0" anchor="t" anchorCtr="0">
            <a:spAutoFit/>
          </a:bodyPr>
          <a:lstStyle/>
          <a:p>
            <a:pPr algn="ctr"/>
            <a:r>
              <a:rPr lang="zh-CN" sz="1200" b="1" dirty="0">
                <a:solidFill>
                  <a:srgbClr val="3182CE"/>
                </a:solidFill>
                <a:latin typeface="Segoe UI" panose="020B0502040204020203"/>
                <a:ea typeface="微软雅黑" panose="020B0503020204020204" charset="-122"/>
                <a:cs typeface="Segoe UI" panose="020B0502040204020203"/>
              </a:rPr>
              <a:t>PCA 主成分分析</a:t>
            </a:r>
            <a:endParaRPr lang="zh-CN" sz="1200" b="1" dirty="0">
              <a:solidFill>
                <a:srgbClr val="3182CE"/>
              </a:solidFill>
              <a:latin typeface="Segoe UI" panose="020B0502040204020203"/>
              <a:ea typeface="微软雅黑" panose="020B0503020204020204" charset="-122"/>
              <a:cs typeface="Segoe UI" panose="020B0502040204020203"/>
            </a:endParaRPr>
          </a:p>
        </p:txBody>
      </p:sp>
      <p:grpSp>
        <p:nvGrpSpPr>
          <p:cNvPr id="23" name="Group 23"/>
          <p:cNvGrpSpPr/>
          <p:nvPr/>
        </p:nvGrpSpPr>
        <p:grpSpPr>
          <a:xfrm>
            <a:off x="4559618" y="1561624"/>
            <a:ext cx="1711325" cy="975360"/>
            <a:chOff x="4559618" y="1561624"/>
            <a:chExt cx="1711325" cy="975360"/>
          </a:xfrm>
        </p:grpSpPr>
        <p:sp>
          <p:nvSpPr>
            <p:cNvPr id="18" name="TextBox 18"/>
            <p:cNvSpPr txBox="1"/>
            <p:nvPr/>
          </p:nvSpPr>
          <p:spPr>
            <a:xfrm>
              <a:off x="4559618" y="1561624"/>
              <a:ext cx="1602105" cy="165735"/>
            </a:xfrm>
            <a:prstGeom prst="rect">
              <a:avLst/>
            </a:prstGeom>
            <a:noFill/>
            <a:ln>
              <a:noFill/>
            </a:ln>
          </p:spPr>
          <p:txBody>
            <a:bodyPr wrap="none" lIns="0" tIns="0" rIns="0" bIns="0" anchor="t" anchorCtr="0">
              <a:spAutoFit/>
            </a:bodyPr>
            <a:lstStyle/>
            <a:p>
              <a:pPr algn="l"/>
              <a:r>
                <a:rPr lang="zh-CN" sz="1080" dirty="0">
                  <a:solidFill>
                    <a:srgbClr val="2D3748"/>
                  </a:solidFill>
                  <a:latin typeface="Segoe UI" panose="020B0502040204020203"/>
                  <a:ea typeface="微软雅黑" panose="020B0503020204020204" charset="-122"/>
                  <a:cs typeface="Segoe UI" panose="020B0502040204020203"/>
                </a:rPr>
                <a:t>• 找到方差最大的投影方向</a:t>
              </a:r>
              <a:endParaRPr lang="zh-CN" sz="1080" dirty="0">
                <a:solidFill>
                  <a:srgbClr val="2D3748"/>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4559618" y="1752124"/>
              <a:ext cx="1565275" cy="165735"/>
            </a:xfrm>
            <a:prstGeom prst="rect">
              <a:avLst/>
            </a:prstGeom>
            <a:noFill/>
            <a:ln>
              <a:noFill/>
            </a:ln>
          </p:spPr>
          <p:txBody>
            <a:bodyPr wrap="none" lIns="0" tIns="0" rIns="0" bIns="0" anchor="t" anchorCtr="0">
              <a:spAutoFit/>
            </a:bodyPr>
            <a:lstStyle/>
            <a:p>
              <a:pPr algn="l"/>
              <a:r>
                <a:rPr lang="zh-CN" sz="1080" dirty="0">
                  <a:solidFill>
                    <a:srgbClr val="2D3748"/>
                  </a:solidFill>
                  <a:latin typeface="Segoe UI" panose="020B0502040204020203"/>
                  <a:ea typeface="微软雅黑" panose="020B0503020204020204" charset="-122"/>
                  <a:cs typeface="Segoe UI" panose="020B0502040204020203"/>
                </a:rPr>
                <a:t>• 保留 95% 方差 → 303 维</a:t>
              </a:r>
              <a:endParaRPr lang="zh-CN" sz="1080" dirty="0">
                <a:solidFill>
                  <a:srgbClr val="2D3748"/>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4559618" y="1942624"/>
              <a:ext cx="1711325" cy="165735"/>
            </a:xfrm>
            <a:prstGeom prst="rect">
              <a:avLst/>
            </a:prstGeom>
            <a:noFill/>
            <a:ln>
              <a:noFill/>
            </a:ln>
          </p:spPr>
          <p:txBody>
            <a:bodyPr wrap="none" lIns="0" tIns="0" rIns="0" bIns="0" anchor="t" anchorCtr="0">
              <a:spAutoFit/>
            </a:bodyPr>
            <a:lstStyle/>
            <a:p>
              <a:pPr algn="l"/>
              <a:r>
                <a:rPr lang="zh-CN" sz="1080" dirty="0">
                  <a:solidFill>
                    <a:srgbClr val="2D3748"/>
                  </a:solidFill>
                  <a:latin typeface="Segoe UI" panose="020B0502040204020203"/>
                  <a:ea typeface="微软雅黑" panose="020B0503020204020204" charset="-122"/>
                  <a:cs typeface="Segoe UI" panose="020B0502040204020203"/>
                </a:rPr>
                <a:t>• 压缩率 67%（910 → 303）</a:t>
              </a:r>
              <a:endParaRPr lang="zh-CN" sz="1080" dirty="0">
                <a:solidFill>
                  <a:srgbClr val="2D374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4559618" y="2180749"/>
              <a:ext cx="1527810" cy="165735"/>
            </a:xfrm>
            <a:prstGeom prst="rect">
              <a:avLst/>
            </a:prstGeom>
            <a:noFill/>
            <a:ln>
              <a:noFill/>
            </a:ln>
          </p:spPr>
          <p:txBody>
            <a:bodyPr wrap="none" lIns="0" tIns="0" rIns="0" bIns="0" anchor="t" anchorCtr="0">
              <a:spAutoFit/>
            </a:bodyPr>
            <a:lstStyle/>
            <a:p>
              <a:pPr algn="l"/>
              <a:r>
                <a:rPr lang="zh-CN" sz="1080" dirty="0">
                  <a:solidFill>
                    <a:srgbClr val="718096"/>
                  </a:solidFill>
                  <a:latin typeface="Segoe UI" panose="020B0502040204020203"/>
                  <a:ea typeface="微软雅黑" panose="020B0503020204020204" charset="-122"/>
                  <a:cs typeface="Segoe UI" panose="020B0502040204020203"/>
                </a:rPr>
                <a:t>先 StandardScaler 标准化</a:t>
              </a:r>
              <a:endParaRPr lang="zh-CN" sz="1080" dirty="0">
                <a:solidFill>
                  <a:srgbClr val="718096"/>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4559618" y="2371249"/>
              <a:ext cx="1641475" cy="165735"/>
            </a:xfrm>
            <a:prstGeom prst="rect">
              <a:avLst/>
            </a:prstGeom>
            <a:noFill/>
            <a:ln>
              <a:noFill/>
            </a:ln>
          </p:spPr>
          <p:txBody>
            <a:bodyPr wrap="none" lIns="0" tIns="0" rIns="0" bIns="0" anchor="t" anchorCtr="0">
              <a:spAutoFit/>
            </a:bodyPr>
            <a:lstStyle/>
            <a:p>
              <a:pPr algn="l"/>
              <a:r>
                <a:rPr lang="zh-CN" sz="1080" dirty="0">
                  <a:solidFill>
                    <a:srgbClr val="718096"/>
                  </a:solidFill>
                  <a:latin typeface="Segoe UI" panose="020B0502040204020203"/>
                  <a:ea typeface="微软雅黑" panose="020B0503020204020204" charset="-122"/>
                  <a:cs typeface="Segoe UI" panose="020B0502040204020203"/>
                </a:rPr>
                <a:t>再 PCA 降维加速 SVM 训练</a:t>
              </a:r>
              <a:endParaRPr lang="zh-CN" sz="1080" dirty="0">
                <a:solidFill>
                  <a:srgbClr val="718096"/>
                </a:solidFill>
                <a:latin typeface="Segoe UI" panose="020B0502040204020203"/>
                <a:ea typeface="微软雅黑" panose="020B0503020204020204" charset="-122"/>
                <a:cs typeface="Segoe UI" panose="020B0502040204020203"/>
              </a:endParaRPr>
            </a:p>
          </p:txBody>
        </p:sp>
      </p:grpSp>
      <p:sp>
        <p:nvSpPr>
          <p:cNvPr id="24" name="Rectangle 24"/>
          <p:cNvSpPr/>
          <p:nvPr/>
        </p:nvSpPr>
        <p:spPr>
          <a:xfrm>
            <a:off x="8001000" y="1143000"/>
            <a:ext cx="3429000" cy="1524000"/>
          </a:xfrm>
          <a:prstGeom prst="roundRect">
            <a:avLst>
              <a:gd name="adj" fmla="val 3750"/>
            </a:avLst>
          </a:prstGeom>
          <a:solidFill>
            <a:srgbClr val="EBF8FF"/>
          </a:solidFill>
          <a:ln>
            <a:noFill/>
          </a:ln>
        </p:spPr>
      </p:sp>
      <p:sp>
        <p:nvSpPr>
          <p:cNvPr id="25" name="TextBox 25"/>
          <p:cNvSpPr txBox="1"/>
          <p:nvPr/>
        </p:nvSpPr>
        <p:spPr>
          <a:xfrm>
            <a:off x="9146857" y="1296352"/>
            <a:ext cx="1137285" cy="184150"/>
          </a:xfrm>
          <a:prstGeom prst="rect">
            <a:avLst/>
          </a:prstGeom>
          <a:noFill/>
          <a:ln>
            <a:noFill/>
          </a:ln>
        </p:spPr>
        <p:txBody>
          <a:bodyPr wrap="none" lIns="0" tIns="0" rIns="0" bIns="0" anchor="t" anchorCtr="0">
            <a:spAutoFit/>
          </a:bodyPr>
          <a:lstStyle/>
          <a:p>
            <a:pPr algn="ctr"/>
            <a:r>
              <a:rPr lang="zh-CN" sz="1200" b="1" dirty="0">
                <a:solidFill>
                  <a:srgbClr val="3182CE"/>
                </a:solidFill>
                <a:latin typeface="Segoe UI" panose="020B0502040204020203"/>
                <a:ea typeface="微软雅黑" panose="020B0503020204020204" charset="-122"/>
                <a:cs typeface="Segoe UI" panose="020B0502040204020203"/>
              </a:rPr>
              <a:t>SVM 支持向量机</a:t>
            </a:r>
            <a:endParaRPr lang="zh-CN" sz="1200" b="1" dirty="0">
              <a:solidFill>
                <a:srgbClr val="3182CE"/>
              </a:solidFill>
              <a:latin typeface="Segoe UI" panose="020B0502040204020203"/>
              <a:ea typeface="微软雅黑" panose="020B0503020204020204" charset="-122"/>
              <a:cs typeface="Segoe UI" panose="020B0502040204020203"/>
            </a:endParaRPr>
          </a:p>
        </p:txBody>
      </p:sp>
      <p:grpSp>
        <p:nvGrpSpPr>
          <p:cNvPr id="31" name="Group 31"/>
          <p:cNvGrpSpPr/>
          <p:nvPr/>
        </p:nvGrpSpPr>
        <p:grpSpPr>
          <a:xfrm>
            <a:off x="8179118" y="1561624"/>
            <a:ext cx="2119630" cy="927735"/>
            <a:chOff x="8179118" y="1561624"/>
            <a:chExt cx="2119630" cy="927735"/>
          </a:xfrm>
        </p:grpSpPr>
        <p:sp>
          <p:nvSpPr>
            <p:cNvPr id="26" name="TextBox 26"/>
            <p:cNvSpPr txBox="1"/>
            <p:nvPr/>
          </p:nvSpPr>
          <p:spPr>
            <a:xfrm>
              <a:off x="8179118" y="1561624"/>
              <a:ext cx="1327785" cy="165735"/>
            </a:xfrm>
            <a:prstGeom prst="rect">
              <a:avLst/>
            </a:prstGeom>
            <a:noFill/>
            <a:ln>
              <a:noFill/>
            </a:ln>
          </p:spPr>
          <p:txBody>
            <a:bodyPr wrap="none" lIns="0" tIns="0" rIns="0" bIns="0" anchor="t" anchorCtr="0">
              <a:spAutoFit/>
            </a:bodyPr>
            <a:lstStyle/>
            <a:p>
              <a:pPr algn="l"/>
              <a:r>
                <a:rPr lang="zh-CN" sz="1080" dirty="0">
                  <a:solidFill>
                    <a:srgbClr val="2D3748"/>
                  </a:solidFill>
                  <a:latin typeface="Segoe UI" panose="020B0502040204020203"/>
                  <a:ea typeface="微软雅黑" panose="020B0503020204020204" charset="-122"/>
                  <a:cs typeface="Segoe UI" panose="020B0502040204020203"/>
                </a:rPr>
                <a:t>• 最大间隔分类超平面</a:t>
              </a:r>
              <a:endParaRPr lang="zh-CN" sz="1080" dirty="0">
                <a:solidFill>
                  <a:srgbClr val="2D3748"/>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8179118" y="1752124"/>
              <a:ext cx="1720850" cy="165735"/>
            </a:xfrm>
            <a:prstGeom prst="rect">
              <a:avLst/>
            </a:prstGeom>
            <a:noFill/>
            <a:ln>
              <a:noFill/>
            </a:ln>
          </p:spPr>
          <p:txBody>
            <a:bodyPr wrap="none" lIns="0" tIns="0" rIns="0" bIns="0" anchor="t" anchorCtr="0">
              <a:spAutoFit/>
            </a:bodyPr>
            <a:lstStyle/>
            <a:p>
              <a:pPr algn="l"/>
              <a:r>
                <a:rPr lang="zh-CN" sz="1080" dirty="0">
                  <a:solidFill>
                    <a:srgbClr val="2D3748"/>
                  </a:solidFill>
                  <a:latin typeface="Segoe UI" panose="020B0502040204020203"/>
                  <a:ea typeface="微软雅黑" panose="020B0503020204020204" charset="-122"/>
                  <a:cs typeface="Segoe UI" panose="020B0502040204020203"/>
                </a:rPr>
                <a:t>• OVR 策略处理 30 类多分类</a:t>
              </a:r>
              <a:endParaRPr lang="zh-CN" sz="1080" dirty="0">
                <a:solidFill>
                  <a:srgbClr val="2D3748"/>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8179118" y="1942624"/>
              <a:ext cx="822960" cy="165735"/>
            </a:xfrm>
            <a:prstGeom prst="rect">
              <a:avLst/>
            </a:prstGeom>
            <a:noFill/>
            <a:ln>
              <a:noFill/>
            </a:ln>
          </p:spPr>
          <p:txBody>
            <a:bodyPr wrap="none" lIns="0" tIns="0" rIns="0" bIns="0" anchor="t" anchorCtr="0">
              <a:spAutoFit/>
            </a:bodyPr>
            <a:lstStyle/>
            <a:p>
              <a:pPr algn="l"/>
              <a:r>
                <a:rPr lang="zh-CN" sz="1080" b="1" dirty="0">
                  <a:solidFill>
                    <a:srgbClr val="2D3748"/>
                  </a:solidFill>
                  <a:latin typeface="Segoe UI" panose="020B0502040204020203"/>
                  <a:ea typeface="微软雅黑" panose="020B0503020204020204" charset="-122"/>
                  <a:cs typeface="Segoe UI" panose="020B0502040204020203"/>
                </a:rPr>
                <a:t>核函数对比：</a:t>
              </a:r>
              <a:endParaRPr lang="zh-CN" sz="1080" b="1" dirty="0">
                <a:solidFill>
                  <a:srgbClr val="2D3748"/>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8179118" y="2133124"/>
              <a:ext cx="1943100" cy="165735"/>
            </a:xfrm>
            <a:prstGeom prst="rect">
              <a:avLst/>
            </a:prstGeom>
            <a:noFill/>
            <a:ln>
              <a:noFill/>
            </a:ln>
          </p:spPr>
          <p:txBody>
            <a:bodyPr wrap="none" lIns="0" tIns="0" rIns="0" bIns="0" anchor="t" anchorCtr="0">
              <a:spAutoFit/>
            </a:bodyPr>
            <a:lstStyle/>
            <a:p>
              <a:pPr algn="l"/>
              <a:r>
                <a:rPr lang="zh-CN" sz="1080" dirty="0">
                  <a:solidFill>
                    <a:srgbClr val="2D3748"/>
                  </a:solidFill>
                  <a:latin typeface="Segoe UI" panose="020B0502040204020203"/>
                  <a:ea typeface="微软雅黑" panose="020B0503020204020204" charset="-122"/>
                  <a:cs typeface="Segoe UI" panose="020B0502040204020203"/>
                </a:rPr>
                <a:t>LinearSVC (C=0.039) CV: 66.99%</a:t>
              </a:r>
              <a:endParaRPr lang="zh-CN" sz="1080" dirty="0">
                <a:solidFill>
                  <a:srgbClr val="2D3748"/>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8179118" y="2323624"/>
              <a:ext cx="2119630" cy="165735"/>
            </a:xfrm>
            <a:prstGeom prst="rect">
              <a:avLst/>
            </a:prstGeom>
            <a:noFill/>
            <a:ln>
              <a:noFill/>
            </a:ln>
          </p:spPr>
          <p:txBody>
            <a:bodyPr wrap="none" lIns="0" tIns="0" rIns="0" bIns="0" anchor="t" anchorCtr="0">
              <a:spAutoFit/>
            </a:bodyPr>
            <a:lstStyle/>
            <a:p>
              <a:pPr algn="l"/>
              <a:r>
                <a:rPr lang="zh-CN" sz="1080" dirty="0">
                  <a:solidFill>
                    <a:srgbClr val="2D3748"/>
                  </a:solidFill>
                  <a:latin typeface="Segoe UI" panose="020B0502040204020203"/>
                  <a:ea typeface="微软雅黑" panose="020B0503020204020204" charset="-122"/>
                  <a:cs typeface="Segoe UI" panose="020B0502040204020203"/>
                </a:rPr>
                <a:t>RBF (C=0.356, γ=0.001) CV: 66.67%</a:t>
              </a:r>
              <a:endParaRPr lang="zh-CN" sz="1080" dirty="0">
                <a:solidFill>
                  <a:srgbClr val="2D3748"/>
                </a:solidFill>
                <a:latin typeface="Segoe UI" panose="020B0502040204020203"/>
                <a:ea typeface="微软雅黑" panose="020B0503020204020204" charset="-122"/>
                <a:cs typeface="Segoe UI" panose="020B0502040204020203"/>
              </a:endParaRPr>
            </a:p>
          </p:txBody>
        </p:sp>
      </p:grpSp>
      <p:sp>
        <p:nvSpPr>
          <p:cNvPr id="32" name="Rectangle 32"/>
          <p:cNvSpPr/>
          <p:nvPr/>
        </p:nvSpPr>
        <p:spPr>
          <a:xfrm>
            <a:off x="762000" y="2905125"/>
            <a:ext cx="10668000" cy="952500"/>
          </a:xfrm>
          <a:prstGeom prst="roundRect">
            <a:avLst>
              <a:gd name="adj" fmla="val 6000"/>
            </a:avLst>
          </a:prstGeom>
          <a:solidFill>
            <a:srgbClr val="1A365D"/>
          </a:solidFill>
          <a:ln>
            <a:noFill/>
          </a:ln>
        </p:spPr>
      </p:sp>
      <p:sp>
        <p:nvSpPr>
          <p:cNvPr id="33" name="TextBox 33"/>
          <p:cNvSpPr txBox="1"/>
          <p:nvPr/>
        </p:nvSpPr>
        <p:spPr>
          <a:xfrm>
            <a:off x="5295901" y="3061335"/>
            <a:ext cx="1600200" cy="215265"/>
          </a:xfrm>
          <a:prstGeom prst="rect">
            <a:avLst/>
          </a:prstGeom>
          <a:noFill/>
          <a:ln>
            <a:noFill/>
          </a:ln>
        </p:spPr>
        <p:txBody>
          <a:bodyPr wrap="none" lIns="0" tIns="0" rIns="0" bIns="0" anchor="t" anchorCtr="0">
            <a:spAutoFit/>
          </a:bodyPr>
          <a:lstStyle/>
          <a:p>
            <a:pPr algn="ctr"/>
            <a:r>
              <a:rPr lang="zh-CN" sz="1400" b="1" dirty="0">
                <a:solidFill>
                  <a:srgbClr val="FFFFFF"/>
                </a:solidFill>
                <a:latin typeface="Segoe UI" panose="020B0502040204020203"/>
                <a:ea typeface="微软雅黑" panose="020B0503020204020204" charset="-122"/>
                <a:cs typeface="Segoe UI" panose="020B0502040204020203"/>
              </a:rPr>
              <a:t>完整特征工程流水线</a:t>
            </a:r>
            <a:endParaRPr lang="zh-CN" sz="1400" b="1" dirty="0">
              <a:solidFill>
                <a:srgbClr val="FFFFFF"/>
              </a:solidFill>
              <a:latin typeface="Segoe UI" panose="020B0502040204020203"/>
              <a:ea typeface="微软雅黑" panose="020B0503020204020204" charset="-122"/>
              <a:cs typeface="Segoe UI" panose="020B0502040204020203"/>
            </a:endParaRPr>
          </a:p>
        </p:txBody>
      </p:sp>
      <p:grpSp>
        <p:nvGrpSpPr>
          <p:cNvPr id="36" name="Group 36"/>
          <p:cNvGrpSpPr/>
          <p:nvPr/>
        </p:nvGrpSpPr>
        <p:grpSpPr>
          <a:xfrm>
            <a:off x="3184844" y="3334702"/>
            <a:ext cx="5822315" cy="431800"/>
            <a:chOff x="3184844" y="3334702"/>
            <a:chExt cx="5822315" cy="431800"/>
          </a:xfrm>
        </p:grpSpPr>
        <p:sp>
          <p:nvSpPr>
            <p:cNvPr id="34" name="TextBox 34"/>
            <p:cNvSpPr txBox="1"/>
            <p:nvPr/>
          </p:nvSpPr>
          <p:spPr>
            <a:xfrm>
              <a:off x="3184844" y="3334702"/>
              <a:ext cx="5822315" cy="184150"/>
            </a:xfrm>
            <a:prstGeom prst="rect">
              <a:avLst/>
            </a:prstGeom>
            <a:noFill/>
            <a:ln>
              <a:noFill/>
            </a:ln>
          </p:spPr>
          <p:txBody>
            <a:bodyPr wrap="none" lIns="0" tIns="0" rIns="0" bIns="0" anchor="t" anchorCtr="0">
              <a:spAutoFit/>
            </a:bodyPr>
            <a:lstStyle/>
            <a:p>
              <a:pPr algn="ctr"/>
              <a:r>
                <a:rPr lang="zh-CN" sz="1200" dirty="0">
                  <a:solidFill>
                    <a:srgbClr val="90CDF4"/>
                  </a:solidFill>
                  <a:latin typeface="Segoe UI" panose="020B0502040204020203"/>
                  <a:ea typeface="微软雅黑" panose="020B0503020204020204" charset="-122"/>
                  <a:cs typeface="Segoe UI" panose="020B0502040204020203"/>
                </a:rPr>
                <a:t>原始图像 → HOG (900维) + LBP (10维) → 特征融合 (910维) → PCA (303维) → SVM 分类</a:t>
              </a:r>
              <a:endParaRPr lang="zh-CN" sz="1200" dirty="0">
                <a:solidFill>
                  <a:srgbClr val="90CDF4"/>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4077653" y="3582352"/>
              <a:ext cx="4036695" cy="184150"/>
            </a:xfrm>
            <a:prstGeom prst="rect">
              <a:avLst/>
            </a:prstGeom>
            <a:noFill/>
            <a:ln>
              <a:noFill/>
            </a:ln>
          </p:spPr>
          <p:txBody>
            <a:bodyPr wrap="none" lIns="0" tIns="0" rIns="0" bIns="0" anchor="t" anchorCtr="0">
              <a:spAutoFit/>
            </a:bodyPr>
            <a:lstStyle/>
            <a:p>
              <a:pPr algn="ctr"/>
              <a:r>
                <a:rPr lang="zh-CN" sz="1200" dirty="0">
                  <a:solidFill>
                    <a:srgbClr val="90CDF4"/>
                  </a:solidFill>
                  <a:latin typeface="Segoe UI" panose="020B0502040204020203"/>
                  <a:ea typeface="微软雅黑" panose="020B0503020204020204" charset="-122"/>
                  <a:cs typeface="Segoe UI" panose="020B0502040204020203"/>
                </a:rPr>
                <a:t>测试准确率：68.73%（30类） 随机基线：3.3% 提升：20.8×</a:t>
              </a:r>
              <a:endParaRPr lang="zh-CN" sz="1200" dirty="0">
                <a:solidFill>
                  <a:srgbClr val="90CDF4"/>
                </a:solidFill>
                <a:latin typeface="Segoe UI" panose="020B0502040204020203"/>
                <a:ea typeface="微软雅黑" panose="020B0503020204020204" charset="-122"/>
                <a:cs typeface="Segoe UI" panose="020B0502040204020203"/>
              </a:endParaRPr>
            </a:p>
          </p:txBody>
        </p:sp>
      </p:grpSp>
      <p:sp>
        <p:nvSpPr>
          <p:cNvPr id="37" name="Rectangle 37"/>
          <p:cNvSpPr/>
          <p:nvPr/>
        </p:nvSpPr>
        <p:spPr>
          <a:xfrm>
            <a:off x="762000" y="4095750"/>
            <a:ext cx="5143500" cy="666750"/>
          </a:xfrm>
          <a:prstGeom prst="roundRect">
            <a:avLst>
              <a:gd name="adj" fmla="val 8571"/>
            </a:avLst>
          </a:prstGeom>
          <a:solidFill>
            <a:srgbClr val="FFF5F5"/>
          </a:solidFill>
          <a:ln>
            <a:noFill/>
          </a:ln>
        </p:spPr>
      </p:sp>
      <p:sp>
        <p:nvSpPr>
          <p:cNvPr id="38" name="TextBox 38"/>
          <p:cNvSpPr txBox="1"/>
          <p:nvPr/>
        </p:nvSpPr>
        <p:spPr>
          <a:xfrm>
            <a:off x="3028950" y="4239578"/>
            <a:ext cx="609600" cy="184150"/>
          </a:xfrm>
          <a:prstGeom prst="rect">
            <a:avLst/>
          </a:prstGeom>
          <a:noFill/>
          <a:ln>
            <a:noFill/>
          </a:ln>
        </p:spPr>
        <p:txBody>
          <a:bodyPr wrap="none" lIns="0" tIns="0" rIns="0" bIns="0" anchor="t" anchorCtr="0">
            <a:spAutoFit/>
          </a:bodyPr>
          <a:lstStyle/>
          <a:p>
            <a:pPr algn="ctr"/>
            <a:r>
              <a:rPr lang="zh-CN" sz="1200" b="1" dirty="0">
                <a:solidFill>
                  <a:srgbClr val="C53030"/>
                </a:solidFill>
                <a:latin typeface="Segoe UI" panose="020B0502040204020203"/>
                <a:ea typeface="微软雅黑" panose="020B0503020204020204" charset="-122"/>
                <a:cs typeface="Segoe UI" panose="020B0502040204020203"/>
              </a:rPr>
              <a:t>工程难点</a:t>
            </a:r>
            <a:endParaRPr lang="zh-CN" sz="1200" b="1" dirty="0">
              <a:solidFill>
                <a:srgbClr val="C53030"/>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940118" y="4466749"/>
            <a:ext cx="4401820" cy="165735"/>
          </a:xfrm>
          <a:prstGeom prst="rect">
            <a:avLst/>
          </a:prstGeom>
          <a:noFill/>
          <a:ln>
            <a:noFill/>
          </a:ln>
        </p:spPr>
        <p:txBody>
          <a:bodyPr wrap="none" lIns="0" tIns="0" rIns="0" bIns="0" anchor="t" anchorCtr="0">
            <a:spAutoFit/>
          </a:bodyPr>
          <a:lstStyle/>
          <a:p>
            <a:pPr algn="l"/>
            <a:r>
              <a:rPr lang="zh-CN" sz="1080" dirty="0">
                <a:solidFill>
                  <a:srgbClr val="4A5568"/>
                </a:solidFill>
                <a:latin typeface="Segoe UI" panose="020B0502040204020203"/>
                <a:ea typeface="微软雅黑" panose="020B0503020204020204" charset="-122"/>
                <a:cs typeface="Segoe UI" panose="020B0502040204020203"/>
              </a:rPr>
              <a:t>GridSearch 不可行 → RandomizedSearchCV · Windows OOM → 串行执行</a:t>
            </a:r>
            <a:endParaRPr lang="zh-CN" sz="1080" dirty="0">
              <a:solidFill>
                <a:srgbClr val="4A5568"/>
              </a:solidFill>
              <a:latin typeface="Segoe UI" panose="020B0502040204020203"/>
              <a:ea typeface="微软雅黑" panose="020B0503020204020204" charset="-122"/>
              <a:cs typeface="Segoe UI" panose="020B0502040204020203"/>
            </a:endParaRPr>
          </a:p>
        </p:txBody>
      </p:sp>
      <p:sp>
        <p:nvSpPr>
          <p:cNvPr id="40" name="Rectangle 40"/>
          <p:cNvSpPr/>
          <p:nvPr/>
        </p:nvSpPr>
        <p:spPr>
          <a:xfrm>
            <a:off x="6191250" y="4095750"/>
            <a:ext cx="5238750" cy="666750"/>
          </a:xfrm>
          <a:prstGeom prst="roundRect">
            <a:avLst>
              <a:gd name="adj" fmla="val 8571"/>
            </a:avLst>
          </a:prstGeom>
          <a:solidFill>
            <a:srgbClr val="FFF5F5"/>
          </a:solidFill>
          <a:ln>
            <a:noFill/>
          </a:ln>
        </p:spPr>
      </p:sp>
      <p:sp>
        <p:nvSpPr>
          <p:cNvPr id="41" name="TextBox 41"/>
          <p:cNvSpPr txBox="1"/>
          <p:nvPr/>
        </p:nvSpPr>
        <p:spPr>
          <a:xfrm>
            <a:off x="8277226" y="4239578"/>
            <a:ext cx="1066800" cy="184150"/>
          </a:xfrm>
          <a:prstGeom prst="rect">
            <a:avLst/>
          </a:prstGeom>
          <a:noFill/>
          <a:ln>
            <a:noFill/>
          </a:ln>
        </p:spPr>
        <p:txBody>
          <a:bodyPr wrap="none" lIns="0" tIns="0" rIns="0" bIns="0" anchor="t" anchorCtr="0">
            <a:spAutoFit/>
          </a:bodyPr>
          <a:lstStyle/>
          <a:p>
            <a:pPr algn="ctr"/>
            <a:r>
              <a:rPr lang="zh-CN" sz="1200" b="1" dirty="0">
                <a:solidFill>
                  <a:srgbClr val="C53030"/>
                </a:solidFill>
                <a:latin typeface="Segoe UI" panose="020B0502040204020203"/>
                <a:ea typeface="微软雅黑" panose="020B0503020204020204" charset="-122"/>
                <a:cs typeface="Segoe UI" panose="020B0502040204020203"/>
              </a:rPr>
              <a:t>分类范式的局限</a:t>
            </a:r>
            <a:endParaRPr lang="zh-CN" sz="1200" b="1" dirty="0">
              <a:solidFill>
                <a:srgbClr val="C53030"/>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6464618" y="4466749"/>
            <a:ext cx="3218815" cy="165735"/>
          </a:xfrm>
          <a:prstGeom prst="rect">
            <a:avLst/>
          </a:prstGeom>
          <a:noFill/>
          <a:ln>
            <a:noFill/>
          </a:ln>
        </p:spPr>
        <p:txBody>
          <a:bodyPr wrap="none" lIns="0" tIns="0" rIns="0" bIns="0" anchor="t" anchorCtr="0">
            <a:spAutoFit/>
          </a:bodyPr>
          <a:lstStyle/>
          <a:p>
            <a:pPr algn="l"/>
            <a:r>
              <a:rPr lang="zh-CN" sz="1080" dirty="0">
                <a:solidFill>
                  <a:srgbClr val="4A5568"/>
                </a:solidFill>
                <a:latin typeface="Segoe UI" panose="020B0502040204020203"/>
                <a:ea typeface="微软雅黑" panose="020B0503020204020204" charset="-122"/>
                <a:cs typeface="Segoe UI" panose="020B0502040204020203"/>
              </a:rPr>
              <a:t>只能识别 N 个预定义类 → 无矩阵能力 · 引出后续探索</a:t>
            </a:r>
            <a:endParaRPr lang="zh-CN" sz="1080" dirty="0">
              <a:solidFill>
                <a:srgbClr val="4A5568"/>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11513820" y="6570345"/>
            <a:ext cx="125730" cy="138430"/>
          </a:xfrm>
          <a:prstGeom prst="rect">
            <a:avLst/>
          </a:prstGeom>
          <a:noFill/>
          <a:ln>
            <a:noFill/>
          </a:ln>
        </p:spPr>
        <p:txBody>
          <a:bodyPr wrap="none" lIns="0" tIns="0" rIns="0" bIns="0" anchor="t" anchorCtr="0">
            <a:spAutoFit/>
          </a:bodyPr>
          <a:lstStyle/>
          <a:p>
            <a:pPr algn="l"/>
            <a:r>
              <a:rPr lang="zh-CN" sz="900" dirty="0">
                <a:solidFill>
                  <a:srgbClr val="CBD5E0"/>
                </a:solidFill>
                <a:latin typeface="Consolas" panose="020B0609020204030204"/>
                <a:ea typeface="微软雅黑" panose="020B0503020204020204" charset="-122"/>
                <a:cs typeface="Consolas" panose="020B0609020204030204"/>
              </a:rPr>
              <a:t>10</a:t>
            </a:r>
            <a:endParaRPr lang="zh-CN" sz="900" dirty="0">
              <a:solidFill>
                <a:srgbClr val="CBD5E0"/>
              </a:solidFill>
              <a:latin typeface="Consolas" panose="020B0609020204030204"/>
              <a:ea typeface="微软雅黑" panose="020B0503020204020204" charset="-122"/>
              <a:cs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47625"/>
          </a:xfrm>
          <a:prstGeom prst="rect">
            <a:avLst/>
          </a:prstGeom>
          <a:solidFill>
            <a:srgbClr val="DD6B20"/>
          </a:solidFill>
          <a:ln>
            <a:noFill/>
          </a:ln>
        </p:spPr>
      </p:sp>
      <p:sp>
        <p:nvSpPr>
          <p:cNvPr id="4" name="Rectangle 4"/>
          <p:cNvSpPr/>
          <p:nvPr/>
        </p:nvSpPr>
        <p:spPr>
          <a:xfrm>
            <a:off x="762000" y="476250"/>
            <a:ext cx="571500" cy="285750"/>
          </a:xfrm>
          <a:prstGeom prst="roundRect">
            <a:avLst>
              <a:gd name="adj" fmla="val 13333"/>
            </a:avLst>
          </a:prstGeom>
          <a:solidFill>
            <a:srgbClr val="DD6B20"/>
          </a:solidFill>
          <a:ln>
            <a:noFill/>
          </a:ln>
        </p:spPr>
      </p:sp>
      <p:sp>
        <p:nvSpPr>
          <p:cNvPr id="5" name="TextBox 5"/>
          <p:cNvSpPr txBox="1"/>
          <p:nvPr/>
        </p:nvSpPr>
        <p:spPr>
          <a:xfrm>
            <a:off x="898850" y="561499"/>
            <a:ext cx="29779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panose="020B0502040204020203"/>
                <a:ea typeface="微软雅黑" panose="020B0503020204020204" charset="-122"/>
                <a:cs typeface="Segoe UI" panose="020B0502040204020203"/>
              </a:rPr>
              <a:t>探索</a:t>
            </a:r>
            <a:endParaRPr lang="zh-CN" sz="975" b="1" dirty="0">
              <a:solidFill>
                <a:srgbClr val="FFFFFF"/>
              </a:solidFill>
              <a:latin typeface="Segoe UI" panose="020B0502040204020203"/>
              <a:ea typeface="微软雅黑" panose="020B0503020204020204" charset="-122"/>
              <a:cs typeface="Segoe UI" panose="020B0502040204020203"/>
            </a:endParaRPr>
          </a:p>
        </p:txBody>
      </p:sp>
      <p:sp>
        <p:nvSpPr>
          <p:cNvPr id="6" name="TextBox 6"/>
          <p:cNvSpPr txBox="1"/>
          <p:nvPr/>
        </p:nvSpPr>
        <p:spPr>
          <a:xfrm>
            <a:off x="1457325" y="504825"/>
            <a:ext cx="4175617" cy="304800"/>
          </a:xfrm>
          <a:prstGeom prst="rect">
            <a:avLst/>
          </a:prstGeom>
          <a:noFill/>
          <a:ln>
            <a:noFill/>
          </a:ln>
        </p:spPr>
        <p:txBody>
          <a:bodyPr wrap="none" lIns="0" tIns="0" rIns="0" bIns="0" anchor="t" anchorCtr="0">
            <a:spAutoFit/>
          </a:bodyPr>
          <a:lstStyle/>
          <a:p>
            <a:pPr algn="l"/>
            <a:r>
              <a:rPr lang="zh-CN" sz="1500" b="1" dirty="0">
                <a:solidFill>
                  <a:srgbClr val="2D3748"/>
                </a:solidFill>
                <a:latin typeface="Segoe UI" panose="020B0502040204020203"/>
                <a:ea typeface="微软雅黑" panose="020B0503020204020204" charset="-122"/>
                <a:cs typeface="Segoe UI" panose="020B0502040204020203"/>
              </a:rPr>
              <a:t>模型建立 — 对比学习（新算法·探索后放弃）</a:t>
            </a:r>
            <a:endParaRPr lang="zh-CN" sz="1500" b="1" dirty="0">
              <a:solidFill>
                <a:srgbClr val="2D3748"/>
              </a:solidFill>
              <a:latin typeface="Segoe UI" panose="020B0502040204020203"/>
              <a:ea typeface="微软雅黑" panose="020B0503020204020204" charset="-122"/>
              <a:cs typeface="Segoe UI" panose="020B0502040204020203"/>
            </a:endParaRPr>
          </a:p>
        </p:txBody>
      </p:sp>
      <p:sp>
        <p:nvSpPr>
          <p:cNvPr id="7" name="Line 7"/>
          <p:cNvSpPr/>
          <p:nvPr/>
        </p:nvSpPr>
        <p:spPr>
          <a:xfrm>
            <a:off x="762000" y="904875"/>
            <a:ext cx="10668000" cy="9525"/>
          </a:xfrm>
          <a:custGeom>
            <a:avLst/>
            <a:gdLst/>
            <a:ahLst/>
            <a:cxnLst/>
            <a:rect l="l" t="t" r="r" b="b"/>
            <a:pathLst>
              <a:path w="10668000" h="9525">
                <a:moveTo>
                  <a:pt x="0" y="0"/>
                </a:moveTo>
                <a:lnTo>
                  <a:pt x="10668000" y="0"/>
                </a:lnTo>
              </a:path>
            </a:pathLst>
          </a:custGeom>
          <a:noFill/>
          <a:ln w="9525">
            <a:solidFill>
              <a:srgbClr val="E2E8F0"/>
            </a:solidFill>
          </a:ln>
        </p:spPr>
      </p:sp>
      <p:sp>
        <p:nvSpPr>
          <p:cNvPr id="8" name="Rectangle 8"/>
          <p:cNvSpPr/>
          <p:nvPr/>
        </p:nvSpPr>
        <p:spPr>
          <a:xfrm>
            <a:off x="762000" y="1143000"/>
            <a:ext cx="5143500" cy="1714500"/>
          </a:xfrm>
          <a:prstGeom prst="roundRect">
            <a:avLst>
              <a:gd name="adj" fmla="val 3333"/>
            </a:avLst>
          </a:prstGeom>
          <a:solidFill>
            <a:srgbClr val="FFF5F5"/>
          </a:solidFill>
          <a:ln>
            <a:noFill/>
          </a:ln>
        </p:spPr>
      </p:sp>
      <p:sp>
        <p:nvSpPr>
          <p:cNvPr id="9" name="TextBox 9"/>
          <p:cNvSpPr txBox="1"/>
          <p:nvPr/>
        </p:nvSpPr>
        <p:spPr>
          <a:xfrm>
            <a:off x="2689384" y="1288256"/>
            <a:ext cx="1288732" cy="228600"/>
          </a:xfrm>
          <a:prstGeom prst="rect">
            <a:avLst/>
          </a:prstGeom>
          <a:noFill/>
          <a:ln>
            <a:noFill/>
          </a:ln>
        </p:spPr>
        <p:txBody>
          <a:bodyPr wrap="none" lIns="0" tIns="0" rIns="0" bIns="0" anchor="t" anchorCtr="0">
            <a:spAutoFit/>
          </a:bodyPr>
          <a:lstStyle/>
          <a:p>
            <a:pPr algn="ctr"/>
            <a:r>
              <a:rPr lang="zh-CN" sz="1125" b="1" dirty="0">
                <a:solidFill>
                  <a:srgbClr val="DD6B20"/>
                </a:solidFill>
                <a:latin typeface="Segoe UI" panose="020B0502040204020203"/>
                <a:ea typeface="微软雅黑" panose="020B0503020204020204" charset="-122"/>
                <a:cs typeface="Segoe UI" panose="020B0502040204020203"/>
              </a:rPr>
              <a:t>什么是对比学习？</a:t>
            </a:r>
            <a:endParaRPr lang="zh-CN" sz="1125" b="1" dirty="0">
              <a:solidFill>
                <a:srgbClr val="DD6B20"/>
              </a:solidFill>
              <a:latin typeface="Segoe UI" panose="020B0502040204020203"/>
              <a:ea typeface="微软雅黑" panose="020B0503020204020204" charset="-122"/>
              <a:cs typeface="Segoe UI" panose="020B0502040204020203"/>
            </a:endParaRPr>
          </a:p>
        </p:txBody>
      </p:sp>
      <p:grpSp>
        <p:nvGrpSpPr>
          <p:cNvPr id="16" name="Group 16"/>
          <p:cNvGrpSpPr/>
          <p:nvPr/>
        </p:nvGrpSpPr>
        <p:grpSpPr>
          <a:xfrm>
            <a:off x="1035368" y="1561624"/>
            <a:ext cx="2768108" cy="1226820"/>
            <a:chOff x="1035368" y="1561624"/>
            <a:chExt cx="2768108" cy="1226820"/>
          </a:xfrm>
        </p:grpSpPr>
        <p:sp>
          <p:nvSpPr>
            <p:cNvPr id="10" name="TextBox 10"/>
            <p:cNvSpPr txBox="1"/>
            <p:nvPr/>
          </p:nvSpPr>
          <p:spPr>
            <a:xfrm>
              <a:off x="1035368" y="1561624"/>
              <a:ext cx="2365058"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核心思想：拉近同类样本、推远异类样本</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1" name="TextBox 11"/>
            <p:cNvSpPr txBox="1"/>
            <p:nvPr/>
          </p:nvSpPr>
          <p:spPr>
            <a:xfrm>
              <a:off x="1035368" y="1780699"/>
              <a:ext cx="1994511"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Anchor（锚点）：待查询的图像</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1035368" y="1971199"/>
              <a:ext cx="2462570"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Positive（正样本）：同公式的增强图像</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035368" y="2161699"/>
              <a:ext cx="2365058"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Negative（负样本）：不同公式的图像</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035368" y="2352199"/>
              <a:ext cx="2202537"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InfoNCE 损失：最大化正样本相似度</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1035368" y="2590324"/>
              <a:ext cx="2768108" cy="198120"/>
            </a:xfrm>
            <a:prstGeom prst="rect">
              <a:avLst/>
            </a:prstGeom>
            <a:noFill/>
            <a:ln>
              <a:noFill/>
            </a:ln>
          </p:spPr>
          <p:txBody>
            <a:bodyPr wrap="none" lIns="0" tIns="0" rIns="0" bIns="0" anchor="t" anchorCtr="0">
              <a:spAutoFit/>
            </a:bodyPr>
            <a:lstStyle/>
            <a:p>
              <a:pPr algn="l"/>
              <a:r>
                <a:rPr lang="zh-CN" sz="975" dirty="0">
                  <a:solidFill>
                    <a:srgbClr val="718096"/>
                  </a:solidFill>
                  <a:latin typeface="Segoe UI" panose="020B0502040204020203"/>
                  <a:ea typeface="微软雅黑" panose="020B0503020204020204" charset="-122"/>
                  <a:cs typeface="Segoe UI" panose="020B0502040204020203"/>
                </a:rPr>
                <a:t>编码器：4 层 CNN + 128 维投影头（1.5M 参数）</a:t>
              </a:r>
              <a:endParaRPr lang="zh-CN" sz="975" dirty="0">
                <a:solidFill>
                  <a:srgbClr val="718096"/>
                </a:solidFill>
                <a:latin typeface="Segoe UI" panose="020B0502040204020203"/>
                <a:ea typeface="微软雅黑" panose="020B0503020204020204" charset="-122"/>
                <a:cs typeface="Segoe UI" panose="020B0502040204020203"/>
              </a:endParaRPr>
            </a:p>
          </p:txBody>
        </p:sp>
      </p:grpSp>
      <p:sp>
        <p:nvSpPr>
          <p:cNvPr id="17" name="Rectangle 17"/>
          <p:cNvSpPr/>
          <p:nvPr/>
        </p:nvSpPr>
        <p:spPr>
          <a:xfrm>
            <a:off x="6191250" y="1143000"/>
            <a:ext cx="5238750" cy="1714500"/>
          </a:xfrm>
          <a:prstGeom prst="roundRect">
            <a:avLst>
              <a:gd name="adj" fmla="val 3333"/>
            </a:avLst>
          </a:prstGeom>
          <a:solidFill>
            <a:srgbClr val="FFF5F5"/>
          </a:solidFill>
          <a:ln>
            <a:noFill/>
          </a:ln>
        </p:spPr>
      </p:sp>
      <p:sp>
        <p:nvSpPr>
          <p:cNvPr id="18" name="TextBox 18"/>
          <p:cNvSpPr txBox="1"/>
          <p:nvPr/>
        </p:nvSpPr>
        <p:spPr>
          <a:xfrm>
            <a:off x="8245019" y="1288256"/>
            <a:ext cx="1131213" cy="228600"/>
          </a:xfrm>
          <a:prstGeom prst="rect">
            <a:avLst/>
          </a:prstGeom>
          <a:noFill/>
          <a:ln>
            <a:noFill/>
          </a:ln>
        </p:spPr>
        <p:txBody>
          <a:bodyPr wrap="none" lIns="0" tIns="0" rIns="0" bIns="0" anchor="t" anchorCtr="0">
            <a:spAutoFit/>
          </a:bodyPr>
          <a:lstStyle/>
          <a:p>
            <a:pPr algn="ctr"/>
            <a:r>
              <a:rPr lang="zh-CN" sz="1125" b="1" dirty="0">
                <a:solidFill>
                  <a:srgbClr val="DD6B20"/>
                </a:solidFill>
                <a:latin typeface="Segoe UI" panose="020B0502040204020203"/>
                <a:ea typeface="微软雅黑" panose="020B0503020204020204" charset="-122"/>
                <a:cs typeface="Segoe UI" panose="020B0502040204020203"/>
              </a:rPr>
              <a:t>检索式识别流程</a:t>
            </a:r>
            <a:endParaRPr lang="zh-CN" sz="1125" b="1" dirty="0">
              <a:solidFill>
                <a:srgbClr val="DD6B20"/>
              </a:solidFill>
              <a:latin typeface="Segoe UI" panose="020B0502040204020203"/>
              <a:ea typeface="微软雅黑" panose="020B0503020204020204" charset="-122"/>
              <a:cs typeface="Segoe UI" panose="020B0502040204020203"/>
            </a:endParaRPr>
          </a:p>
        </p:txBody>
      </p:sp>
      <p:grpSp>
        <p:nvGrpSpPr>
          <p:cNvPr id="25" name="Group 25"/>
          <p:cNvGrpSpPr/>
          <p:nvPr/>
        </p:nvGrpSpPr>
        <p:grpSpPr>
          <a:xfrm>
            <a:off x="6464618" y="1561624"/>
            <a:ext cx="2425541" cy="1198245"/>
            <a:chOff x="6464618" y="1561624"/>
            <a:chExt cx="2425541" cy="1198245"/>
          </a:xfrm>
        </p:grpSpPr>
        <p:sp>
          <p:nvSpPr>
            <p:cNvPr id="19" name="TextBox 19"/>
            <p:cNvSpPr txBox="1"/>
            <p:nvPr/>
          </p:nvSpPr>
          <p:spPr>
            <a:xfrm>
              <a:off x="6464618" y="1561624"/>
              <a:ext cx="674846"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训练阶段：</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6655118" y="1752124"/>
              <a:ext cx="2235041"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对所有训练集图像提取 128 维特征向量</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6464618" y="1990249"/>
              <a:ext cx="674846"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推理阶段：</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6655118" y="2180749"/>
              <a:ext cx="1955506"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① 测试图像 → 编码器 → 128 维向量</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6655118" y="2371249"/>
              <a:ext cx="1955506"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② 在训练集中找余弦相似度最近邻</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6655118" y="2561749"/>
              <a:ext cx="2131028"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③ 返回最近邻的 LaTeX 作为识别结果</a:t>
              </a:r>
              <a:endParaRPr lang="zh-CN" sz="975" dirty="0">
                <a:solidFill>
                  <a:srgbClr val="2D3748"/>
                </a:solidFill>
                <a:latin typeface="Segoe UI" panose="020B0502040204020203"/>
                <a:ea typeface="微软雅黑" panose="020B0503020204020204" charset="-122"/>
                <a:cs typeface="Segoe UI" panose="020B0502040204020203"/>
              </a:endParaRPr>
            </a:p>
          </p:txBody>
        </p:sp>
      </p:grpSp>
      <p:sp>
        <p:nvSpPr>
          <p:cNvPr id="26" name="Rectangle 26"/>
          <p:cNvSpPr/>
          <p:nvPr/>
        </p:nvSpPr>
        <p:spPr>
          <a:xfrm>
            <a:off x="762000" y="3095625"/>
            <a:ext cx="10668000" cy="2557145"/>
          </a:xfrm>
          <a:prstGeom prst="roundRect">
            <a:avLst>
              <a:gd name="adj" fmla="val 4286"/>
            </a:avLst>
          </a:prstGeom>
          <a:solidFill>
            <a:srgbClr val="FED7D7"/>
          </a:solidFill>
          <a:ln w="14288">
            <a:solidFill>
              <a:srgbClr val="E53E3E"/>
            </a:solidFill>
          </a:ln>
        </p:spPr>
        <p:txBody>
          <a:bodyPr/>
          <a:p>
            <a:endParaRPr lang="zh-CN" altLang="en-US"/>
          </a:p>
        </p:txBody>
      </p:sp>
      <p:sp>
        <p:nvSpPr>
          <p:cNvPr id="27" name="Rectangle 27"/>
          <p:cNvSpPr/>
          <p:nvPr/>
        </p:nvSpPr>
        <p:spPr>
          <a:xfrm>
            <a:off x="762000" y="3095625"/>
            <a:ext cx="10668000" cy="333375"/>
          </a:xfrm>
          <a:prstGeom prst="roundRect">
            <a:avLst>
              <a:gd name="adj" fmla="val 17143"/>
            </a:avLst>
          </a:prstGeom>
          <a:solidFill>
            <a:srgbClr val="E53E3E"/>
          </a:solidFill>
          <a:ln>
            <a:noFill/>
          </a:ln>
        </p:spPr>
      </p:sp>
      <p:sp>
        <p:nvSpPr>
          <p:cNvPr id="28" name="TextBox 28"/>
          <p:cNvSpPr txBox="1"/>
          <p:nvPr/>
        </p:nvSpPr>
        <p:spPr>
          <a:xfrm>
            <a:off x="5324666" y="3185160"/>
            <a:ext cx="1542669"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为什么放弃此方案？</a:t>
            </a:r>
            <a:endParaRPr lang="zh-CN" sz="1200" b="1" dirty="0">
              <a:solidFill>
                <a:srgbClr val="FFFFFF"/>
              </a:solidFill>
              <a:latin typeface="Segoe UI" panose="020B0502040204020203"/>
              <a:ea typeface="微软雅黑" panose="020B0503020204020204" charset="-122"/>
              <a:cs typeface="Segoe UI" panose="020B0502040204020203"/>
            </a:endParaRPr>
          </a:p>
        </p:txBody>
      </p:sp>
      <p:grpSp>
        <p:nvGrpSpPr>
          <p:cNvPr id="33" name="Group 33"/>
          <p:cNvGrpSpPr/>
          <p:nvPr/>
        </p:nvGrpSpPr>
        <p:grpSpPr>
          <a:xfrm>
            <a:off x="1034415" y="3534728"/>
            <a:ext cx="4136184" cy="870584"/>
            <a:chOff x="1034415" y="3534728"/>
            <a:chExt cx="4136184" cy="870584"/>
          </a:xfrm>
        </p:grpSpPr>
        <p:sp>
          <p:nvSpPr>
            <p:cNvPr id="29" name="TextBox 29"/>
            <p:cNvSpPr txBox="1"/>
            <p:nvPr/>
          </p:nvSpPr>
          <p:spPr>
            <a:xfrm>
              <a:off x="1034415" y="3534728"/>
              <a:ext cx="1180764" cy="213360"/>
            </a:xfrm>
            <a:prstGeom prst="rect">
              <a:avLst/>
            </a:prstGeom>
            <a:noFill/>
            <a:ln>
              <a:noFill/>
            </a:ln>
          </p:spPr>
          <p:txBody>
            <a:bodyPr wrap="none" lIns="0" tIns="0" rIns="0" bIns="0" anchor="t" anchorCtr="0">
              <a:spAutoFit/>
            </a:bodyPr>
            <a:lstStyle/>
            <a:p>
              <a:pPr algn="l"/>
              <a:r>
                <a:rPr lang="zh-CN" sz="1050" b="1" dirty="0">
                  <a:solidFill>
                    <a:srgbClr val="2D3748"/>
                  </a:solidFill>
                  <a:latin typeface="Segoe UI" panose="020B0502040204020203"/>
                  <a:ea typeface="微软雅黑" panose="020B0503020204020204" charset="-122"/>
                  <a:cs typeface="Segoe UI" panose="020B0502040204020203"/>
                </a:rPr>
                <a:t>① 检索式本质限制</a:t>
              </a:r>
              <a:endParaRPr lang="zh-CN" sz="1050" b="1" dirty="0">
                <a:solidFill>
                  <a:srgbClr val="2D3748"/>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1034415" y="3744278"/>
              <a:ext cx="4108180"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只能返回训练集中已有的公式 → 与传统 ML 同样的"封闭类别"问题</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1034415" y="3982402"/>
              <a:ext cx="1180764" cy="213360"/>
            </a:xfrm>
            <a:prstGeom prst="rect">
              <a:avLst/>
            </a:prstGeom>
            <a:noFill/>
            <a:ln>
              <a:noFill/>
            </a:ln>
          </p:spPr>
          <p:txBody>
            <a:bodyPr wrap="none" lIns="0" tIns="0" rIns="0" bIns="0" anchor="t" anchorCtr="0">
              <a:spAutoFit/>
            </a:bodyPr>
            <a:lstStyle/>
            <a:p>
              <a:pPr algn="l"/>
              <a:r>
                <a:rPr lang="zh-CN" sz="1050" b="1" dirty="0">
                  <a:solidFill>
                    <a:srgbClr val="2D3748"/>
                  </a:solidFill>
                  <a:latin typeface="Segoe UI" panose="020B0502040204020203"/>
                  <a:ea typeface="微软雅黑" panose="020B0503020204020204" charset="-122"/>
                  <a:cs typeface="Segoe UI" panose="020B0502040204020203"/>
                </a:rPr>
                <a:t>② 任务需求不匹配</a:t>
              </a:r>
              <a:endParaRPr lang="zh-CN" sz="1050" b="1" dirty="0">
                <a:solidFill>
                  <a:srgbClr val="2D3748"/>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1034415" y="4191952"/>
              <a:ext cx="4136184"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本项目需要"生成"任意公式而非"检索"已有公式 → 选择生成式方案</a:t>
              </a:r>
              <a:endParaRPr lang="zh-CN" sz="1050" dirty="0">
                <a:solidFill>
                  <a:srgbClr val="2D3748"/>
                </a:solidFill>
                <a:latin typeface="Segoe UI" panose="020B0502040204020203"/>
                <a:ea typeface="微软雅黑" panose="020B0503020204020204" charset="-122"/>
                <a:cs typeface="Segoe UI" panose="020B0502040204020203"/>
              </a:endParaRPr>
            </a:p>
          </p:txBody>
        </p:sp>
      </p:grpSp>
      <p:sp>
        <p:nvSpPr>
          <p:cNvPr id="34" name="TextBox 34"/>
          <p:cNvSpPr txBox="1"/>
          <p:nvPr/>
        </p:nvSpPr>
        <p:spPr>
          <a:xfrm>
            <a:off x="11513820" y="6570345"/>
            <a:ext cx="94869" cy="182880"/>
          </a:xfrm>
          <a:prstGeom prst="rect">
            <a:avLst/>
          </a:prstGeom>
          <a:noFill/>
          <a:ln>
            <a:noFill/>
          </a:ln>
        </p:spPr>
        <p:txBody>
          <a:bodyPr wrap="none" lIns="0" tIns="0" rIns="0" bIns="0" anchor="t" anchorCtr="0">
            <a:spAutoFit/>
          </a:bodyPr>
          <a:lstStyle/>
          <a:p>
            <a:pPr algn="l"/>
            <a:r>
              <a:rPr lang="zh-CN" sz="900" dirty="0">
                <a:solidFill>
                  <a:srgbClr val="CBD5E0"/>
                </a:solidFill>
                <a:latin typeface="Consolas" panose="020B0609020204030204"/>
                <a:ea typeface="微软雅黑" panose="020B0503020204020204" charset="-122"/>
                <a:cs typeface="Consolas" panose="020B0609020204030204"/>
              </a:rPr>
              <a:t>11</a:t>
            </a:r>
            <a:endParaRPr lang="zh-CN" sz="900" dirty="0">
              <a:solidFill>
                <a:srgbClr val="CBD5E0"/>
              </a:solidFill>
              <a:latin typeface="Consolas" panose="020B0609020204030204"/>
              <a:ea typeface="微软雅黑" panose="020B0503020204020204" charset="-122"/>
              <a:cs typeface="Consolas" panose="020B0609020204030204"/>
            </a:endParaRPr>
          </a:p>
        </p:txBody>
      </p:sp>
      <p:sp>
        <p:nvSpPr>
          <p:cNvPr id="35" name="文本框 34"/>
          <p:cNvSpPr txBox="1"/>
          <p:nvPr/>
        </p:nvSpPr>
        <p:spPr>
          <a:xfrm>
            <a:off x="1010920" y="4473575"/>
            <a:ext cx="2966720" cy="645160"/>
          </a:xfrm>
          <a:prstGeom prst="rect">
            <a:avLst/>
          </a:prstGeom>
          <a:noFill/>
        </p:spPr>
        <p:txBody>
          <a:bodyPr wrap="square" rtlCol="0">
            <a:spAutoFit/>
          </a:bodyPr>
          <a:p>
            <a:r>
              <a:rPr lang="zh-CN" altLang="en-US"/>
              <a:t>主要还是在尝试后发现准确率</a:t>
            </a:r>
            <a:r>
              <a:rPr lang="zh-CN" altLang="en-US"/>
              <a:t>太低</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47625"/>
          </a:xfrm>
          <a:prstGeom prst="rect">
            <a:avLst/>
          </a:prstGeom>
          <a:solidFill>
            <a:srgbClr val="38A169"/>
          </a:solidFill>
          <a:ln>
            <a:noFill/>
          </a:ln>
        </p:spPr>
      </p:sp>
      <p:sp>
        <p:nvSpPr>
          <p:cNvPr id="4" name="Rectangle 4"/>
          <p:cNvSpPr/>
          <p:nvPr/>
        </p:nvSpPr>
        <p:spPr>
          <a:xfrm>
            <a:off x="762000" y="476250"/>
            <a:ext cx="571500" cy="285750"/>
          </a:xfrm>
          <a:prstGeom prst="roundRect">
            <a:avLst>
              <a:gd name="adj" fmla="val 13333"/>
            </a:avLst>
          </a:prstGeom>
          <a:solidFill>
            <a:srgbClr val="38A169"/>
          </a:solidFill>
          <a:ln>
            <a:noFill/>
          </a:ln>
        </p:spPr>
      </p:sp>
      <p:sp>
        <p:nvSpPr>
          <p:cNvPr id="5" name="TextBox 5"/>
          <p:cNvSpPr txBox="1"/>
          <p:nvPr/>
        </p:nvSpPr>
        <p:spPr>
          <a:xfrm>
            <a:off x="898850" y="561499"/>
            <a:ext cx="29779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panose="020B0502040204020203"/>
                <a:ea typeface="微软雅黑" panose="020B0503020204020204" charset="-122"/>
                <a:cs typeface="Segoe UI" panose="020B0502040204020203"/>
              </a:rPr>
              <a:t>核心</a:t>
            </a:r>
            <a:endParaRPr lang="zh-CN" sz="975" b="1" dirty="0">
              <a:solidFill>
                <a:srgbClr val="FFFFFF"/>
              </a:solidFill>
              <a:latin typeface="Segoe UI" panose="020B0502040204020203"/>
              <a:ea typeface="微软雅黑" panose="020B0503020204020204" charset="-122"/>
              <a:cs typeface="Segoe UI" panose="020B0502040204020203"/>
            </a:endParaRPr>
          </a:p>
        </p:txBody>
      </p:sp>
      <p:sp>
        <p:nvSpPr>
          <p:cNvPr id="6" name="TextBox 6"/>
          <p:cNvSpPr txBox="1"/>
          <p:nvPr/>
        </p:nvSpPr>
        <p:spPr>
          <a:xfrm>
            <a:off x="1457325" y="504825"/>
            <a:ext cx="5876830" cy="304800"/>
          </a:xfrm>
          <a:prstGeom prst="rect">
            <a:avLst/>
          </a:prstGeom>
          <a:noFill/>
          <a:ln>
            <a:noFill/>
          </a:ln>
        </p:spPr>
        <p:txBody>
          <a:bodyPr wrap="none" lIns="0" tIns="0" rIns="0" bIns="0" anchor="t" anchorCtr="0">
            <a:spAutoFit/>
          </a:bodyPr>
          <a:lstStyle/>
          <a:p>
            <a:pPr algn="l"/>
            <a:r>
              <a:rPr lang="zh-CN" sz="1500" b="1" dirty="0">
                <a:solidFill>
                  <a:srgbClr val="2D3748"/>
                </a:solidFill>
                <a:latin typeface="Segoe UI" panose="020B0502040204020203"/>
                <a:ea typeface="微软雅黑" panose="020B0503020204020204" charset="-122"/>
                <a:cs typeface="Segoe UI" panose="020B0502040204020203"/>
              </a:rPr>
              <a:t>模型建立 — Transformer 与 TrOCR 架构（新算法·详细讲解）</a:t>
            </a:r>
            <a:endParaRPr lang="zh-CN" sz="1500" b="1" dirty="0">
              <a:solidFill>
                <a:srgbClr val="2D3748"/>
              </a:solidFill>
              <a:latin typeface="Segoe UI" panose="020B0502040204020203"/>
              <a:ea typeface="微软雅黑" panose="020B0503020204020204" charset="-122"/>
              <a:cs typeface="Segoe UI" panose="020B0502040204020203"/>
            </a:endParaRPr>
          </a:p>
        </p:txBody>
      </p:sp>
      <p:sp>
        <p:nvSpPr>
          <p:cNvPr id="7" name="Line 7"/>
          <p:cNvSpPr/>
          <p:nvPr/>
        </p:nvSpPr>
        <p:spPr>
          <a:xfrm>
            <a:off x="762000" y="904875"/>
            <a:ext cx="10668000" cy="9525"/>
          </a:xfrm>
          <a:custGeom>
            <a:avLst/>
            <a:gdLst/>
            <a:ahLst/>
            <a:cxnLst/>
            <a:rect l="l" t="t" r="r" b="b"/>
            <a:pathLst>
              <a:path w="10668000" h="9525">
                <a:moveTo>
                  <a:pt x="0" y="0"/>
                </a:moveTo>
                <a:lnTo>
                  <a:pt x="10668000" y="0"/>
                </a:lnTo>
              </a:path>
            </a:pathLst>
          </a:custGeom>
          <a:noFill/>
          <a:ln w="9525">
            <a:solidFill>
              <a:srgbClr val="E2E8F0"/>
            </a:solidFill>
          </a:ln>
        </p:spPr>
      </p:sp>
      <p:sp>
        <p:nvSpPr>
          <p:cNvPr id="8" name="Rectangle 8"/>
          <p:cNvSpPr/>
          <p:nvPr/>
        </p:nvSpPr>
        <p:spPr>
          <a:xfrm>
            <a:off x="762000" y="1143000"/>
            <a:ext cx="5143500" cy="1905000"/>
          </a:xfrm>
          <a:prstGeom prst="roundRect">
            <a:avLst>
              <a:gd name="adj" fmla="val 3000"/>
            </a:avLst>
          </a:prstGeom>
          <a:solidFill>
            <a:srgbClr val="FFF5F5"/>
          </a:solidFill>
          <a:ln>
            <a:noFill/>
          </a:ln>
        </p:spPr>
      </p:sp>
      <p:sp>
        <p:nvSpPr>
          <p:cNvPr id="9" name="TextBox 9"/>
          <p:cNvSpPr txBox="1"/>
          <p:nvPr/>
        </p:nvSpPr>
        <p:spPr>
          <a:xfrm>
            <a:off x="2397972" y="1288256"/>
            <a:ext cx="1871555" cy="228600"/>
          </a:xfrm>
          <a:prstGeom prst="rect">
            <a:avLst/>
          </a:prstGeom>
          <a:noFill/>
          <a:ln>
            <a:noFill/>
          </a:ln>
        </p:spPr>
        <p:txBody>
          <a:bodyPr wrap="none" lIns="0" tIns="0" rIns="0" bIns="0" anchor="t" anchorCtr="0">
            <a:spAutoFit/>
          </a:bodyPr>
          <a:lstStyle/>
          <a:p>
            <a:pPr algn="ctr"/>
            <a:r>
              <a:rPr lang="zh-CN" sz="1125" b="1" dirty="0">
                <a:solidFill>
                  <a:srgbClr val="C53030"/>
                </a:solidFill>
                <a:latin typeface="Segoe UI" panose="020B0502040204020203"/>
                <a:ea typeface="微软雅黑" panose="020B0503020204020204" charset="-122"/>
                <a:cs typeface="Segoe UI" panose="020B0502040204020203"/>
              </a:rPr>
              <a:t>注意力机制（Attention）</a:t>
            </a:r>
            <a:endParaRPr lang="zh-CN" sz="1125" b="1" dirty="0">
              <a:solidFill>
                <a:srgbClr val="C53030"/>
              </a:solidFill>
              <a:latin typeface="Segoe UI" panose="020B0502040204020203"/>
              <a:ea typeface="微软雅黑" panose="020B0503020204020204" charset="-122"/>
              <a:cs typeface="Segoe UI" panose="020B0502040204020203"/>
            </a:endParaRPr>
          </a:p>
        </p:txBody>
      </p:sp>
      <p:grpSp>
        <p:nvGrpSpPr>
          <p:cNvPr id="17" name="Group 17"/>
          <p:cNvGrpSpPr/>
          <p:nvPr/>
        </p:nvGrpSpPr>
        <p:grpSpPr>
          <a:xfrm>
            <a:off x="1035368" y="1561624"/>
            <a:ext cx="3275171" cy="1464945"/>
            <a:chOff x="1035368" y="1561624"/>
            <a:chExt cx="3275171" cy="1464945"/>
          </a:xfrm>
        </p:grpSpPr>
        <p:sp>
          <p:nvSpPr>
            <p:cNvPr id="10" name="TextBox 10"/>
            <p:cNvSpPr txBox="1"/>
            <p:nvPr/>
          </p:nvSpPr>
          <p:spPr>
            <a:xfrm>
              <a:off x="1035368" y="1561624"/>
              <a:ext cx="2885123"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核心操作：计算序列中每个位置对其他位置的权重</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1" name="TextBox 11"/>
            <p:cNvSpPr txBox="1"/>
            <p:nvPr/>
          </p:nvSpPr>
          <p:spPr>
            <a:xfrm>
              <a:off x="1035368" y="1799749"/>
              <a:ext cx="727828" cy="198120"/>
            </a:xfrm>
            <a:prstGeom prst="rect">
              <a:avLst/>
            </a:prstGeom>
            <a:noFill/>
            <a:ln>
              <a:noFill/>
            </a:ln>
          </p:spPr>
          <p:txBody>
            <a:bodyPr wrap="none" lIns="0" tIns="0" rIns="0" bIns="0" anchor="t" anchorCtr="0">
              <a:spAutoFit/>
            </a:bodyPr>
            <a:lstStyle/>
            <a:p>
              <a:pPr algn="l"/>
              <a:r>
                <a:rPr lang="zh-CN" sz="975" b="1" dirty="0">
                  <a:solidFill>
                    <a:srgbClr val="2D3748"/>
                  </a:solidFill>
                  <a:latin typeface="Segoe UI" panose="020B0502040204020203"/>
                  <a:ea typeface="微软雅黑" panose="020B0503020204020204" charset="-122"/>
                  <a:cs typeface="Segoe UI" panose="020B0502040204020203"/>
                </a:rPr>
                <a:t>QKV 三要素</a:t>
              </a:r>
              <a:endParaRPr lang="zh-CN" sz="975" b="1" dirty="0">
                <a:solidFill>
                  <a:srgbClr val="2D3748"/>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1035368" y="1990249"/>
              <a:ext cx="2079022"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Query（查询）：当前关注的位置</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035368" y="2180749"/>
              <a:ext cx="1779984"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Key（键）：其他位置的标识</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035368" y="2371249"/>
              <a:ext cx="1890498"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Value（值）：提取的信息内容</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1035368" y="2609374"/>
              <a:ext cx="2969633"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公式：Attention(Q,K,V) = softmax(QKᵀ/√d)·V</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1035368" y="2828449"/>
              <a:ext cx="3275171" cy="198120"/>
            </a:xfrm>
            <a:prstGeom prst="rect">
              <a:avLst/>
            </a:prstGeom>
            <a:noFill/>
            <a:ln>
              <a:noFill/>
            </a:ln>
          </p:spPr>
          <p:txBody>
            <a:bodyPr wrap="none" lIns="0" tIns="0" rIns="0" bIns="0" anchor="t" anchorCtr="0">
              <a:spAutoFit/>
            </a:bodyPr>
            <a:lstStyle/>
            <a:p>
              <a:pPr algn="l"/>
              <a:r>
                <a:rPr lang="zh-CN" sz="975" dirty="0">
                  <a:solidFill>
                    <a:srgbClr val="718096"/>
                  </a:solidFill>
                  <a:latin typeface="Segoe UI" panose="020B0502040204020203"/>
                  <a:ea typeface="微软雅黑" panose="020B0503020204020204" charset="-122"/>
                  <a:cs typeface="Segoe UI" panose="020B0502040204020203"/>
                </a:rPr>
                <a:t>多头注意力：多个并行的注意力头，捕获不同子空间信息</a:t>
              </a:r>
              <a:endParaRPr lang="zh-CN" sz="975" dirty="0">
                <a:solidFill>
                  <a:srgbClr val="718096"/>
                </a:solidFill>
                <a:latin typeface="Segoe UI" panose="020B0502040204020203"/>
                <a:ea typeface="微软雅黑" panose="020B0503020204020204" charset="-122"/>
                <a:cs typeface="Segoe UI" panose="020B0502040204020203"/>
              </a:endParaRPr>
            </a:p>
          </p:txBody>
        </p:sp>
      </p:grpSp>
      <p:sp>
        <p:nvSpPr>
          <p:cNvPr id="18" name="Rectangle 18"/>
          <p:cNvSpPr/>
          <p:nvPr/>
        </p:nvSpPr>
        <p:spPr>
          <a:xfrm>
            <a:off x="6191250" y="1143000"/>
            <a:ext cx="5238750" cy="1905000"/>
          </a:xfrm>
          <a:prstGeom prst="roundRect">
            <a:avLst>
              <a:gd name="adj" fmla="val 3000"/>
            </a:avLst>
          </a:prstGeom>
          <a:solidFill>
            <a:srgbClr val="FFF5F5"/>
          </a:solidFill>
          <a:ln>
            <a:noFill/>
          </a:ln>
        </p:spPr>
      </p:sp>
      <p:sp>
        <p:nvSpPr>
          <p:cNvPr id="19" name="TextBox 19"/>
          <p:cNvSpPr txBox="1"/>
          <p:nvPr/>
        </p:nvSpPr>
        <p:spPr>
          <a:xfrm>
            <a:off x="7866971" y="1288256"/>
            <a:ext cx="1887307" cy="228600"/>
          </a:xfrm>
          <a:prstGeom prst="rect">
            <a:avLst/>
          </a:prstGeom>
          <a:noFill/>
          <a:ln>
            <a:noFill/>
          </a:ln>
        </p:spPr>
        <p:txBody>
          <a:bodyPr wrap="none" lIns="0" tIns="0" rIns="0" bIns="0" anchor="t" anchorCtr="0">
            <a:spAutoFit/>
          </a:bodyPr>
          <a:lstStyle/>
          <a:p>
            <a:pPr algn="ctr"/>
            <a:r>
              <a:rPr lang="zh-CN" sz="1125" b="1" dirty="0">
                <a:solidFill>
                  <a:srgbClr val="C53030"/>
                </a:solidFill>
                <a:latin typeface="Segoe UI" panose="020B0502040204020203"/>
                <a:ea typeface="微软雅黑" panose="020B0503020204020204" charset="-122"/>
                <a:cs typeface="Segoe UI" panose="020B0502040204020203"/>
              </a:rPr>
              <a:t>TrOCR 编码器-解码器架构</a:t>
            </a:r>
            <a:endParaRPr lang="zh-CN" sz="1125" b="1" dirty="0">
              <a:solidFill>
                <a:srgbClr val="C53030"/>
              </a:solidFill>
              <a:latin typeface="Segoe UI" panose="020B0502040204020203"/>
              <a:ea typeface="微软雅黑" panose="020B0503020204020204" charset="-122"/>
              <a:cs typeface="Segoe UI" panose="020B0502040204020203"/>
            </a:endParaRPr>
          </a:p>
        </p:txBody>
      </p:sp>
      <p:grpSp>
        <p:nvGrpSpPr>
          <p:cNvPr id="27" name="Group 27"/>
          <p:cNvGrpSpPr/>
          <p:nvPr/>
        </p:nvGrpSpPr>
        <p:grpSpPr>
          <a:xfrm>
            <a:off x="6464618" y="1561624"/>
            <a:ext cx="3082123" cy="1369695"/>
            <a:chOff x="6464618" y="1561624"/>
            <a:chExt cx="3082123" cy="1369695"/>
          </a:xfrm>
        </p:grpSpPr>
        <p:sp>
          <p:nvSpPr>
            <p:cNvPr id="20" name="TextBox 20"/>
            <p:cNvSpPr txBox="1"/>
            <p:nvPr/>
          </p:nvSpPr>
          <p:spPr>
            <a:xfrm>
              <a:off x="6464618" y="1561624"/>
              <a:ext cx="2215864" cy="198120"/>
            </a:xfrm>
            <a:prstGeom prst="rect">
              <a:avLst/>
            </a:prstGeom>
            <a:noFill/>
            <a:ln>
              <a:noFill/>
            </a:ln>
          </p:spPr>
          <p:txBody>
            <a:bodyPr wrap="none" lIns="0" tIns="0" rIns="0" bIns="0" anchor="t" anchorCtr="0">
              <a:spAutoFit/>
            </a:bodyPr>
            <a:lstStyle/>
            <a:p>
              <a:pPr algn="l"/>
              <a:r>
                <a:rPr lang="zh-CN" sz="975" b="1" dirty="0">
                  <a:solidFill>
                    <a:srgbClr val="2D3748"/>
                  </a:solidFill>
                  <a:latin typeface="Segoe UI" panose="020B0502040204020203"/>
                  <a:ea typeface="微软雅黑" panose="020B0503020204020204" charset="-122"/>
                  <a:cs typeface="Segoe UI" panose="020B0502040204020203"/>
                </a:rPr>
                <a:t>ViT 编码器（Vision Transformer）</a:t>
              </a:r>
              <a:endParaRPr lang="zh-CN" sz="975" b="1" dirty="0">
                <a:solidFill>
                  <a:srgbClr val="2D374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6655118" y="1752124"/>
              <a:ext cx="1656469"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① 图像切分为 16×16 patches</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6655118" y="1942624"/>
              <a:ext cx="2001012"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② 每个 patch 线性投影为嵌入向量</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6655118" y="2133124"/>
              <a:ext cx="2176534"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③ 添加位置编码 → Transformer 编码</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6464618" y="2352199"/>
              <a:ext cx="1000862" cy="198120"/>
            </a:xfrm>
            <a:prstGeom prst="rect">
              <a:avLst/>
            </a:prstGeom>
            <a:noFill/>
            <a:ln>
              <a:noFill/>
            </a:ln>
          </p:spPr>
          <p:txBody>
            <a:bodyPr wrap="none" lIns="0" tIns="0" rIns="0" bIns="0" anchor="t" anchorCtr="0">
              <a:spAutoFit/>
            </a:bodyPr>
            <a:lstStyle/>
            <a:p>
              <a:pPr algn="l"/>
              <a:r>
                <a:rPr lang="zh-CN" sz="975" b="1" dirty="0">
                  <a:solidFill>
                    <a:srgbClr val="2D3748"/>
                  </a:solidFill>
                  <a:latin typeface="Segoe UI" panose="020B0502040204020203"/>
                  <a:ea typeface="微软雅黑" panose="020B0503020204020204" charset="-122"/>
                  <a:cs typeface="Segoe UI" panose="020B0502040204020203"/>
                </a:rPr>
                <a:t>RoBERTa 解码器</a:t>
              </a:r>
              <a:endParaRPr lang="zh-CN" sz="975" b="1" dirty="0">
                <a:solidFill>
                  <a:srgbClr val="2D3748"/>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6655118" y="2542699"/>
              <a:ext cx="1727978"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自回归逐个生成 LaTeX token</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6655118" y="2733199"/>
              <a:ext cx="2891623"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P(LaTeX|Image) = Π P(tokenᵢ|token&lt;ᵢ, Image)</a:t>
              </a:r>
              <a:endParaRPr lang="zh-CN" sz="975" dirty="0">
                <a:solidFill>
                  <a:srgbClr val="2D3748"/>
                </a:solidFill>
                <a:latin typeface="Segoe UI" panose="020B0502040204020203"/>
                <a:ea typeface="微软雅黑" panose="020B0503020204020204" charset="-122"/>
                <a:cs typeface="Segoe UI" panose="020B0502040204020203"/>
              </a:endParaRPr>
            </a:p>
          </p:txBody>
        </p:sp>
      </p:grpSp>
      <p:sp>
        <p:nvSpPr>
          <p:cNvPr id="28" name="Rectangle 28"/>
          <p:cNvSpPr/>
          <p:nvPr/>
        </p:nvSpPr>
        <p:spPr>
          <a:xfrm>
            <a:off x="762000" y="3286125"/>
            <a:ext cx="10668000" cy="857250"/>
          </a:xfrm>
          <a:prstGeom prst="roundRect">
            <a:avLst>
              <a:gd name="adj" fmla="val 6667"/>
            </a:avLst>
          </a:prstGeom>
          <a:solidFill>
            <a:srgbClr val="1A365D"/>
          </a:solidFill>
          <a:ln>
            <a:noFill/>
          </a:ln>
        </p:spPr>
      </p:sp>
      <p:sp>
        <p:nvSpPr>
          <p:cNvPr id="29" name="TextBox 29"/>
          <p:cNvSpPr txBox="1"/>
          <p:nvPr/>
        </p:nvSpPr>
        <p:spPr>
          <a:xfrm>
            <a:off x="4450956" y="3413760"/>
            <a:ext cx="329008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TrOCR 模型 = ViT 编码器 + RoBERTa 解码器</a:t>
            </a:r>
            <a:endParaRPr lang="zh-CN" sz="1200" b="1" dirty="0">
              <a:solidFill>
                <a:srgbClr val="FFFFFF"/>
              </a:solidFill>
              <a:latin typeface="Segoe UI" panose="020B0502040204020203"/>
              <a:ea typeface="微软雅黑" panose="020B0503020204020204" charset="-122"/>
              <a:cs typeface="Segoe UI" panose="020B0502040204020203"/>
            </a:endParaRPr>
          </a:p>
        </p:txBody>
      </p:sp>
      <p:grpSp>
        <p:nvGrpSpPr>
          <p:cNvPr id="32" name="Group 32"/>
          <p:cNvGrpSpPr/>
          <p:nvPr/>
        </p:nvGrpSpPr>
        <p:grpSpPr>
          <a:xfrm>
            <a:off x="3439835" y="3677602"/>
            <a:ext cx="5312331" cy="422910"/>
            <a:chOff x="3439835" y="3677602"/>
            <a:chExt cx="5312331" cy="422910"/>
          </a:xfrm>
        </p:grpSpPr>
        <p:sp>
          <p:nvSpPr>
            <p:cNvPr id="30" name="TextBox 30"/>
            <p:cNvSpPr txBox="1"/>
            <p:nvPr/>
          </p:nvSpPr>
          <p:spPr>
            <a:xfrm>
              <a:off x="4157424" y="3677602"/>
              <a:ext cx="3877151" cy="213360"/>
            </a:xfrm>
            <a:prstGeom prst="rect">
              <a:avLst/>
            </a:prstGeom>
            <a:noFill/>
            <a:ln>
              <a:noFill/>
            </a:ln>
          </p:spPr>
          <p:txBody>
            <a:bodyPr wrap="none" lIns="0" tIns="0" rIns="0" bIns="0" anchor="t" anchorCtr="0">
              <a:spAutoFit/>
            </a:bodyPr>
            <a:lstStyle/>
            <a:p>
              <a:pPr algn="ctr"/>
              <a:r>
                <a:rPr lang="zh-CN" sz="1050" dirty="0">
                  <a:solidFill>
                    <a:srgbClr val="90CDF4"/>
                  </a:solidFill>
                  <a:latin typeface="Segoe UI" panose="020B0502040204020203"/>
                  <a:ea typeface="微软雅黑" panose="020B0503020204020204" charset="-122"/>
                  <a:cs typeface="Segoe UI" panose="020B0502040204020203"/>
                </a:rPr>
                <a:t>图像 → ViT 编码器 → 特征向量 → RoBERTa 解码器 → LaTeX 序列</a:t>
              </a:r>
              <a:endParaRPr lang="zh-CN" sz="1050" dirty="0">
                <a:solidFill>
                  <a:srgbClr val="90CDF4"/>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3439835" y="3887152"/>
              <a:ext cx="5312331" cy="213360"/>
            </a:xfrm>
            <a:prstGeom prst="rect">
              <a:avLst/>
            </a:prstGeom>
            <a:noFill/>
            <a:ln>
              <a:noFill/>
            </a:ln>
          </p:spPr>
          <p:txBody>
            <a:bodyPr wrap="none" lIns="0" tIns="0" rIns="0" bIns="0" anchor="t" anchorCtr="0">
              <a:spAutoFit/>
            </a:bodyPr>
            <a:lstStyle/>
            <a:p>
              <a:pPr algn="ctr"/>
              <a:r>
                <a:rPr lang="zh-CN" sz="1050" dirty="0">
                  <a:solidFill>
                    <a:srgbClr val="90CDF4"/>
                  </a:solidFill>
                  <a:latin typeface="Segoe UI" panose="020B0502040204020203"/>
                  <a:ea typeface="微软雅黑" panose="020B0503020204020204" charset="-122"/>
                  <a:cs typeface="Segoe UI" panose="020B0502040204020203"/>
                </a:rPr>
                <a:t>参数总量：334M · 预训练：MathWriting 合成数据 · 基座：tjoab/latex_finetuned</a:t>
              </a:r>
              <a:endParaRPr lang="zh-CN" sz="1050" dirty="0">
                <a:solidFill>
                  <a:srgbClr val="90CDF4"/>
                </a:solidFill>
                <a:latin typeface="Segoe UI" panose="020B0502040204020203"/>
                <a:ea typeface="微软雅黑" panose="020B0503020204020204" charset="-122"/>
                <a:cs typeface="Segoe UI" panose="020B0502040204020203"/>
              </a:endParaRPr>
            </a:p>
          </p:txBody>
        </p:sp>
      </p:grpSp>
      <p:sp>
        <p:nvSpPr>
          <p:cNvPr id="33" name="Rectangle 33"/>
          <p:cNvSpPr/>
          <p:nvPr/>
        </p:nvSpPr>
        <p:spPr>
          <a:xfrm>
            <a:off x="762000" y="4381500"/>
            <a:ext cx="10668000" cy="476250"/>
          </a:xfrm>
          <a:prstGeom prst="roundRect">
            <a:avLst>
              <a:gd name="adj" fmla="val 12000"/>
            </a:avLst>
          </a:prstGeom>
          <a:solidFill>
            <a:srgbClr val="F0FFF4"/>
          </a:solidFill>
          <a:ln>
            <a:noFill/>
          </a:ln>
        </p:spPr>
      </p:sp>
      <p:sp>
        <p:nvSpPr>
          <p:cNvPr id="34" name="TextBox 34"/>
          <p:cNvSpPr txBox="1"/>
          <p:nvPr/>
        </p:nvSpPr>
        <p:spPr>
          <a:xfrm>
            <a:off x="2932271" y="4487228"/>
            <a:ext cx="6327457" cy="213360"/>
          </a:xfrm>
          <a:prstGeom prst="rect">
            <a:avLst/>
          </a:prstGeom>
          <a:noFill/>
          <a:ln>
            <a:noFill/>
          </a:ln>
        </p:spPr>
        <p:txBody>
          <a:bodyPr wrap="none" lIns="0" tIns="0" rIns="0" bIns="0" anchor="t" anchorCtr="0">
            <a:spAutoFit/>
          </a:bodyPr>
          <a:lstStyle/>
          <a:p>
            <a:pPr algn="ctr"/>
            <a:r>
              <a:rPr lang="zh-CN" sz="1050" dirty="0">
                <a:solidFill>
                  <a:srgbClr val="38A169"/>
                </a:solidFill>
                <a:latin typeface="Segoe UI" panose="020B0502040204020203"/>
                <a:ea typeface="微软雅黑" panose="020B0503020204020204" charset="-122"/>
                <a:cs typeface="Segoe UI" panose="020B0502040204020203"/>
              </a:rPr>
              <a:t>与 RNN/CNN 的区别：Transformer 并行计算所有位置，捕获长距离依赖，更适合公式的二维结构理解</a:t>
            </a:r>
            <a:endParaRPr lang="zh-CN" sz="1050" dirty="0">
              <a:solidFill>
                <a:srgbClr val="38A169"/>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11513820" y="6570345"/>
            <a:ext cx="124873" cy="182880"/>
          </a:xfrm>
          <a:prstGeom prst="rect">
            <a:avLst/>
          </a:prstGeom>
          <a:noFill/>
          <a:ln>
            <a:noFill/>
          </a:ln>
        </p:spPr>
        <p:txBody>
          <a:bodyPr wrap="none" lIns="0" tIns="0" rIns="0" bIns="0" anchor="t" anchorCtr="0">
            <a:spAutoFit/>
          </a:bodyPr>
          <a:lstStyle/>
          <a:p>
            <a:pPr algn="l"/>
            <a:r>
              <a:rPr lang="zh-CN" sz="900" dirty="0">
                <a:solidFill>
                  <a:srgbClr val="CBD5E0"/>
                </a:solidFill>
                <a:latin typeface="Consolas" panose="020B0609020204030204"/>
                <a:ea typeface="微软雅黑" panose="020B0503020204020204" charset="-122"/>
                <a:cs typeface="Consolas" panose="020B0609020204030204"/>
              </a:rPr>
              <a:t>12</a:t>
            </a:r>
            <a:endParaRPr lang="zh-CN" sz="900" dirty="0">
              <a:solidFill>
                <a:srgbClr val="CBD5E0"/>
              </a:solidFill>
              <a:latin typeface="Consolas" panose="020B0609020204030204"/>
              <a:ea typeface="微软雅黑" panose="020B0503020204020204" charset="-122"/>
              <a:cs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47625"/>
          </a:xfrm>
          <a:prstGeom prst="rect">
            <a:avLst/>
          </a:prstGeom>
          <a:solidFill>
            <a:srgbClr val="38A169"/>
          </a:solidFill>
          <a:ln>
            <a:noFill/>
          </a:ln>
        </p:spPr>
      </p:sp>
      <p:sp>
        <p:nvSpPr>
          <p:cNvPr id="4" name="Rectangle 4"/>
          <p:cNvSpPr/>
          <p:nvPr/>
        </p:nvSpPr>
        <p:spPr>
          <a:xfrm>
            <a:off x="762000" y="476250"/>
            <a:ext cx="571500" cy="285750"/>
          </a:xfrm>
          <a:prstGeom prst="roundRect">
            <a:avLst>
              <a:gd name="adj" fmla="val 13333"/>
            </a:avLst>
          </a:prstGeom>
          <a:solidFill>
            <a:srgbClr val="38A169"/>
          </a:solidFill>
          <a:ln>
            <a:noFill/>
          </a:ln>
        </p:spPr>
      </p:sp>
      <p:sp>
        <p:nvSpPr>
          <p:cNvPr id="5" name="TextBox 5"/>
          <p:cNvSpPr txBox="1"/>
          <p:nvPr/>
        </p:nvSpPr>
        <p:spPr>
          <a:xfrm>
            <a:off x="898850" y="561499"/>
            <a:ext cx="29779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panose="020B0502040204020203"/>
                <a:ea typeface="微软雅黑" panose="020B0503020204020204" charset="-122"/>
                <a:cs typeface="Segoe UI" panose="020B0502040204020203"/>
              </a:rPr>
              <a:t>核心</a:t>
            </a:r>
            <a:endParaRPr lang="zh-CN" sz="975" b="1" dirty="0">
              <a:solidFill>
                <a:srgbClr val="FFFFFF"/>
              </a:solidFill>
              <a:latin typeface="Segoe UI" panose="020B0502040204020203"/>
              <a:ea typeface="微软雅黑" panose="020B0503020204020204" charset="-122"/>
              <a:cs typeface="Segoe UI" panose="020B0502040204020203"/>
            </a:endParaRPr>
          </a:p>
        </p:txBody>
      </p:sp>
      <p:sp>
        <p:nvSpPr>
          <p:cNvPr id="6" name="TextBox 6"/>
          <p:cNvSpPr txBox="1"/>
          <p:nvPr/>
        </p:nvSpPr>
        <p:spPr>
          <a:xfrm>
            <a:off x="1457325" y="504825"/>
            <a:ext cx="4681855" cy="230505"/>
          </a:xfrm>
          <a:prstGeom prst="rect">
            <a:avLst/>
          </a:prstGeom>
          <a:noFill/>
          <a:ln>
            <a:noFill/>
          </a:ln>
        </p:spPr>
        <p:txBody>
          <a:bodyPr wrap="none" lIns="0" tIns="0" rIns="0" bIns="0" anchor="t" anchorCtr="0">
            <a:spAutoFit/>
          </a:bodyPr>
          <a:lstStyle/>
          <a:p>
            <a:pPr algn="l"/>
            <a:r>
              <a:rPr lang="zh-CN" sz="1500" b="1" dirty="0">
                <a:solidFill>
                  <a:srgbClr val="2D3748"/>
                </a:solidFill>
                <a:latin typeface="Segoe UI" panose="020B0502040204020203"/>
                <a:ea typeface="微软雅黑" panose="020B0503020204020204" charset="-122"/>
                <a:cs typeface="Segoe UI" panose="020B0502040204020203"/>
              </a:rPr>
              <a:t>模型建立 — LoRA 低秩适配微调（核心算法·详细讲解）</a:t>
            </a:r>
            <a:endParaRPr lang="zh-CN" sz="1500" b="1" dirty="0">
              <a:solidFill>
                <a:srgbClr val="2D3748"/>
              </a:solidFill>
              <a:latin typeface="Segoe UI" panose="020B0502040204020203"/>
              <a:ea typeface="微软雅黑" panose="020B0503020204020204" charset="-122"/>
              <a:cs typeface="Segoe UI" panose="020B0502040204020203"/>
            </a:endParaRPr>
          </a:p>
        </p:txBody>
      </p:sp>
      <p:sp>
        <p:nvSpPr>
          <p:cNvPr id="7" name="Line 7"/>
          <p:cNvSpPr/>
          <p:nvPr/>
        </p:nvSpPr>
        <p:spPr>
          <a:xfrm>
            <a:off x="762000" y="904875"/>
            <a:ext cx="10668000" cy="9525"/>
          </a:xfrm>
          <a:custGeom>
            <a:avLst/>
            <a:gdLst/>
            <a:ahLst/>
            <a:cxnLst/>
            <a:rect l="l" t="t" r="r" b="b"/>
            <a:pathLst>
              <a:path w="10668000" h="9525">
                <a:moveTo>
                  <a:pt x="0" y="0"/>
                </a:moveTo>
                <a:lnTo>
                  <a:pt x="10668000" y="0"/>
                </a:lnTo>
              </a:path>
            </a:pathLst>
          </a:custGeom>
          <a:noFill/>
          <a:ln w="9525">
            <a:solidFill>
              <a:srgbClr val="E2E8F0"/>
            </a:solidFill>
          </a:ln>
        </p:spPr>
      </p:sp>
      <p:sp>
        <p:nvSpPr>
          <p:cNvPr id="8" name="Rectangle 8"/>
          <p:cNvSpPr/>
          <p:nvPr/>
        </p:nvSpPr>
        <p:spPr>
          <a:xfrm>
            <a:off x="762000" y="1143000"/>
            <a:ext cx="3048000" cy="1238250"/>
          </a:xfrm>
          <a:prstGeom prst="roundRect">
            <a:avLst>
              <a:gd name="adj" fmla="val 4615"/>
            </a:avLst>
          </a:prstGeom>
          <a:solidFill>
            <a:srgbClr val="FFF5F5"/>
          </a:solidFill>
          <a:ln>
            <a:noFill/>
          </a:ln>
        </p:spPr>
      </p:sp>
      <p:sp>
        <p:nvSpPr>
          <p:cNvPr id="9" name="TextBox 9"/>
          <p:cNvSpPr txBox="1"/>
          <p:nvPr/>
        </p:nvSpPr>
        <p:spPr>
          <a:xfrm>
            <a:off x="1647837" y="1296352"/>
            <a:ext cx="1276326" cy="213360"/>
          </a:xfrm>
          <a:prstGeom prst="rect">
            <a:avLst/>
          </a:prstGeom>
          <a:noFill/>
          <a:ln>
            <a:noFill/>
          </a:ln>
        </p:spPr>
        <p:txBody>
          <a:bodyPr wrap="none" lIns="0" tIns="0" rIns="0" bIns="0" anchor="t" anchorCtr="0">
            <a:spAutoFit/>
          </a:bodyPr>
          <a:lstStyle/>
          <a:p>
            <a:pPr algn="ctr"/>
            <a:r>
              <a:rPr lang="zh-CN" sz="1050" b="1" dirty="0">
                <a:solidFill>
                  <a:srgbClr val="C53030"/>
                </a:solidFill>
                <a:latin typeface="Segoe UI" panose="020B0502040204020203"/>
                <a:ea typeface="微软雅黑" panose="020B0503020204020204" charset="-122"/>
                <a:cs typeface="Segoe UI" panose="020B0502040204020203"/>
              </a:rPr>
              <a:t>为什么需要 LoRA？</a:t>
            </a:r>
            <a:endParaRPr lang="zh-CN" sz="1050" b="1" dirty="0">
              <a:solidFill>
                <a:srgbClr val="C53030"/>
              </a:solidFill>
              <a:latin typeface="Segoe UI" panose="020B0502040204020203"/>
              <a:ea typeface="微软雅黑" panose="020B0503020204020204" charset="-122"/>
              <a:cs typeface="Segoe UI" panose="020B0502040204020203"/>
            </a:endParaRPr>
          </a:p>
        </p:txBody>
      </p:sp>
      <p:grpSp>
        <p:nvGrpSpPr>
          <p:cNvPr id="14" name="Group 14"/>
          <p:cNvGrpSpPr/>
          <p:nvPr/>
        </p:nvGrpSpPr>
        <p:grpSpPr>
          <a:xfrm>
            <a:off x="940118" y="1561624"/>
            <a:ext cx="1714976" cy="798195"/>
            <a:chOff x="940118" y="1561624"/>
            <a:chExt cx="1714976" cy="798195"/>
          </a:xfrm>
        </p:grpSpPr>
        <p:sp>
          <p:nvSpPr>
            <p:cNvPr id="10" name="TextBox 10"/>
            <p:cNvSpPr txBox="1"/>
            <p:nvPr/>
          </p:nvSpPr>
          <p:spPr>
            <a:xfrm>
              <a:off x="940118" y="1561624"/>
              <a:ext cx="1714976"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全量微调 334M 参数的问题：</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1" name="TextBox 11"/>
            <p:cNvSpPr txBox="1"/>
            <p:nvPr/>
          </p:nvSpPr>
          <p:spPr>
            <a:xfrm>
              <a:off x="940118" y="1780699"/>
              <a:ext cx="1350931"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需要 &gt; 16GB GPU 显存</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940118" y="1971199"/>
              <a:ext cx="1045393"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训练耗时数小时</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940118" y="2161699"/>
              <a:ext cx="1305425"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小样本时容易过拟合</a:t>
              </a:r>
              <a:endParaRPr lang="zh-CN" sz="975" dirty="0">
                <a:solidFill>
                  <a:srgbClr val="2D3748"/>
                </a:solidFill>
                <a:latin typeface="Segoe UI" panose="020B0502040204020203"/>
                <a:ea typeface="微软雅黑" panose="020B0503020204020204" charset="-122"/>
                <a:cs typeface="Segoe UI" panose="020B0502040204020203"/>
              </a:endParaRPr>
            </a:p>
          </p:txBody>
        </p:sp>
      </p:grpSp>
      <p:sp>
        <p:nvSpPr>
          <p:cNvPr id="15" name="Rectangle 15"/>
          <p:cNvSpPr/>
          <p:nvPr/>
        </p:nvSpPr>
        <p:spPr>
          <a:xfrm>
            <a:off x="4095750" y="1143000"/>
            <a:ext cx="3810000" cy="1238250"/>
          </a:xfrm>
          <a:prstGeom prst="roundRect">
            <a:avLst>
              <a:gd name="adj" fmla="val 4615"/>
            </a:avLst>
          </a:prstGeom>
          <a:solidFill>
            <a:srgbClr val="F0FFF4"/>
          </a:solidFill>
          <a:ln w="9525">
            <a:solidFill>
              <a:srgbClr val="38A169"/>
            </a:solidFill>
          </a:ln>
        </p:spPr>
      </p:sp>
      <p:sp>
        <p:nvSpPr>
          <p:cNvPr id="16" name="TextBox 16"/>
          <p:cNvSpPr txBox="1"/>
          <p:nvPr/>
        </p:nvSpPr>
        <p:spPr>
          <a:xfrm>
            <a:off x="5656624" y="1296352"/>
            <a:ext cx="688253" cy="213360"/>
          </a:xfrm>
          <a:prstGeom prst="rect">
            <a:avLst/>
          </a:prstGeom>
          <a:noFill/>
          <a:ln>
            <a:noFill/>
          </a:ln>
        </p:spPr>
        <p:txBody>
          <a:bodyPr wrap="none" lIns="0" tIns="0" rIns="0" bIns="0" anchor="t" anchorCtr="0">
            <a:spAutoFit/>
          </a:bodyPr>
          <a:lstStyle/>
          <a:p>
            <a:pPr algn="ctr"/>
            <a:r>
              <a:rPr lang="zh-CN" sz="1050" b="1" dirty="0">
                <a:solidFill>
                  <a:srgbClr val="38A169"/>
                </a:solidFill>
                <a:latin typeface="Segoe UI" panose="020B0502040204020203"/>
                <a:ea typeface="微软雅黑" panose="020B0503020204020204" charset="-122"/>
                <a:cs typeface="Segoe UI" panose="020B0502040204020203"/>
              </a:rPr>
              <a:t>LoRA 原理</a:t>
            </a:r>
            <a:endParaRPr lang="zh-CN" sz="1050" b="1" dirty="0">
              <a:solidFill>
                <a:srgbClr val="38A169"/>
              </a:solidFill>
              <a:latin typeface="Segoe UI" panose="020B0502040204020203"/>
              <a:ea typeface="微软雅黑" panose="020B0503020204020204" charset="-122"/>
              <a:cs typeface="Segoe UI" panose="020B0502040204020203"/>
            </a:endParaRPr>
          </a:p>
        </p:txBody>
      </p:sp>
      <p:grpSp>
        <p:nvGrpSpPr>
          <p:cNvPr id="21" name="Group 21"/>
          <p:cNvGrpSpPr/>
          <p:nvPr/>
        </p:nvGrpSpPr>
        <p:grpSpPr>
          <a:xfrm>
            <a:off x="4369118" y="1561624"/>
            <a:ext cx="2748605" cy="817245"/>
            <a:chOff x="4369118" y="1561624"/>
            <a:chExt cx="2748605" cy="817245"/>
          </a:xfrm>
        </p:grpSpPr>
        <p:sp>
          <p:nvSpPr>
            <p:cNvPr id="17" name="TextBox 17"/>
            <p:cNvSpPr txBox="1"/>
            <p:nvPr/>
          </p:nvSpPr>
          <p:spPr>
            <a:xfrm>
              <a:off x="4369118" y="1561624"/>
              <a:ext cx="768783" cy="198120"/>
            </a:xfrm>
            <a:prstGeom prst="rect">
              <a:avLst/>
            </a:prstGeom>
            <a:noFill/>
            <a:ln>
              <a:noFill/>
            </a:ln>
          </p:spPr>
          <p:txBody>
            <a:bodyPr wrap="none" lIns="0" tIns="0" rIns="0" bIns="0" anchor="t" anchorCtr="0">
              <a:spAutoFit/>
            </a:bodyPr>
            <a:lstStyle/>
            <a:p>
              <a:pPr algn="l"/>
              <a:r>
                <a:rPr lang="zh-CN" sz="975" b="1" dirty="0">
                  <a:solidFill>
                    <a:srgbClr val="2D3748"/>
                  </a:solidFill>
                  <a:latin typeface="Segoe UI" panose="020B0502040204020203"/>
                  <a:ea typeface="微软雅黑" panose="020B0503020204020204" charset="-122"/>
                  <a:cs typeface="Segoe UI" panose="020B0502040204020203"/>
                </a:rPr>
                <a:t>W' = W + BA</a:t>
              </a:r>
              <a:endParaRPr lang="zh-CN" sz="975" b="1" dirty="0">
                <a:solidFill>
                  <a:srgbClr val="2D3748"/>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4369118" y="1752124"/>
              <a:ext cx="2332553"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W ∈ ℝ^(d×k)：原始权重（冻结不更新）</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4369118" y="1942624"/>
              <a:ext cx="2748605"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B ∈ ℝ^(d×r), A ∈ ℝ^(r×k)：适配器（可训练）</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4369118" y="2180749"/>
              <a:ext cx="2038392" cy="198120"/>
            </a:xfrm>
            <a:prstGeom prst="rect">
              <a:avLst/>
            </a:prstGeom>
            <a:noFill/>
            <a:ln>
              <a:noFill/>
            </a:ln>
          </p:spPr>
          <p:txBody>
            <a:bodyPr wrap="none" lIns="0" tIns="0" rIns="0" bIns="0" anchor="t" anchorCtr="0">
              <a:spAutoFit/>
            </a:bodyPr>
            <a:lstStyle/>
            <a:p>
              <a:pPr algn="l"/>
              <a:r>
                <a:rPr lang="zh-CN" sz="975" b="1" dirty="0">
                  <a:solidFill>
                    <a:srgbClr val="E53E3E"/>
                  </a:solidFill>
                  <a:latin typeface="Segoe UI" panose="020B0502040204020203"/>
                  <a:ea typeface="微软雅黑" panose="020B0503020204020204" charset="-122"/>
                  <a:cs typeface="Segoe UI" panose="020B0502040204020203"/>
                </a:rPr>
                <a:t>r &lt;&lt; min(d,k) — 低秩约束是关键</a:t>
              </a:r>
              <a:endParaRPr lang="zh-CN" sz="975" b="1" dirty="0">
                <a:solidFill>
                  <a:srgbClr val="E53E3E"/>
                </a:solidFill>
                <a:latin typeface="Segoe UI" panose="020B0502040204020203"/>
                <a:ea typeface="微软雅黑" panose="020B0503020204020204" charset="-122"/>
                <a:cs typeface="Segoe UI" panose="020B0502040204020203"/>
              </a:endParaRPr>
            </a:p>
          </p:txBody>
        </p:sp>
      </p:grpSp>
      <p:sp>
        <p:nvSpPr>
          <p:cNvPr id="22" name="Rectangle 22"/>
          <p:cNvSpPr/>
          <p:nvPr/>
        </p:nvSpPr>
        <p:spPr>
          <a:xfrm>
            <a:off x="8191500" y="1143000"/>
            <a:ext cx="3238500" cy="1238250"/>
          </a:xfrm>
          <a:prstGeom prst="roundRect">
            <a:avLst>
              <a:gd name="adj" fmla="val 4615"/>
            </a:avLst>
          </a:prstGeom>
          <a:solidFill>
            <a:srgbClr val="F0FFF4"/>
          </a:solidFill>
          <a:ln>
            <a:noFill/>
          </a:ln>
        </p:spPr>
      </p:sp>
      <p:sp>
        <p:nvSpPr>
          <p:cNvPr id="23" name="TextBox 23"/>
          <p:cNvSpPr txBox="1"/>
          <p:nvPr/>
        </p:nvSpPr>
        <p:spPr>
          <a:xfrm>
            <a:off x="9503378" y="1296352"/>
            <a:ext cx="614744" cy="213360"/>
          </a:xfrm>
          <a:prstGeom prst="rect">
            <a:avLst/>
          </a:prstGeom>
          <a:noFill/>
          <a:ln>
            <a:noFill/>
          </a:ln>
        </p:spPr>
        <p:txBody>
          <a:bodyPr wrap="none" lIns="0" tIns="0" rIns="0" bIns="0" anchor="t" anchorCtr="0">
            <a:spAutoFit/>
          </a:bodyPr>
          <a:lstStyle/>
          <a:p>
            <a:pPr algn="ctr"/>
            <a:r>
              <a:rPr lang="zh-CN" sz="1050" b="1" dirty="0">
                <a:solidFill>
                  <a:srgbClr val="38A169"/>
                </a:solidFill>
                <a:latin typeface="Segoe UI" panose="020B0502040204020203"/>
                <a:ea typeface="微软雅黑" panose="020B0503020204020204" charset="-122"/>
                <a:cs typeface="Segoe UI" panose="020B0502040204020203"/>
              </a:rPr>
              <a:t>直观理解</a:t>
            </a:r>
            <a:endParaRPr lang="zh-CN" sz="1050" b="1" dirty="0">
              <a:solidFill>
                <a:srgbClr val="38A169"/>
              </a:solidFill>
              <a:latin typeface="Segoe UI" panose="020B0502040204020203"/>
              <a:ea typeface="微软雅黑" panose="020B0503020204020204" charset="-122"/>
              <a:cs typeface="Segoe UI" panose="020B0502040204020203"/>
            </a:endParaRPr>
          </a:p>
        </p:txBody>
      </p:sp>
      <p:grpSp>
        <p:nvGrpSpPr>
          <p:cNvPr id="28" name="Group 28"/>
          <p:cNvGrpSpPr/>
          <p:nvPr/>
        </p:nvGrpSpPr>
        <p:grpSpPr>
          <a:xfrm>
            <a:off x="8464868" y="1561624"/>
            <a:ext cx="1851493" cy="817245"/>
            <a:chOff x="8464868" y="1561624"/>
            <a:chExt cx="1851493" cy="817245"/>
          </a:xfrm>
        </p:grpSpPr>
        <p:sp>
          <p:nvSpPr>
            <p:cNvPr id="24" name="TextBox 24"/>
            <p:cNvSpPr txBox="1"/>
            <p:nvPr/>
          </p:nvSpPr>
          <p:spPr>
            <a:xfrm>
              <a:off x="8464868" y="1561624"/>
              <a:ext cx="1851493"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预训练模型的知识存在大矩阵 W</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8464868" y="1752124"/>
              <a:ext cx="1831991"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参数的更新量 ΔW 具有低秩结构</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8464868" y="1942624"/>
              <a:ext cx="1818989"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可用 BA 分解近似（B×A ≈ ΔW）</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8464868" y="2180749"/>
              <a:ext cx="1721477"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训练时只更新 B 和 A，W 不动</a:t>
              </a:r>
              <a:endParaRPr lang="zh-CN" sz="975" dirty="0">
                <a:solidFill>
                  <a:srgbClr val="2D3748"/>
                </a:solidFill>
                <a:latin typeface="Segoe UI" panose="020B0502040204020203"/>
                <a:ea typeface="微软雅黑" panose="020B0503020204020204" charset="-122"/>
                <a:cs typeface="Segoe UI" panose="020B0502040204020203"/>
              </a:endParaRPr>
            </a:p>
          </p:txBody>
        </p:sp>
      </p:grpSp>
      <p:sp>
        <p:nvSpPr>
          <p:cNvPr id="29" name="Rectangle 29"/>
          <p:cNvSpPr/>
          <p:nvPr/>
        </p:nvSpPr>
        <p:spPr>
          <a:xfrm>
            <a:off x="762000" y="2619375"/>
            <a:ext cx="10668000" cy="1143000"/>
          </a:xfrm>
          <a:prstGeom prst="roundRect">
            <a:avLst>
              <a:gd name="adj" fmla="val 5000"/>
            </a:avLst>
          </a:prstGeom>
          <a:solidFill>
            <a:srgbClr val="EBF8FF"/>
          </a:solidFill>
          <a:ln>
            <a:noFill/>
          </a:ln>
        </p:spPr>
      </p:sp>
      <p:sp>
        <p:nvSpPr>
          <p:cNvPr id="30" name="TextBox 30"/>
          <p:cNvSpPr txBox="1"/>
          <p:nvPr/>
        </p:nvSpPr>
        <p:spPr>
          <a:xfrm>
            <a:off x="5097214" y="2736056"/>
            <a:ext cx="1997571" cy="228600"/>
          </a:xfrm>
          <a:prstGeom prst="rect">
            <a:avLst/>
          </a:prstGeom>
          <a:noFill/>
          <a:ln>
            <a:noFill/>
          </a:ln>
        </p:spPr>
        <p:txBody>
          <a:bodyPr wrap="none" lIns="0" tIns="0" rIns="0" bIns="0" anchor="t" anchorCtr="0">
            <a:spAutoFit/>
          </a:bodyPr>
          <a:lstStyle/>
          <a:p>
            <a:pPr algn="ctr"/>
            <a:r>
              <a:rPr lang="zh-CN" sz="1125" b="1" dirty="0">
                <a:solidFill>
                  <a:srgbClr val="3182CE"/>
                </a:solidFill>
                <a:latin typeface="Segoe UI" panose="020B0502040204020203"/>
                <a:ea typeface="微软雅黑" panose="020B0503020204020204" charset="-122"/>
                <a:cs typeface="Segoe UI" panose="020B0502040204020203"/>
              </a:rPr>
              <a:t>全量微调 vs LoRA 微调 对比</a:t>
            </a:r>
            <a:endParaRPr lang="zh-CN" sz="1125" b="1" dirty="0">
              <a:solidFill>
                <a:srgbClr val="3182CE"/>
              </a:solidFill>
              <a:latin typeface="Segoe UI" panose="020B0502040204020203"/>
              <a:ea typeface="微软雅黑" panose="020B0503020204020204" charset="-122"/>
              <a:cs typeface="Segoe UI" panose="020B0502040204020203"/>
            </a:endParaRPr>
          </a:p>
        </p:txBody>
      </p:sp>
      <p:grpSp>
        <p:nvGrpSpPr>
          <p:cNvPr id="55" name="Group 55"/>
          <p:cNvGrpSpPr/>
          <p:nvPr/>
        </p:nvGrpSpPr>
        <p:grpSpPr>
          <a:xfrm>
            <a:off x="1047750" y="3000375"/>
            <a:ext cx="10096500" cy="702469"/>
            <a:chOff x="1047750" y="3000375"/>
            <a:chExt cx="10096500" cy="702469"/>
          </a:xfrm>
        </p:grpSpPr>
        <p:sp>
          <p:nvSpPr>
            <p:cNvPr id="31" name="Rectangle 31"/>
            <p:cNvSpPr/>
            <p:nvPr/>
          </p:nvSpPr>
          <p:spPr>
            <a:xfrm>
              <a:off x="1047750" y="3000375"/>
              <a:ext cx="1238250" cy="209550"/>
            </a:xfrm>
            <a:prstGeom prst="rect">
              <a:avLst/>
            </a:prstGeom>
            <a:solidFill>
              <a:srgbClr val="1A365D"/>
            </a:solidFill>
            <a:ln>
              <a:noFill/>
            </a:ln>
          </p:spPr>
        </p:sp>
        <p:sp>
          <p:nvSpPr>
            <p:cNvPr id="32" name="TextBox 32"/>
            <p:cNvSpPr txBox="1"/>
            <p:nvPr/>
          </p:nvSpPr>
          <p:spPr>
            <a:xfrm>
              <a:off x="1381458" y="3047524"/>
              <a:ext cx="57083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panose="020B0502040204020203"/>
                  <a:ea typeface="微软雅黑" panose="020B0503020204020204" charset="-122"/>
                  <a:cs typeface="Segoe UI" panose="020B0502040204020203"/>
                </a:rPr>
                <a:t>对比维度</a:t>
              </a:r>
              <a:endParaRPr lang="zh-CN" sz="975" b="1" dirty="0">
                <a:solidFill>
                  <a:srgbClr val="FFFFFF"/>
                </a:solidFill>
                <a:latin typeface="Segoe UI" panose="020B0502040204020203"/>
                <a:ea typeface="微软雅黑" panose="020B0503020204020204" charset="-122"/>
                <a:cs typeface="Segoe UI" panose="020B0502040204020203"/>
              </a:endParaRPr>
            </a:p>
          </p:txBody>
        </p:sp>
        <p:sp>
          <p:nvSpPr>
            <p:cNvPr id="33" name="Rectangle 33"/>
            <p:cNvSpPr/>
            <p:nvPr/>
          </p:nvSpPr>
          <p:spPr>
            <a:xfrm>
              <a:off x="2286000" y="3000375"/>
              <a:ext cx="2095500" cy="209550"/>
            </a:xfrm>
            <a:prstGeom prst="rect">
              <a:avLst/>
            </a:prstGeom>
            <a:solidFill>
              <a:srgbClr val="E2E8F0"/>
            </a:solidFill>
            <a:ln>
              <a:noFill/>
            </a:ln>
          </p:spPr>
        </p:sp>
        <p:sp>
          <p:nvSpPr>
            <p:cNvPr id="34" name="TextBox 34"/>
            <p:cNvSpPr txBox="1"/>
            <p:nvPr/>
          </p:nvSpPr>
          <p:spPr>
            <a:xfrm>
              <a:off x="3048333" y="3047524"/>
              <a:ext cx="570833" cy="198120"/>
            </a:xfrm>
            <a:prstGeom prst="rect">
              <a:avLst/>
            </a:prstGeom>
            <a:noFill/>
            <a:ln>
              <a:noFill/>
            </a:ln>
          </p:spPr>
          <p:txBody>
            <a:bodyPr wrap="none" lIns="0" tIns="0" rIns="0" bIns="0" anchor="t" anchorCtr="0">
              <a:spAutoFit/>
            </a:bodyPr>
            <a:lstStyle/>
            <a:p>
              <a:pPr algn="ctr"/>
              <a:r>
                <a:rPr lang="zh-CN" sz="975" b="1" dirty="0">
                  <a:solidFill>
                    <a:srgbClr val="2D3748"/>
                  </a:solidFill>
                  <a:latin typeface="Segoe UI" panose="020B0502040204020203"/>
                  <a:ea typeface="微软雅黑" panose="020B0503020204020204" charset="-122"/>
                  <a:cs typeface="Segoe UI" panose="020B0502040204020203"/>
                </a:rPr>
                <a:t>全量微调</a:t>
              </a:r>
              <a:endParaRPr lang="zh-CN" sz="975" b="1" dirty="0">
                <a:solidFill>
                  <a:srgbClr val="2D3748"/>
                </a:solidFill>
                <a:latin typeface="Segoe UI" panose="020B0502040204020203"/>
                <a:ea typeface="微软雅黑" panose="020B0503020204020204" charset="-122"/>
                <a:cs typeface="Segoe UI" panose="020B0502040204020203"/>
              </a:endParaRPr>
            </a:p>
          </p:txBody>
        </p:sp>
        <p:sp>
          <p:nvSpPr>
            <p:cNvPr id="35" name="Rectangle 35"/>
            <p:cNvSpPr/>
            <p:nvPr/>
          </p:nvSpPr>
          <p:spPr>
            <a:xfrm>
              <a:off x="4381500" y="3000375"/>
              <a:ext cx="2095500" cy="209550"/>
            </a:xfrm>
            <a:prstGeom prst="rect">
              <a:avLst/>
            </a:prstGeom>
            <a:solidFill>
              <a:srgbClr val="C6F6D5"/>
            </a:solidFill>
            <a:ln>
              <a:noFill/>
            </a:ln>
          </p:spPr>
        </p:sp>
        <p:sp>
          <p:nvSpPr>
            <p:cNvPr id="36" name="TextBox 36"/>
            <p:cNvSpPr txBox="1"/>
            <p:nvPr/>
          </p:nvSpPr>
          <p:spPr>
            <a:xfrm>
              <a:off x="5109704" y="3047524"/>
              <a:ext cx="639092" cy="198120"/>
            </a:xfrm>
            <a:prstGeom prst="rect">
              <a:avLst/>
            </a:prstGeom>
            <a:noFill/>
            <a:ln>
              <a:noFill/>
            </a:ln>
          </p:spPr>
          <p:txBody>
            <a:bodyPr wrap="none" lIns="0" tIns="0" rIns="0" bIns="0" anchor="t" anchorCtr="0">
              <a:spAutoFit/>
            </a:bodyPr>
            <a:lstStyle/>
            <a:p>
              <a:pPr algn="ctr"/>
              <a:r>
                <a:rPr lang="zh-CN" sz="975" b="1" dirty="0">
                  <a:solidFill>
                    <a:srgbClr val="2D3748"/>
                  </a:solidFill>
                  <a:latin typeface="Segoe UI" panose="020B0502040204020203"/>
                  <a:ea typeface="微软雅黑" panose="020B0503020204020204" charset="-122"/>
                  <a:cs typeface="Segoe UI" panose="020B0502040204020203"/>
                </a:rPr>
                <a:t>LoRA 微调</a:t>
              </a:r>
              <a:endParaRPr lang="zh-CN" sz="975" b="1" dirty="0">
                <a:solidFill>
                  <a:srgbClr val="2D3748"/>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6477000" y="3000375"/>
              <a:ext cx="4667250" cy="209550"/>
            </a:xfrm>
            <a:prstGeom prst="rect">
              <a:avLst/>
            </a:prstGeom>
            <a:solidFill>
              <a:srgbClr val="EBF8FF"/>
            </a:solidFill>
            <a:ln>
              <a:noFill/>
            </a:ln>
          </p:spPr>
        </p:sp>
        <p:sp>
          <p:nvSpPr>
            <p:cNvPr id="38" name="TextBox 38"/>
            <p:cNvSpPr txBox="1"/>
            <p:nvPr/>
          </p:nvSpPr>
          <p:spPr>
            <a:xfrm>
              <a:off x="8456950" y="3047524"/>
              <a:ext cx="707350" cy="198120"/>
            </a:xfrm>
            <a:prstGeom prst="rect">
              <a:avLst/>
            </a:prstGeom>
            <a:noFill/>
            <a:ln>
              <a:noFill/>
            </a:ln>
          </p:spPr>
          <p:txBody>
            <a:bodyPr wrap="none" lIns="0" tIns="0" rIns="0" bIns="0" anchor="t" anchorCtr="0">
              <a:spAutoFit/>
            </a:bodyPr>
            <a:lstStyle/>
            <a:p>
              <a:pPr algn="ctr"/>
              <a:r>
                <a:rPr lang="zh-CN" sz="975" b="1" dirty="0">
                  <a:solidFill>
                    <a:srgbClr val="2D3748"/>
                  </a:solidFill>
                  <a:latin typeface="Segoe UI" panose="020B0502040204020203"/>
                  <a:ea typeface="微软雅黑" panose="020B0503020204020204" charset="-122"/>
                  <a:cs typeface="Segoe UI" panose="020B0502040204020203"/>
                </a:rPr>
                <a:t>本项目配置</a:t>
              </a:r>
              <a:endParaRPr lang="zh-CN" sz="975" b="1" dirty="0">
                <a:solidFill>
                  <a:srgbClr val="2D3748"/>
                </a:solidFill>
                <a:latin typeface="Segoe UI" panose="020B0502040204020203"/>
                <a:ea typeface="微软雅黑" panose="020B0503020204020204" charset="-122"/>
                <a:cs typeface="Segoe UI" panose="020B0502040204020203"/>
              </a:endParaRPr>
            </a:p>
          </p:txBody>
        </p:sp>
        <p:sp>
          <p:nvSpPr>
            <p:cNvPr id="39" name="Rectangle 39"/>
            <p:cNvSpPr/>
            <p:nvPr/>
          </p:nvSpPr>
          <p:spPr>
            <a:xfrm>
              <a:off x="1047750" y="3228975"/>
              <a:ext cx="1238250" cy="209550"/>
            </a:xfrm>
            <a:prstGeom prst="rect">
              <a:avLst/>
            </a:prstGeom>
            <a:noFill/>
            <a:ln>
              <a:noFill/>
            </a:ln>
          </p:spPr>
        </p:sp>
        <p:sp>
          <p:nvSpPr>
            <p:cNvPr id="40" name="TextBox 40"/>
            <p:cNvSpPr txBox="1"/>
            <p:nvPr/>
          </p:nvSpPr>
          <p:spPr>
            <a:xfrm>
              <a:off x="1329452" y="3276124"/>
              <a:ext cx="674846"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Segoe UI" panose="020B0502040204020203"/>
                  <a:ea typeface="微软雅黑" panose="020B0503020204020204" charset="-122"/>
                  <a:cs typeface="Segoe UI" panose="020B0502040204020203"/>
                </a:rPr>
                <a:t>训练参数量</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41" name="Rectangle 41"/>
            <p:cNvSpPr/>
            <p:nvPr/>
          </p:nvSpPr>
          <p:spPr>
            <a:xfrm>
              <a:off x="2286000" y="3228975"/>
              <a:ext cx="2095500" cy="209550"/>
            </a:xfrm>
            <a:prstGeom prst="rect">
              <a:avLst/>
            </a:prstGeom>
            <a:noFill/>
            <a:ln>
              <a:noFill/>
            </a:ln>
          </p:spPr>
        </p:sp>
        <p:sp>
          <p:nvSpPr>
            <p:cNvPr id="42" name="TextBox 42"/>
            <p:cNvSpPr txBox="1"/>
            <p:nvPr/>
          </p:nvSpPr>
          <p:spPr>
            <a:xfrm>
              <a:off x="2947571" y="3276124"/>
              <a:ext cx="772358"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334M (100%)</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43" name="Rectangle 43"/>
            <p:cNvSpPr/>
            <p:nvPr/>
          </p:nvSpPr>
          <p:spPr>
            <a:xfrm>
              <a:off x="4381500" y="3228975"/>
              <a:ext cx="2095500" cy="209550"/>
            </a:xfrm>
            <a:prstGeom prst="rect">
              <a:avLst/>
            </a:prstGeom>
            <a:noFill/>
            <a:ln>
              <a:noFill/>
            </a:ln>
          </p:spPr>
        </p:sp>
        <p:sp>
          <p:nvSpPr>
            <p:cNvPr id="44" name="TextBox 44"/>
            <p:cNvSpPr txBox="1"/>
            <p:nvPr/>
          </p:nvSpPr>
          <p:spPr>
            <a:xfrm>
              <a:off x="5114580" y="3276124"/>
              <a:ext cx="629341" cy="198120"/>
            </a:xfrm>
            <a:prstGeom prst="rect">
              <a:avLst/>
            </a:prstGeom>
            <a:noFill/>
            <a:ln>
              <a:noFill/>
            </a:ln>
          </p:spPr>
          <p:txBody>
            <a:bodyPr wrap="none" lIns="0" tIns="0" rIns="0" bIns="0" anchor="t" anchorCtr="0">
              <a:spAutoFit/>
            </a:bodyPr>
            <a:lstStyle/>
            <a:p>
              <a:pPr algn="ctr"/>
              <a:r>
                <a:rPr lang="zh-CN" sz="975" dirty="0">
                  <a:solidFill>
                    <a:srgbClr val="38A169"/>
                  </a:solidFill>
                  <a:latin typeface="Segoe UI" panose="020B0502040204020203"/>
                  <a:ea typeface="微软雅黑" panose="020B0503020204020204" charset="-122"/>
                  <a:cs typeface="Segoe UI" panose="020B0502040204020203"/>
                </a:rPr>
                <a:t>1M (0.3%)</a:t>
              </a:r>
              <a:endParaRPr lang="zh-CN" sz="975" dirty="0">
                <a:solidFill>
                  <a:srgbClr val="38A169"/>
                </a:solidFill>
                <a:latin typeface="Segoe UI" panose="020B0502040204020203"/>
                <a:ea typeface="微软雅黑" panose="020B0503020204020204" charset="-122"/>
                <a:cs typeface="Segoe UI" panose="020B0502040204020203"/>
              </a:endParaRPr>
            </a:p>
          </p:txBody>
        </p:sp>
        <p:sp>
          <p:nvSpPr>
            <p:cNvPr id="45" name="Rectangle 45"/>
            <p:cNvSpPr/>
            <p:nvPr/>
          </p:nvSpPr>
          <p:spPr>
            <a:xfrm>
              <a:off x="6477000" y="3228975"/>
              <a:ext cx="4667250" cy="209550"/>
            </a:xfrm>
            <a:prstGeom prst="rect">
              <a:avLst/>
            </a:prstGeom>
            <a:noFill/>
            <a:ln>
              <a:noFill/>
            </a:ln>
          </p:spPr>
        </p:sp>
        <p:sp>
          <p:nvSpPr>
            <p:cNvPr id="46" name="TextBox 46"/>
            <p:cNvSpPr txBox="1"/>
            <p:nvPr/>
          </p:nvSpPr>
          <p:spPr>
            <a:xfrm>
              <a:off x="7862126" y="3276124"/>
              <a:ext cx="1896999" cy="198120"/>
            </a:xfrm>
            <a:prstGeom prst="rect">
              <a:avLst/>
            </a:prstGeom>
            <a:noFill/>
            <a:ln>
              <a:noFill/>
            </a:ln>
          </p:spPr>
          <p:txBody>
            <a:bodyPr wrap="none" lIns="0" tIns="0" rIns="0" bIns="0" anchor="t" anchorCtr="0">
              <a:spAutoFit/>
            </a:bodyPr>
            <a:lstStyle/>
            <a:p>
              <a:pPr algn="ctr"/>
              <a:r>
                <a:rPr lang="zh-CN" sz="975" dirty="0">
                  <a:solidFill>
                    <a:srgbClr val="3182CE"/>
                  </a:solidFill>
                  <a:latin typeface="Segoe UI" panose="020B0502040204020203"/>
                  <a:ea typeface="微软雅黑" panose="020B0503020204020204" charset="-122"/>
                  <a:cs typeface="Segoe UI" panose="020B0502040204020203"/>
                </a:rPr>
                <a:t>rank=8, alpha=16, target=q+v</a:t>
              </a:r>
              <a:endParaRPr lang="zh-CN" sz="975" dirty="0">
                <a:solidFill>
                  <a:srgbClr val="3182CE"/>
                </a:solidFill>
                <a:latin typeface="Segoe UI" panose="020B0502040204020203"/>
                <a:ea typeface="微软雅黑" panose="020B0503020204020204" charset="-122"/>
                <a:cs typeface="Segoe UI" panose="020B0502040204020203"/>
              </a:endParaRPr>
            </a:p>
          </p:txBody>
        </p:sp>
        <p:sp>
          <p:nvSpPr>
            <p:cNvPr id="47" name="Rectangle 47"/>
            <p:cNvSpPr/>
            <p:nvPr/>
          </p:nvSpPr>
          <p:spPr>
            <a:xfrm>
              <a:off x="1047750" y="3457575"/>
              <a:ext cx="1238250" cy="209550"/>
            </a:xfrm>
            <a:prstGeom prst="rect">
              <a:avLst/>
            </a:prstGeom>
            <a:noFill/>
            <a:ln>
              <a:noFill/>
            </a:ln>
          </p:spPr>
        </p:sp>
        <p:sp>
          <p:nvSpPr>
            <p:cNvPr id="48" name="TextBox 48"/>
            <p:cNvSpPr txBox="1"/>
            <p:nvPr/>
          </p:nvSpPr>
          <p:spPr>
            <a:xfrm>
              <a:off x="1397710" y="3504724"/>
              <a:ext cx="538329"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Segoe UI" panose="020B0502040204020203"/>
                  <a:ea typeface="微软雅黑" panose="020B0503020204020204" charset="-122"/>
                  <a:cs typeface="Segoe UI" panose="020B0502040204020203"/>
                </a:rPr>
                <a:t>GPU 显存</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49" name="Rectangle 49"/>
            <p:cNvSpPr/>
            <p:nvPr/>
          </p:nvSpPr>
          <p:spPr>
            <a:xfrm>
              <a:off x="2286000" y="3457575"/>
              <a:ext cx="2095500" cy="209550"/>
            </a:xfrm>
            <a:prstGeom prst="rect">
              <a:avLst/>
            </a:prstGeom>
            <a:noFill/>
            <a:ln>
              <a:noFill/>
            </a:ln>
          </p:spPr>
        </p:sp>
        <p:sp>
          <p:nvSpPr>
            <p:cNvPr id="50" name="TextBox 50"/>
            <p:cNvSpPr txBox="1"/>
            <p:nvPr/>
          </p:nvSpPr>
          <p:spPr>
            <a:xfrm>
              <a:off x="3139345" y="3504724"/>
              <a:ext cx="388810"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&gt; 16GB</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51" name="Rectangle 51"/>
            <p:cNvSpPr/>
            <p:nvPr/>
          </p:nvSpPr>
          <p:spPr>
            <a:xfrm>
              <a:off x="4381500" y="3457575"/>
              <a:ext cx="2095500" cy="209550"/>
            </a:xfrm>
            <a:prstGeom prst="rect">
              <a:avLst/>
            </a:prstGeom>
            <a:noFill/>
            <a:ln>
              <a:noFill/>
            </a:ln>
          </p:spPr>
        </p:sp>
        <p:sp>
          <p:nvSpPr>
            <p:cNvPr id="52" name="TextBox 52"/>
            <p:cNvSpPr txBox="1"/>
            <p:nvPr/>
          </p:nvSpPr>
          <p:spPr>
            <a:xfrm>
              <a:off x="5273850" y="3504724"/>
              <a:ext cx="310801" cy="198120"/>
            </a:xfrm>
            <a:prstGeom prst="rect">
              <a:avLst/>
            </a:prstGeom>
            <a:noFill/>
            <a:ln>
              <a:noFill/>
            </a:ln>
          </p:spPr>
          <p:txBody>
            <a:bodyPr wrap="none" lIns="0" tIns="0" rIns="0" bIns="0" anchor="t" anchorCtr="0">
              <a:spAutoFit/>
            </a:bodyPr>
            <a:lstStyle/>
            <a:p>
              <a:pPr algn="ctr"/>
              <a:r>
                <a:rPr lang="zh-CN" sz="975" dirty="0">
                  <a:solidFill>
                    <a:srgbClr val="38A169"/>
                  </a:solidFill>
                  <a:latin typeface="Segoe UI" panose="020B0502040204020203"/>
                  <a:ea typeface="微软雅黑" panose="020B0503020204020204" charset="-122"/>
                  <a:cs typeface="Segoe UI" panose="020B0502040204020203"/>
                </a:rPr>
                <a:t>~4GB</a:t>
              </a:r>
              <a:endParaRPr lang="zh-CN" sz="975" dirty="0">
                <a:solidFill>
                  <a:srgbClr val="38A169"/>
                </a:solidFill>
                <a:latin typeface="Segoe UI" panose="020B0502040204020203"/>
                <a:ea typeface="微软雅黑" panose="020B0503020204020204" charset="-122"/>
                <a:cs typeface="Segoe UI" panose="020B0502040204020203"/>
              </a:endParaRPr>
            </a:p>
          </p:txBody>
        </p:sp>
        <p:sp>
          <p:nvSpPr>
            <p:cNvPr id="53" name="Rectangle 53"/>
            <p:cNvSpPr/>
            <p:nvPr/>
          </p:nvSpPr>
          <p:spPr>
            <a:xfrm>
              <a:off x="6477000" y="3457575"/>
              <a:ext cx="4667250" cy="209550"/>
            </a:xfrm>
            <a:prstGeom prst="rect">
              <a:avLst/>
            </a:prstGeom>
            <a:noFill/>
            <a:ln>
              <a:noFill/>
            </a:ln>
          </p:spPr>
        </p:sp>
        <p:sp>
          <p:nvSpPr>
            <p:cNvPr id="54" name="TextBox 54"/>
            <p:cNvSpPr txBox="1"/>
            <p:nvPr/>
          </p:nvSpPr>
          <p:spPr>
            <a:xfrm>
              <a:off x="8050649" y="3504724"/>
              <a:ext cx="1519952" cy="198120"/>
            </a:xfrm>
            <a:prstGeom prst="rect">
              <a:avLst/>
            </a:prstGeom>
            <a:noFill/>
            <a:ln>
              <a:noFill/>
            </a:ln>
          </p:spPr>
          <p:txBody>
            <a:bodyPr wrap="none" lIns="0" tIns="0" rIns="0" bIns="0" anchor="t" anchorCtr="0">
              <a:spAutoFit/>
            </a:bodyPr>
            <a:lstStyle/>
            <a:p>
              <a:pPr algn="ctr"/>
              <a:r>
                <a:rPr lang="zh-CN" sz="975" dirty="0">
                  <a:solidFill>
                    <a:srgbClr val="3182CE"/>
                  </a:solidFill>
                  <a:latin typeface="Segoe UI" panose="020B0502040204020203"/>
                  <a:ea typeface="微软雅黑" panose="020B0503020204020204" charset="-122"/>
                  <a:cs typeface="Segoe UI" panose="020B0502040204020203"/>
                </a:rPr>
                <a:t>RTX 4060 (8GB) 实测可用</a:t>
              </a:r>
              <a:endParaRPr lang="zh-CN" sz="975" dirty="0">
                <a:solidFill>
                  <a:srgbClr val="3182CE"/>
                </a:solidFill>
                <a:latin typeface="Segoe UI" panose="020B0502040204020203"/>
                <a:ea typeface="微软雅黑" panose="020B0503020204020204" charset="-122"/>
                <a:cs typeface="Segoe UI" panose="020B0502040204020203"/>
              </a:endParaRPr>
            </a:p>
          </p:txBody>
        </p:sp>
      </p:grpSp>
      <p:sp>
        <p:nvSpPr>
          <p:cNvPr id="56" name="Rectangle 56"/>
          <p:cNvSpPr/>
          <p:nvPr/>
        </p:nvSpPr>
        <p:spPr>
          <a:xfrm>
            <a:off x="762000" y="4000500"/>
            <a:ext cx="5143500" cy="809625"/>
          </a:xfrm>
          <a:prstGeom prst="roundRect">
            <a:avLst>
              <a:gd name="adj" fmla="val 7059"/>
            </a:avLst>
          </a:prstGeom>
          <a:solidFill>
            <a:srgbClr val="1A365D"/>
          </a:solidFill>
          <a:ln>
            <a:noFill/>
          </a:ln>
        </p:spPr>
      </p:sp>
      <p:sp>
        <p:nvSpPr>
          <p:cNvPr id="57" name="TextBox 57"/>
          <p:cNvSpPr txBox="1"/>
          <p:nvPr/>
        </p:nvSpPr>
        <p:spPr>
          <a:xfrm>
            <a:off x="2768144" y="4145756"/>
            <a:ext cx="113121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panose="020B0502040204020203"/>
                <a:ea typeface="微软雅黑" panose="020B0503020204020204" charset="-122"/>
                <a:cs typeface="Segoe UI" panose="020B0502040204020203"/>
              </a:rPr>
              <a:t>训练配置与效果</a:t>
            </a:r>
            <a:endParaRPr lang="zh-CN" sz="1125" b="1" dirty="0">
              <a:solidFill>
                <a:srgbClr val="FFFFFF"/>
              </a:solidFill>
              <a:latin typeface="Segoe UI" panose="020B0502040204020203"/>
              <a:ea typeface="微软雅黑" panose="020B0503020204020204" charset="-122"/>
              <a:cs typeface="Segoe UI" panose="020B0502040204020203"/>
            </a:endParaRPr>
          </a:p>
        </p:txBody>
      </p:sp>
      <p:grpSp>
        <p:nvGrpSpPr>
          <p:cNvPr id="60" name="Group 60"/>
          <p:cNvGrpSpPr/>
          <p:nvPr/>
        </p:nvGrpSpPr>
        <p:grpSpPr>
          <a:xfrm>
            <a:off x="1806678" y="4390549"/>
            <a:ext cx="3054144" cy="350520"/>
            <a:chOff x="1806678" y="4390549"/>
            <a:chExt cx="3054144" cy="350520"/>
          </a:xfrm>
        </p:grpSpPr>
        <p:sp>
          <p:nvSpPr>
            <p:cNvPr id="58" name="TextBox 58"/>
            <p:cNvSpPr txBox="1"/>
            <p:nvPr/>
          </p:nvSpPr>
          <p:spPr>
            <a:xfrm>
              <a:off x="1806678" y="4390549"/>
              <a:ext cx="3054144" cy="198120"/>
            </a:xfrm>
            <a:prstGeom prst="rect">
              <a:avLst/>
            </a:prstGeom>
            <a:noFill/>
            <a:ln>
              <a:noFill/>
            </a:ln>
          </p:spPr>
          <p:txBody>
            <a:bodyPr wrap="none" lIns="0" tIns="0" rIns="0" bIns="0" anchor="t" anchorCtr="0">
              <a:spAutoFit/>
            </a:bodyPr>
            <a:lstStyle/>
            <a:p>
              <a:pPr algn="ctr"/>
              <a:r>
                <a:rPr lang="zh-CN" sz="975" dirty="0">
                  <a:solidFill>
                    <a:srgbClr val="90CDF4"/>
                  </a:solidFill>
                  <a:latin typeface="Segoe UI" panose="020B0502040204020203"/>
                  <a:ea typeface="微软雅黑" panose="020B0503020204020204" charset="-122"/>
                  <a:cs typeface="Segoe UI" panose="020B0502040204020203"/>
                </a:rPr>
                <a:t>700 样本 · 8 epochs · batch=8 · lr=2e-4 · AdamW</a:t>
              </a:r>
              <a:endParaRPr lang="zh-CN" sz="975" dirty="0">
                <a:solidFill>
                  <a:srgbClr val="90CDF4"/>
                </a:solidFill>
                <a:latin typeface="Segoe UI" panose="020B0502040204020203"/>
                <a:ea typeface="微软雅黑" panose="020B0503020204020204" charset="-122"/>
                <a:cs typeface="Segoe UI" panose="020B0502040204020203"/>
              </a:endParaRPr>
            </a:p>
          </p:txBody>
        </p:sp>
        <p:sp>
          <p:nvSpPr>
            <p:cNvPr id="59" name="TextBox 59"/>
            <p:cNvSpPr txBox="1"/>
            <p:nvPr/>
          </p:nvSpPr>
          <p:spPr>
            <a:xfrm>
              <a:off x="3270250" y="4590574"/>
              <a:ext cx="127000" cy="150495"/>
            </a:xfrm>
            <a:prstGeom prst="rect">
              <a:avLst/>
            </a:prstGeom>
            <a:noFill/>
            <a:ln>
              <a:noFill/>
            </a:ln>
          </p:spPr>
          <p:txBody>
            <a:bodyPr wrap="none" lIns="0" tIns="0" rIns="0" bIns="0" anchor="t" anchorCtr="0">
              <a:spAutoFit/>
            </a:bodyPr>
            <a:lstStyle/>
            <a:p>
              <a:pPr algn="ctr"/>
              <a:endParaRPr lang="zh-CN" sz="975" dirty="0">
                <a:solidFill>
                  <a:srgbClr val="90CDF4"/>
                </a:solidFill>
                <a:latin typeface="Segoe UI" panose="020B0502040204020203"/>
                <a:ea typeface="微软雅黑" panose="020B0503020204020204" charset="-122"/>
                <a:cs typeface="Segoe UI" panose="020B0502040204020203"/>
              </a:endParaRPr>
            </a:p>
          </p:txBody>
        </p:sp>
      </p:grpSp>
      <p:sp>
        <p:nvSpPr>
          <p:cNvPr id="61" name="Rectangle 61"/>
          <p:cNvSpPr/>
          <p:nvPr/>
        </p:nvSpPr>
        <p:spPr>
          <a:xfrm>
            <a:off x="6191250" y="4000500"/>
            <a:ext cx="5238750" cy="809625"/>
          </a:xfrm>
          <a:prstGeom prst="roundRect">
            <a:avLst>
              <a:gd name="adj" fmla="val 7059"/>
            </a:avLst>
          </a:prstGeom>
          <a:solidFill>
            <a:srgbClr val="F0FFF4"/>
          </a:solidFill>
          <a:ln>
            <a:noFill/>
          </a:ln>
        </p:spPr>
      </p:sp>
      <p:sp>
        <p:nvSpPr>
          <p:cNvPr id="62" name="TextBox 62"/>
          <p:cNvSpPr txBox="1"/>
          <p:nvPr/>
        </p:nvSpPr>
        <p:spPr>
          <a:xfrm>
            <a:off x="8245971" y="4153852"/>
            <a:ext cx="1129308" cy="213360"/>
          </a:xfrm>
          <a:prstGeom prst="rect">
            <a:avLst/>
          </a:prstGeom>
          <a:noFill/>
          <a:ln>
            <a:noFill/>
          </a:ln>
        </p:spPr>
        <p:txBody>
          <a:bodyPr wrap="none" lIns="0" tIns="0" rIns="0" bIns="0" anchor="t" anchorCtr="0">
            <a:spAutoFit/>
          </a:bodyPr>
          <a:lstStyle/>
          <a:p>
            <a:pPr algn="ctr"/>
            <a:r>
              <a:rPr lang="zh-CN" sz="1050" b="1" dirty="0">
                <a:solidFill>
                  <a:srgbClr val="38A169"/>
                </a:solidFill>
                <a:latin typeface="Segoe UI" panose="020B0502040204020203"/>
                <a:ea typeface="微软雅黑" panose="020B0503020204020204" charset="-122"/>
                <a:cs typeface="Segoe UI" panose="020B0502040204020203"/>
              </a:rPr>
              <a:t>LoRA 的核心价值</a:t>
            </a:r>
            <a:endParaRPr lang="zh-CN" sz="1050" b="1" dirty="0">
              <a:solidFill>
                <a:srgbClr val="38A169"/>
              </a:solidFill>
              <a:latin typeface="Segoe UI" panose="020B0502040204020203"/>
              <a:ea typeface="微软雅黑" panose="020B0503020204020204" charset="-122"/>
              <a:cs typeface="Segoe UI" panose="020B0502040204020203"/>
            </a:endParaRPr>
          </a:p>
        </p:txBody>
      </p:sp>
      <p:grpSp>
        <p:nvGrpSpPr>
          <p:cNvPr id="65" name="Group 65"/>
          <p:cNvGrpSpPr/>
          <p:nvPr/>
        </p:nvGrpSpPr>
        <p:grpSpPr>
          <a:xfrm>
            <a:off x="6464618" y="4390549"/>
            <a:ext cx="2365058" cy="398145"/>
            <a:chOff x="6464618" y="4390549"/>
            <a:chExt cx="2365058" cy="398145"/>
          </a:xfrm>
        </p:grpSpPr>
        <p:sp>
          <p:nvSpPr>
            <p:cNvPr id="63" name="TextBox 63"/>
            <p:cNvSpPr txBox="1"/>
            <p:nvPr/>
          </p:nvSpPr>
          <p:spPr>
            <a:xfrm>
              <a:off x="6464618" y="4390549"/>
              <a:ext cx="2319552"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0.3% 参数 = 1M/334M，模型仅增 4MB</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64" name="TextBox 64"/>
            <p:cNvSpPr txBox="1"/>
            <p:nvPr/>
          </p:nvSpPr>
          <p:spPr>
            <a:xfrm>
              <a:off x="6464618" y="4590574"/>
              <a:ext cx="2365058"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7 分钟训练 vs 数小时，加速比 4,096×</a:t>
              </a:r>
              <a:endParaRPr lang="zh-CN" sz="975" dirty="0">
                <a:solidFill>
                  <a:srgbClr val="2D3748"/>
                </a:solidFill>
                <a:latin typeface="Segoe UI" panose="020B0502040204020203"/>
                <a:ea typeface="微软雅黑" panose="020B0503020204020204" charset="-122"/>
                <a:cs typeface="Segoe UI" panose="020B0502040204020203"/>
              </a:endParaRPr>
            </a:p>
          </p:txBody>
        </p:sp>
      </p:grpSp>
      <p:sp>
        <p:nvSpPr>
          <p:cNvPr id="66" name="TextBox 66"/>
          <p:cNvSpPr txBox="1"/>
          <p:nvPr/>
        </p:nvSpPr>
        <p:spPr>
          <a:xfrm>
            <a:off x="11513820" y="6570345"/>
            <a:ext cx="124873" cy="182880"/>
          </a:xfrm>
          <a:prstGeom prst="rect">
            <a:avLst/>
          </a:prstGeom>
          <a:noFill/>
          <a:ln>
            <a:noFill/>
          </a:ln>
        </p:spPr>
        <p:txBody>
          <a:bodyPr wrap="none" lIns="0" tIns="0" rIns="0" bIns="0" anchor="t" anchorCtr="0">
            <a:spAutoFit/>
          </a:bodyPr>
          <a:lstStyle/>
          <a:p>
            <a:pPr algn="l"/>
            <a:r>
              <a:rPr lang="zh-CN" sz="900" dirty="0">
                <a:solidFill>
                  <a:srgbClr val="CBD5E0"/>
                </a:solidFill>
                <a:latin typeface="Consolas" panose="020B0609020204030204"/>
                <a:ea typeface="微软雅黑" panose="020B0503020204020204" charset="-122"/>
                <a:cs typeface="Consolas" panose="020B0609020204030204"/>
              </a:rPr>
              <a:t>13</a:t>
            </a:r>
            <a:endParaRPr lang="zh-CN" sz="900" dirty="0">
              <a:solidFill>
                <a:srgbClr val="CBD5E0"/>
              </a:solidFill>
              <a:latin typeface="Consolas" panose="020B0609020204030204"/>
              <a:ea typeface="微软雅黑" panose="020B0503020204020204" charset="-122"/>
              <a:cs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47625"/>
          </a:xfrm>
          <a:prstGeom prst="rect">
            <a:avLst/>
          </a:prstGeom>
          <a:solidFill>
            <a:srgbClr val="38A169"/>
          </a:solidFill>
          <a:ln>
            <a:noFill/>
          </a:ln>
        </p:spPr>
      </p:sp>
      <p:sp>
        <p:nvSpPr>
          <p:cNvPr id="4" name="Rectangle 4"/>
          <p:cNvSpPr/>
          <p:nvPr/>
        </p:nvSpPr>
        <p:spPr>
          <a:xfrm>
            <a:off x="762000" y="476250"/>
            <a:ext cx="571500" cy="285750"/>
          </a:xfrm>
          <a:prstGeom prst="roundRect">
            <a:avLst>
              <a:gd name="adj" fmla="val 13333"/>
            </a:avLst>
          </a:prstGeom>
          <a:solidFill>
            <a:srgbClr val="38A169"/>
          </a:solidFill>
          <a:ln>
            <a:noFill/>
          </a:ln>
        </p:spPr>
      </p:sp>
      <p:sp>
        <p:nvSpPr>
          <p:cNvPr id="5" name="TextBox 5"/>
          <p:cNvSpPr txBox="1"/>
          <p:nvPr/>
        </p:nvSpPr>
        <p:spPr>
          <a:xfrm>
            <a:off x="898850" y="561499"/>
            <a:ext cx="29779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panose="020B0502040204020203"/>
                <a:ea typeface="微软雅黑" panose="020B0503020204020204" charset="-122"/>
                <a:cs typeface="Segoe UI" panose="020B0502040204020203"/>
              </a:rPr>
              <a:t>核心</a:t>
            </a:r>
            <a:endParaRPr lang="zh-CN" sz="975" b="1" dirty="0">
              <a:solidFill>
                <a:srgbClr val="FFFFFF"/>
              </a:solidFill>
              <a:latin typeface="Segoe UI" panose="020B0502040204020203"/>
              <a:ea typeface="微软雅黑" panose="020B0503020204020204" charset="-122"/>
              <a:cs typeface="Segoe UI" panose="020B0502040204020203"/>
            </a:endParaRPr>
          </a:p>
        </p:txBody>
      </p:sp>
      <p:sp>
        <p:nvSpPr>
          <p:cNvPr id="6" name="TextBox 6"/>
          <p:cNvSpPr txBox="1"/>
          <p:nvPr/>
        </p:nvSpPr>
        <p:spPr>
          <a:xfrm>
            <a:off x="1457325" y="504825"/>
            <a:ext cx="2565400" cy="230505"/>
          </a:xfrm>
          <a:prstGeom prst="rect">
            <a:avLst/>
          </a:prstGeom>
          <a:noFill/>
          <a:ln>
            <a:noFill/>
          </a:ln>
        </p:spPr>
        <p:txBody>
          <a:bodyPr wrap="none" lIns="0" tIns="0" rIns="0" bIns="0" anchor="t" anchorCtr="0">
            <a:spAutoFit/>
          </a:bodyPr>
          <a:lstStyle/>
          <a:p>
            <a:pPr algn="l"/>
            <a:r>
              <a:rPr lang="zh-CN" sz="1500" b="1" dirty="0">
                <a:solidFill>
                  <a:srgbClr val="2D3748"/>
                </a:solidFill>
                <a:latin typeface="Segoe UI" panose="020B0502040204020203"/>
                <a:ea typeface="微软雅黑" panose="020B0503020204020204" charset="-122"/>
                <a:cs typeface="Segoe UI" panose="020B0502040204020203"/>
              </a:rPr>
              <a:t>模型建立 — DeepSeek的</a:t>
            </a:r>
            <a:r>
              <a:rPr lang="zh-CN" sz="1500" b="1" dirty="0">
                <a:solidFill>
                  <a:srgbClr val="2D3748"/>
                </a:solidFill>
                <a:latin typeface="Segoe UI" panose="020B0502040204020203"/>
                <a:ea typeface="微软雅黑" panose="020B0503020204020204" charset="-122"/>
                <a:cs typeface="Segoe UI" panose="020B0502040204020203"/>
              </a:rPr>
              <a:t>参与 </a:t>
            </a:r>
            <a:endParaRPr lang="zh-CN" sz="1500" b="1" dirty="0">
              <a:solidFill>
                <a:srgbClr val="2D3748"/>
              </a:solidFill>
              <a:latin typeface="Segoe UI" panose="020B0502040204020203"/>
              <a:ea typeface="微软雅黑" panose="020B0503020204020204" charset="-122"/>
              <a:cs typeface="Segoe UI" panose="020B0502040204020203"/>
            </a:endParaRPr>
          </a:p>
        </p:txBody>
      </p:sp>
      <p:sp>
        <p:nvSpPr>
          <p:cNvPr id="7" name="Line 7"/>
          <p:cNvSpPr/>
          <p:nvPr/>
        </p:nvSpPr>
        <p:spPr>
          <a:xfrm>
            <a:off x="762000" y="904875"/>
            <a:ext cx="10668000" cy="9525"/>
          </a:xfrm>
          <a:custGeom>
            <a:avLst/>
            <a:gdLst/>
            <a:ahLst/>
            <a:cxnLst/>
            <a:rect l="l" t="t" r="r" b="b"/>
            <a:pathLst>
              <a:path w="10668000" h="9525">
                <a:moveTo>
                  <a:pt x="0" y="0"/>
                </a:moveTo>
                <a:lnTo>
                  <a:pt x="10668000" y="0"/>
                </a:lnTo>
              </a:path>
            </a:pathLst>
          </a:custGeom>
          <a:noFill/>
          <a:ln w="9525">
            <a:solidFill>
              <a:srgbClr val="E2E8F0"/>
            </a:solidFill>
          </a:ln>
        </p:spPr>
      </p:sp>
      <p:sp>
        <p:nvSpPr>
          <p:cNvPr id="8" name="TextBox 8"/>
          <p:cNvSpPr txBox="1"/>
          <p:nvPr/>
        </p:nvSpPr>
        <p:spPr>
          <a:xfrm>
            <a:off x="748665" y="1124902"/>
            <a:ext cx="3808730" cy="161290"/>
          </a:xfrm>
          <a:prstGeom prst="rect">
            <a:avLst/>
          </a:prstGeom>
          <a:noFill/>
          <a:ln>
            <a:noFill/>
          </a:ln>
        </p:spPr>
        <p:txBody>
          <a:bodyPr wrap="none" lIns="0" tIns="0" rIns="0" bIns="0" anchor="t" anchorCtr="0">
            <a:spAutoFit/>
          </a:bodyPr>
          <a:lstStyle/>
          <a:p>
            <a:pPr algn="l"/>
            <a:r>
              <a:rPr lang="zh-CN" sz="1050" dirty="0">
                <a:solidFill>
                  <a:srgbClr val="4A5568"/>
                </a:solidFill>
                <a:latin typeface="Segoe UI" panose="020B0502040204020203"/>
                <a:ea typeface="微软雅黑" panose="020B0503020204020204" charset="-122"/>
                <a:cs typeface="Segoe UI" panose="020B0502040204020203"/>
              </a:rPr>
              <a:t>LoRA 初步识别后，将结果送入 DeepSeek 文本 API 进行二次校正</a:t>
            </a:r>
            <a:endParaRPr lang="zh-CN" sz="1050" dirty="0">
              <a:solidFill>
                <a:srgbClr val="4A5568"/>
              </a:solidFill>
              <a:latin typeface="Segoe UI" panose="020B0502040204020203"/>
              <a:ea typeface="微软雅黑" panose="020B0503020204020204" charset="-122"/>
              <a:cs typeface="Segoe UI" panose="020B0502040204020203"/>
            </a:endParaRPr>
          </a:p>
        </p:txBody>
      </p:sp>
      <p:sp>
        <p:nvSpPr>
          <p:cNvPr id="9" name="Rectangle 9"/>
          <p:cNvSpPr/>
          <p:nvPr/>
        </p:nvSpPr>
        <p:spPr>
          <a:xfrm>
            <a:off x="762000" y="1428750"/>
            <a:ext cx="3333750" cy="1428750"/>
          </a:xfrm>
          <a:prstGeom prst="roundRect">
            <a:avLst>
              <a:gd name="adj" fmla="val 4000"/>
            </a:avLst>
          </a:prstGeom>
          <a:solidFill>
            <a:srgbClr val="FED7D7"/>
          </a:solidFill>
          <a:ln>
            <a:noFill/>
          </a:ln>
        </p:spPr>
      </p:sp>
      <p:sp>
        <p:nvSpPr>
          <p:cNvPr id="10" name="Rectangle 10"/>
          <p:cNvSpPr/>
          <p:nvPr/>
        </p:nvSpPr>
        <p:spPr>
          <a:xfrm>
            <a:off x="762000" y="1428750"/>
            <a:ext cx="3333750" cy="38100"/>
          </a:xfrm>
          <a:prstGeom prst="rect">
            <a:avLst/>
          </a:prstGeom>
          <a:solidFill>
            <a:srgbClr val="E53E3E"/>
          </a:solidFill>
          <a:ln>
            <a:noFill/>
          </a:ln>
        </p:spPr>
      </p:sp>
      <p:sp>
        <p:nvSpPr>
          <p:cNvPr id="11" name="TextBox 11"/>
          <p:cNvSpPr txBox="1"/>
          <p:nvPr/>
        </p:nvSpPr>
        <p:spPr>
          <a:xfrm>
            <a:off x="2121503" y="1582102"/>
            <a:ext cx="614744" cy="213360"/>
          </a:xfrm>
          <a:prstGeom prst="rect">
            <a:avLst/>
          </a:prstGeom>
          <a:noFill/>
          <a:ln>
            <a:noFill/>
          </a:ln>
        </p:spPr>
        <p:txBody>
          <a:bodyPr wrap="none" lIns="0" tIns="0" rIns="0" bIns="0" anchor="t" anchorCtr="0">
            <a:spAutoFit/>
          </a:bodyPr>
          <a:lstStyle/>
          <a:p>
            <a:pPr algn="ctr"/>
            <a:r>
              <a:rPr lang="zh-CN" sz="1050" b="1" dirty="0">
                <a:solidFill>
                  <a:srgbClr val="C53030"/>
                </a:solidFill>
                <a:latin typeface="Segoe UI" panose="020B0502040204020203"/>
                <a:ea typeface="微软雅黑" panose="020B0503020204020204" charset="-122"/>
                <a:cs typeface="Segoe UI" panose="020B0502040204020203"/>
              </a:rPr>
              <a:t>语法修正</a:t>
            </a:r>
            <a:endParaRPr lang="zh-CN" sz="1050" b="1" dirty="0">
              <a:solidFill>
                <a:srgbClr val="C53030"/>
              </a:solidFill>
              <a:latin typeface="Segoe UI" panose="020B0502040204020203"/>
              <a:ea typeface="微软雅黑" panose="020B0503020204020204" charset="-122"/>
              <a:cs typeface="Segoe UI" panose="020B0502040204020203"/>
            </a:endParaRPr>
          </a:p>
        </p:txBody>
      </p:sp>
      <p:grpSp>
        <p:nvGrpSpPr>
          <p:cNvPr id="16" name="Group 16"/>
          <p:cNvGrpSpPr/>
          <p:nvPr/>
        </p:nvGrpSpPr>
        <p:grpSpPr>
          <a:xfrm>
            <a:off x="940118" y="1847374"/>
            <a:ext cx="1285923" cy="817245"/>
            <a:chOff x="940118" y="1847374"/>
            <a:chExt cx="1285923" cy="817245"/>
          </a:xfrm>
        </p:grpSpPr>
        <p:sp>
          <p:nvSpPr>
            <p:cNvPr id="12" name="TextBox 12"/>
            <p:cNvSpPr txBox="1"/>
            <p:nvPr/>
          </p:nvSpPr>
          <p:spPr>
            <a:xfrm>
              <a:off x="940118" y="1847374"/>
              <a:ext cx="1285923"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补充缺失的反斜线 \</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940118" y="2037874"/>
              <a:ext cx="1175409"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修正命令拼写错误</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940118" y="2275999"/>
              <a:ext cx="999887"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示例：sin → \sin</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940118" y="2466499"/>
              <a:ext cx="674846"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tan → \tan</a:t>
              </a:r>
              <a:endParaRPr lang="zh-CN" sz="975" dirty="0">
                <a:solidFill>
                  <a:srgbClr val="2D3748"/>
                </a:solidFill>
                <a:latin typeface="Segoe UI" panose="020B0502040204020203"/>
                <a:ea typeface="微软雅黑" panose="020B0503020204020204" charset="-122"/>
                <a:cs typeface="Segoe UI" panose="020B0502040204020203"/>
              </a:endParaRPr>
            </a:p>
          </p:txBody>
        </p:sp>
      </p:grpSp>
      <p:sp>
        <p:nvSpPr>
          <p:cNvPr id="17" name="Rectangle 17"/>
          <p:cNvSpPr/>
          <p:nvPr/>
        </p:nvSpPr>
        <p:spPr>
          <a:xfrm>
            <a:off x="4381500" y="1428750"/>
            <a:ext cx="3333750" cy="1428750"/>
          </a:xfrm>
          <a:prstGeom prst="roundRect">
            <a:avLst>
              <a:gd name="adj" fmla="val 4000"/>
            </a:avLst>
          </a:prstGeom>
          <a:solidFill>
            <a:srgbClr val="FEFCBF"/>
          </a:solidFill>
          <a:ln>
            <a:noFill/>
          </a:ln>
        </p:spPr>
      </p:sp>
      <p:sp>
        <p:nvSpPr>
          <p:cNvPr id="18" name="Rectangle 18"/>
          <p:cNvSpPr/>
          <p:nvPr/>
        </p:nvSpPr>
        <p:spPr>
          <a:xfrm>
            <a:off x="4381500" y="1428750"/>
            <a:ext cx="3333750" cy="38100"/>
          </a:xfrm>
          <a:prstGeom prst="rect">
            <a:avLst/>
          </a:prstGeom>
          <a:solidFill>
            <a:srgbClr val="D69E2E"/>
          </a:solidFill>
          <a:ln>
            <a:noFill/>
          </a:ln>
        </p:spPr>
      </p:sp>
      <p:sp>
        <p:nvSpPr>
          <p:cNvPr id="19" name="TextBox 19"/>
          <p:cNvSpPr txBox="1"/>
          <p:nvPr/>
        </p:nvSpPr>
        <p:spPr>
          <a:xfrm>
            <a:off x="5741003" y="1582102"/>
            <a:ext cx="614744" cy="213360"/>
          </a:xfrm>
          <a:prstGeom prst="rect">
            <a:avLst/>
          </a:prstGeom>
          <a:noFill/>
          <a:ln>
            <a:noFill/>
          </a:ln>
        </p:spPr>
        <p:txBody>
          <a:bodyPr wrap="none" lIns="0" tIns="0" rIns="0" bIns="0" anchor="t" anchorCtr="0">
            <a:spAutoFit/>
          </a:bodyPr>
          <a:lstStyle/>
          <a:p>
            <a:pPr algn="ctr"/>
            <a:r>
              <a:rPr lang="zh-CN" sz="1050" b="1" dirty="0">
                <a:solidFill>
                  <a:srgbClr val="D69E2E"/>
                </a:solidFill>
                <a:latin typeface="Segoe UI" panose="020B0502040204020203"/>
                <a:ea typeface="微软雅黑" panose="020B0503020204020204" charset="-122"/>
                <a:cs typeface="Segoe UI" panose="020B0502040204020203"/>
              </a:rPr>
              <a:t>语义推断</a:t>
            </a:r>
            <a:endParaRPr lang="zh-CN" sz="1050" b="1" dirty="0">
              <a:solidFill>
                <a:srgbClr val="D69E2E"/>
              </a:solidFill>
              <a:latin typeface="Segoe UI" panose="020B0502040204020203"/>
              <a:ea typeface="微软雅黑" panose="020B0503020204020204" charset="-122"/>
              <a:cs typeface="Segoe UI" panose="020B0502040204020203"/>
            </a:endParaRPr>
          </a:p>
        </p:txBody>
      </p:sp>
      <p:grpSp>
        <p:nvGrpSpPr>
          <p:cNvPr id="24" name="Group 24"/>
          <p:cNvGrpSpPr/>
          <p:nvPr/>
        </p:nvGrpSpPr>
        <p:grpSpPr>
          <a:xfrm>
            <a:off x="4559618" y="1847374"/>
            <a:ext cx="2163532" cy="817245"/>
            <a:chOff x="4559618" y="1847374"/>
            <a:chExt cx="2163532" cy="817245"/>
          </a:xfrm>
        </p:grpSpPr>
        <p:sp>
          <p:nvSpPr>
            <p:cNvPr id="20" name="TextBox 20"/>
            <p:cNvSpPr txBox="1"/>
            <p:nvPr/>
          </p:nvSpPr>
          <p:spPr>
            <a:xfrm>
              <a:off x="4559618" y="1847374"/>
              <a:ext cx="1565458"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根据上下文推断正确变量</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4559618" y="2037874"/>
              <a:ext cx="915376"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纠正错误数字</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4559618" y="2275999"/>
              <a:ext cx="2163532"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示例：z^x → 2^x（积分式中不常见）</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4559618" y="2466499"/>
              <a:ext cx="1617464"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C → c（小写应为标准形式）</a:t>
              </a:r>
              <a:endParaRPr lang="zh-CN" sz="975" dirty="0">
                <a:solidFill>
                  <a:srgbClr val="2D3748"/>
                </a:solidFill>
                <a:latin typeface="Segoe UI" panose="020B0502040204020203"/>
                <a:ea typeface="微软雅黑" panose="020B0503020204020204" charset="-122"/>
                <a:cs typeface="Segoe UI" panose="020B0502040204020203"/>
              </a:endParaRPr>
            </a:p>
          </p:txBody>
        </p:sp>
      </p:grpSp>
      <p:sp>
        <p:nvSpPr>
          <p:cNvPr id="25" name="Rectangle 25"/>
          <p:cNvSpPr/>
          <p:nvPr/>
        </p:nvSpPr>
        <p:spPr>
          <a:xfrm>
            <a:off x="8001000" y="1428750"/>
            <a:ext cx="3429000" cy="1428750"/>
          </a:xfrm>
          <a:prstGeom prst="roundRect">
            <a:avLst>
              <a:gd name="adj" fmla="val 4000"/>
            </a:avLst>
          </a:prstGeom>
          <a:solidFill>
            <a:srgbClr val="C6F6D5"/>
          </a:solidFill>
          <a:ln>
            <a:noFill/>
          </a:ln>
        </p:spPr>
      </p:sp>
      <p:sp>
        <p:nvSpPr>
          <p:cNvPr id="26" name="Rectangle 26"/>
          <p:cNvSpPr/>
          <p:nvPr/>
        </p:nvSpPr>
        <p:spPr>
          <a:xfrm>
            <a:off x="8001000" y="1428750"/>
            <a:ext cx="3429000" cy="38100"/>
          </a:xfrm>
          <a:prstGeom prst="rect">
            <a:avLst/>
          </a:prstGeom>
          <a:solidFill>
            <a:srgbClr val="38A169"/>
          </a:solidFill>
          <a:ln>
            <a:noFill/>
          </a:ln>
        </p:spPr>
      </p:sp>
      <p:sp>
        <p:nvSpPr>
          <p:cNvPr id="27" name="TextBox 27"/>
          <p:cNvSpPr txBox="1"/>
          <p:nvPr/>
        </p:nvSpPr>
        <p:spPr>
          <a:xfrm>
            <a:off x="9408128" y="1582102"/>
            <a:ext cx="614744" cy="213360"/>
          </a:xfrm>
          <a:prstGeom prst="rect">
            <a:avLst/>
          </a:prstGeom>
          <a:noFill/>
          <a:ln>
            <a:noFill/>
          </a:ln>
        </p:spPr>
        <p:txBody>
          <a:bodyPr wrap="none" lIns="0" tIns="0" rIns="0" bIns="0" anchor="t" anchorCtr="0">
            <a:spAutoFit/>
          </a:bodyPr>
          <a:lstStyle/>
          <a:p>
            <a:pPr algn="ctr"/>
            <a:r>
              <a:rPr lang="zh-CN" sz="1050" b="1" dirty="0">
                <a:solidFill>
                  <a:srgbClr val="38A169"/>
                </a:solidFill>
                <a:latin typeface="Segoe UI" panose="020B0502040204020203"/>
                <a:ea typeface="微软雅黑" panose="020B0503020204020204" charset="-122"/>
                <a:cs typeface="Segoe UI" panose="020B0502040204020203"/>
              </a:rPr>
              <a:t>结构优化</a:t>
            </a:r>
            <a:endParaRPr lang="zh-CN" sz="1050" b="1" dirty="0">
              <a:solidFill>
                <a:srgbClr val="38A169"/>
              </a:solidFill>
              <a:latin typeface="Segoe UI" panose="020B0502040204020203"/>
              <a:ea typeface="微软雅黑" panose="020B0503020204020204" charset="-122"/>
              <a:cs typeface="Segoe UI" panose="020B0502040204020203"/>
            </a:endParaRPr>
          </a:p>
        </p:txBody>
      </p:sp>
      <p:grpSp>
        <p:nvGrpSpPr>
          <p:cNvPr id="32" name="Group 32"/>
          <p:cNvGrpSpPr/>
          <p:nvPr/>
        </p:nvGrpSpPr>
        <p:grpSpPr>
          <a:xfrm>
            <a:off x="8179118" y="1847374"/>
            <a:ext cx="2176534" cy="817245"/>
            <a:chOff x="8179118" y="1847374"/>
            <a:chExt cx="2176534" cy="817245"/>
          </a:xfrm>
        </p:grpSpPr>
        <p:sp>
          <p:nvSpPr>
            <p:cNvPr id="28" name="TextBox 28"/>
            <p:cNvSpPr txBox="1"/>
            <p:nvPr/>
          </p:nvSpPr>
          <p:spPr>
            <a:xfrm>
              <a:off x="8179118" y="1847374"/>
              <a:ext cx="1045393"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优化上下标位置</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8179118" y="2037874"/>
              <a:ext cx="915376"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修正括号匹配</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8179118" y="2275999"/>
              <a:ext cx="2176534"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示例：cos² → cos⁴（倍角公式逻辑）</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8179118" y="2466499"/>
              <a:ext cx="1903500"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8ab → 2ab（完全平方公式纠正）</a:t>
              </a:r>
              <a:endParaRPr lang="zh-CN" sz="975" dirty="0">
                <a:solidFill>
                  <a:srgbClr val="2D3748"/>
                </a:solidFill>
                <a:latin typeface="Segoe UI" panose="020B0502040204020203"/>
                <a:ea typeface="微软雅黑" panose="020B0503020204020204" charset="-122"/>
                <a:cs typeface="Segoe UI" panose="020B0502040204020203"/>
              </a:endParaRPr>
            </a:p>
          </p:txBody>
        </p:sp>
      </p:grpSp>
      <p:sp>
        <p:nvSpPr>
          <p:cNvPr id="33" name="Rectangle 33"/>
          <p:cNvSpPr/>
          <p:nvPr/>
        </p:nvSpPr>
        <p:spPr>
          <a:xfrm>
            <a:off x="762000" y="3095625"/>
            <a:ext cx="5143500" cy="762000"/>
          </a:xfrm>
          <a:prstGeom prst="roundRect">
            <a:avLst>
              <a:gd name="adj" fmla="val 7500"/>
            </a:avLst>
          </a:prstGeom>
          <a:solidFill>
            <a:srgbClr val="2D3748"/>
          </a:solidFill>
          <a:ln>
            <a:noFill/>
          </a:ln>
        </p:spPr>
      </p:sp>
      <p:sp>
        <p:nvSpPr>
          <p:cNvPr id="34" name="TextBox 34"/>
          <p:cNvSpPr txBox="1"/>
          <p:nvPr/>
        </p:nvSpPr>
        <p:spPr>
          <a:xfrm>
            <a:off x="1036320" y="3236595"/>
            <a:ext cx="2729198" cy="182880"/>
          </a:xfrm>
          <a:prstGeom prst="rect">
            <a:avLst/>
          </a:prstGeom>
          <a:noFill/>
          <a:ln>
            <a:noFill/>
          </a:ln>
        </p:spPr>
        <p:txBody>
          <a:bodyPr wrap="none" lIns="0" tIns="0" rIns="0" bIns="0" anchor="t" anchorCtr="0">
            <a:spAutoFit/>
          </a:bodyPr>
          <a:lstStyle/>
          <a:p>
            <a:pPr algn="l"/>
            <a:r>
              <a:rPr lang="zh-CN" sz="900" dirty="0">
                <a:solidFill>
                  <a:srgbClr val="A0AEC0"/>
                </a:solidFill>
                <a:latin typeface="Consolas" panose="020B0609020204030204"/>
                <a:ea typeface="微软雅黑" panose="020B0503020204020204" charset="-122"/>
                <a:cs typeface="Consolas" panose="020B0609020204030204"/>
              </a:rPr>
              <a:t>System: You are a LaTeX OCR post-processor.</a:t>
            </a:r>
            <a:endParaRPr lang="zh-CN" sz="900" dirty="0">
              <a:solidFill>
                <a:srgbClr val="A0AEC0"/>
              </a:solidFill>
              <a:latin typeface="Consolas" panose="020B0609020204030204"/>
              <a:ea typeface="微软雅黑" panose="020B0503020204020204" charset="-122"/>
              <a:cs typeface="Consolas" panose="020B0609020204030204"/>
            </a:endParaRPr>
          </a:p>
        </p:txBody>
      </p:sp>
      <p:sp>
        <p:nvSpPr>
          <p:cNvPr id="35" name="TextBox 35"/>
          <p:cNvSpPr txBox="1"/>
          <p:nvPr/>
        </p:nvSpPr>
        <p:spPr>
          <a:xfrm>
            <a:off x="1036320" y="3427095"/>
            <a:ext cx="3689318" cy="182880"/>
          </a:xfrm>
          <a:prstGeom prst="rect">
            <a:avLst/>
          </a:prstGeom>
          <a:noFill/>
          <a:ln>
            <a:noFill/>
          </a:ln>
        </p:spPr>
        <p:txBody>
          <a:bodyPr wrap="none" lIns="0" tIns="0" rIns="0" bIns="0" anchor="t" anchorCtr="0">
            <a:spAutoFit/>
          </a:bodyPr>
          <a:lstStyle/>
          <a:p>
            <a:pPr algn="l"/>
            <a:r>
              <a:rPr lang="zh-CN" sz="900" dirty="0">
                <a:solidFill>
                  <a:srgbClr val="A0AEC0"/>
                </a:solidFill>
                <a:latin typeface="Consolas" panose="020B0609020204030204"/>
                <a:ea typeface="微软雅黑" panose="020B0503020204020204" charset="-122"/>
                <a:cs typeface="Consolas" panose="020B0609020204030204"/>
              </a:rPr>
              <a:t>User: Fix LaTeX errors. Correct digits, variables, operators.</a:t>
            </a:r>
            <a:endParaRPr lang="zh-CN" sz="900" dirty="0">
              <a:solidFill>
                <a:srgbClr val="A0AEC0"/>
              </a:solidFill>
              <a:latin typeface="Consolas" panose="020B0609020204030204"/>
              <a:ea typeface="微软雅黑" panose="020B0503020204020204" charset="-122"/>
              <a:cs typeface="Consolas" panose="020B0609020204030204"/>
            </a:endParaRPr>
          </a:p>
        </p:txBody>
      </p:sp>
      <p:sp>
        <p:nvSpPr>
          <p:cNvPr id="36" name="TextBox 36"/>
          <p:cNvSpPr txBox="1"/>
          <p:nvPr/>
        </p:nvSpPr>
        <p:spPr>
          <a:xfrm>
            <a:off x="1036320" y="3617595"/>
            <a:ext cx="2927223" cy="182880"/>
          </a:xfrm>
          <a:prstGeom prst="rect">
            <a:avLst/>
          </a:prstGeom>
          <a:noFill/>
          <a:ln>
            <a:noFill/>
          </a:ln>
        </p:spPr>
        <p:txBody>
          <a:bodyPr wrap="none" lIns="0" tIns="0" rIns="0" bIns="0" anchor="t" anchorCtr="0">
            <a:spAutoFit/>
          </a:bodyPr>
          <a:lstStyle/>
          <a:p>
            <a:pPr algn="l"/>
            <a:r>
              <a:rPr lang="zh-CN" sz="900" dirty="0">
                <a:solidFill>
                  <a:srgbClr val="68D391"/>
                </a:solidFill>
                <a:latin typeface="Consolas" panose="020B0609020204030204"/>
                <a:ea typeface="微软雅黑" panose="020B0503020204020204" charset="-122"/>
                <a:cs typeface="Consolas" panose="020B0609020204030204"/>
              </a:rPr>
              <a:t>Output ONLY the corrected LaTeX. [LoRA output]</a:t>
            </a:r>
            <a:endParaRPr lang="zh-CN" sz="900" dirty="0">
              <a:solidFill>
                <a:srgbClr val="68D391"/>
              </a:solidFill>
              <a:latin typeface="Consolas" panose="020B0609020204030204"/>
              <a:ea typeface="微软雅黑" panose="020B0503020204020204" charset="-122"/>
              <a:cs typeface="Consolas" panose="020B0609020204030204"/>
            </a:endParaRPr>
          </a:p>
        </p:txBody>
      </p:sp>
      <p:sp>
        <p:nvSpPr>
          <p:cNvPr id="37" name="Rectangle 37"/>
          <p:cNvSpPr/>
          <p:nvPr/>
        </p:nvSpPr>
        <p:spPr>
          <a:xfrm>
            <a:off x="6191250" y="3095625"/>
            <a:ext cx="5238750" cy="762000"/>
          </a:xfrm>
          <a:prstGeom prst="roundRect">
            <a:avLst>
              <a:gd name="adj" fmla="val 7500"/>
            </a:avLst>
          </a:prstGeom>
          <a:solidFill>
            <a:srgbClr val="F0FFF4"/>
          </a:solidFill>
          <a:ln>
            <a:noFill/>
          </a:ln>
        </p:spPr>
      </p:sp>
      <p:sp>
        <p:nvSpPr>
          <p:cNvPr id="38" name="TextBox 38"/>
          <p:cNvSpPr txBox="1"/>
          <p:nvPr/>
        </p:nvSpPr>
        <p:spPr>
          <a:xfrm>
            <a:off x="8481298" y="3231356"/>
            <a:ext cx="658654" cy="228600"/>
          </a:xfrm>
          <a:prstGeom prst="rect">
            <a:avLst/>
          </a:prstGeom>
          <a:noFill/>
          <a:ln>
            <a:noFill/>
          </a:ln>
        </p:spPr>
        <p:txBody>
          <a:bodyPr wrap="none" lIns="0" tIns="0" rIns="0" bIns="0" anchor="t" anchorCtr="0">
            <a:spAutoFit/>
          </a:bodyPr>
          <a:lstStyle/>
          <a:p>
            <a:pPr algn="ctr"/>
            <a:r>
              <a:rPr lang="zh-CN" sz="1125" b="1" dirty="0">
                <a:solidFill>
                  <a:srgbClr val="38A169"/>
                </a:solidFill>
                <a:latin typeface="Segoe UI" panose="020B0502040204020203"/>
                <a:ea typeface="微软雅黑" panose="020B0503020204020204" charset="-122"/>
                <a:cs typeface="Segoe UI" panose="020B0502040204020203"/>
              </a:rPr>
              <a:t>协同效应</a:t>
            </a:r>
            <a:endParaRPr lang="zh-CN" sz="1125" b="1" dirty="0">
              <a:solidFill>
                <a:srgbClr val="38A169"/>
              </a:solidFill>
              <a:latin typeface="Segoe UI" panose="020B0502040204020203"/>
              <a:ea typeface="微软雅黑" panose="020B0503020204020204" charset="-122"/>
              <a:cs typeface="Segoe UI" panose="020B0502040204020203"/>
            </a:endParaRPr>
          </a:p>
        </p:txBody>
      </p:sp>
      <p:grpSp>
        <p:nvGrpSpPr>
          <p:cNvPr id="41" name="Group 41"/>
          <p:cNvGrpSpPr/>
          <p:nvPr/>
        </p:nvGrpSpPr>
        <p:grpSpPr>
          <a:xfrm>
            <a:off x="6463665" y="3487102"/>
            <a:ext cx="2869025" cy="403860"/>
            <a:chOff x="6463665" y="3487102"/>
            <a:chExt cx="2869025" cy="403860"/>
          </a:xfrm>
        </p:grpSpPr>
        <p:sp>
          <p:nvSpPr>
            <p:cNvPr id="39" name="TextBox 39"/>
            <p:cNvSpPr txBox="1"/>
            <p:nvPr/>
          </p:nvSpPr>
          <p:spPr>
            <a:xfrm>
              <a:off x="6463665" y="3487102"/>
              <a:ext cx="2869025"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LoRA（感知）+ DeepSeek（理解）&gt; 单独使用</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6463665" y="3677602"/>
              <a:ext cx="2290753" cy="213360"/>
            </a:xfrm>
            <a:prstGeom prst="rect">
              <a:avLst/>
            </a:prstGeom>
            <a:noFill/>
            <a:ln>
              <a:noFill/>
            </a:ln>
          </p:spPr>
          <p:txBody>
            <a:bodyPr wrap="none" lIns="0" tIns="0" rIns="0" bIns="0" anchor="t" anchorCtr="0">
              <a:spAutoFit/>
            </a:bodyPr>
            <a:lstStyle/>
            <a:p>
              <a:pPr algn="l"/>
              <a:r>
                <a:rPr lang="zh-CN" sz="1050" b="1" dirty="0">
                  <a:solidFill>
                    <a:srgbClr val="E53E3E"/>
                  </a:solidFill>
                  <a:latin typeface="Segoe UI" panose="020B0502040204020203"/>
                  <a:ea typeface="微软雅黑" panose="020B0503020204020204" charset="-122"/>
                  <a:cs typeface="Segoe UI" panose="020B0502040204020203"/>
                </a:rPr>
                <a:t>净提升：+4.4%（80.8% → 85.2%）</a:t>
              </a:r>
              <a:endParaRPr lang="zh-CN" sz="1050" b="1" dirty="0">
                <a:solidFill>
                  <a:srgbClr val="E53E3E"/>
                </a:solidFill>
                <a:latin typeface="Segoe UI" panose="020B0502040204020203"/>
                <a:ea typeface="微软雅黑" panose="020B0503020204020204" charset="-122"/>
                <a:cs typeface="Segoe UI" panose="020B0502040204020203"/>
              </a:endParaRPr>
            </a:p>
          </p:txBody>
        </p:sp>
      </p:grpSp>
      <p:sp>
        <p:nvSpPr>
          <p:cNvPr id="42" name="Rectangle 42"/>
          <p:cNvSpPr/>
          <p:nvPr/>
        </p:nvSpPr>
        <p:spPr>
          <a:xfrm>
            <a:off x="762000" y="4095750"/>
            <a:ext cx="10668000" cy="476250"/>
          </a:xfrm>
          <a:prstGeom prst="roundRect">
            <a:avLst>
              <a:gd name="adj" fmla="val 12000"/>
            </a:avLst>
          </a:prstGeom>
          <a:solidFill>
            <a:srgbClr val="1A365D"/>
          </a:solidFill>
          <a:ln>
            <a:noFill/>
          </a:ln>
        </p:spPr>
      </p:sp>
      <p:sp>
        <p:nvSpPr>
          <p:cNvPr id="43" name="TextBox 43"/>
          <p:cNvSpPr txBox="1"/>
          <p:nvPr/>
        </p:nvSpPr>
        <p:spPr>
          <a:xfrm>
            <a:off x="3160097" y="4212431"/>
            <a:ext cx="5871805" cy="228600"/>
          </a:xfrm>
          <a:prstGeom prst="rect">
            <a:avLst/>
          </a:prstGeom>
          <a:noFill/>
          <a:ln>
            <a:noFill/>
          </a:ln>
        </p:spPr>
        <p:txBody>
          <a:bodyPr wrap="none" lIns="0" tIns="0" rIns="0" bIns="0" anchor="t" anchorCtr="0">
            <a:spAutoFit/>
          </a:bodyPr>
          <a:lstStyle/>
          <a:p>
            <a:pPr algn="ctr"/>
            <a:r>
              <a:rPr lang="zh-CN" sz="1125" dirty="0">
                <a:solidFill>
                  <a:srgbClr val="FFFFFF"/>
                </a:solidFill>
                <a:latin typeface="Segoe UI" panose="020B0502040204020203"/>
                <a:ea typeface="微软雅黑" panose="020B0503020204020204" charset="-122"/>
                <a:cs typeface="Segoe UI" panose="020B0502040204020203"/>
              </a:rPr>
              <a:t>完整流水线：InkML → 渲染 → TrOCR+LoRA → 初步 LaTeX → DeepSeek 校正 → 最终 LaTeX</a:t>
            </a:r>
            <a:endParaRPr lang="zh-CN" sz="1125" dirty="0">
              <a:solidFill>
                <a:srgbClr val="FFFFFF"/>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11513820" y="6570345"/>
            <a:ext cx="124873" cy="182880"/>
          </a:xfrm>
          <a:prstGeom prst="rect">
            <a:avLst/>
          </a:prstGeom>
          <a:noFill/>
          <a:ln>
            <a:noFill/>
          </a:ln>
        </p:spPr>
        <p:txBody>
          <a:bodyPr wrap="none" lIns="0" tIns="0" rIns="0" bIns="0" anchor="t" anchorCtr="0">
            <a:spAutoFit/>
          </a:bodyPr>
          <a:lstStyle/>
          <a:p>
            <a:pPr algn="l"/>
            <a:r>
              <a:rPr lang="zh-CN" sz="900" dirty="0">
                <a:solidFill>
                  <a:srgbClr val="CBD5E0"/>
                </a:solidFill>
                <a:latin typeface="Consolas" panose="020B0609020204030204"/>
                <a:ea typeface="微软雅黑" panose="020B0503020204020204" charset="-122"/>
                <a:cs typeface="Consolas" panose="020B0609020204030204"/>
              </a:rPr>
              <a:t>14</a:t>
            </a:r>
            <a:endParaRPr lang="zh-CN" sz="900" dirty="0">
              <a:solidFill>
                <a:srgbClr val="CBD5E0"/>
              </a:solidFill>
              <a:latin typeface="Consolas" panose="020B0609020204030204"/>
              <a:ea typeface="微软雅黑" panose="020B0503020204020204" charset="-122"/>
              <a:cs typeface="Consolas" panose="020B0609020204030204"/>
            </a:endParaRPr>
          </a:p>
        </p:txBody>
      </p:sp>
      <p:sp>
        <p:nvSpPr>
          <p:cNvPr id="45" name="文本框 44"/>
          <p:cNvSpPr txBox="1"/>
          <p:nvPr/>
        </p:nvSpPr>
        <p:spPr>
          <a:xfrm>
            <a:off x="786765" y="4717415"/>
            <a:ext cx="9709785" cy="1106805"/>
          </a:xfrm>
          <a:prstGeom prst="rect">
            <a:avLst/>
          </a:prstGeom>
          <a:noFill/>
        </p:spPr>
        <p:txBody>
          <a:bodyPr wrap="square" rtlCol="0">
            <a:spAutoFit/>
          </a:bodyPr>
          <a:p>
            <a:r>
              <a:rPr lang="zh-CN" altLang="en-US" sz="1600"/>
              <a:t>第三层：</a:t>
            </a:r>
            <a:r>
              <a:rPr lang="en-US" altLang="zh-CN" sz="1600"/>
              <a:t>LoRA </a:t>
            </a:r>
            <a:r>
              <a:rPr lang="zh-CN" altLang="en-US" sz="1600"/>
              <a:t>微调的数据优化</a:t>
            </a:r>
            <a:endParaRPr lang="zh-CN" altLang="en-US" sz="1600"/>
          </a:p>
          <a:p>
            <a:r>
              <a:rPr lang="zh-CN" altLang="en-US" sz="1600"/>
              <a:t>标签标准化：统一</a:t>
            </a:r>
            <a:r>
              <a:rPr lang="en-US" altLang="zh-CN" sz="1600"/>
              <a:t> CROHME </a:t>
            </a:r>
            <a:r>
              <a:rPr lang="zh-CN" altLang="en-US" sz="1600"/>
              <a:t>数据集</a:t>
            </a:r>
            <a:r>
              <a:rPr lang="en-US" altLang="zh-CN" sz="1600"/>
              <a:t> LaTeX </a:t>
            </a:r>
            <a:r>
              <a:rPr lang="zh-CN" altLang="en-US" sz="1600"/>
              <a:t>标签格式，消除书写规范差异，助力模型收敛</a:t>
            </a:r>
            <a:endParaRPr lang="zh-CN" altLang="en-US" sz="1600"/>
          </a:p>
          <a:p>
            <a:r>
              <a:rPr lang="zh-CN" altLang="en-US" sz="1600"/>
              <a:t>伪标签迭代：优质校正结果扩充训练集，疑难样本单独标注专项训练</a:t>
            </a:r>
            <a:endParaRPr lang="zh-CN" altLang="en-US" sz="1600"/>
          </a:p>
          <a:p>
            <a:r>
              <a:rPr lang="zh-CN" altLang="en-US" sz="1600"/>
              <a:t>评估规则校验：依托大模型独有的</a:t>
            </a:r>
            <a:r>
              <a:rPr lang="zh-CN" altLang="en-US" b="1"/>
              <a:t>语法知识</a:t>
            </a:r>
            <a:r>
              <a:rPr lang="zh-CN" altLang="en-US" sz="1600"/>
              <a:t>校准评测归一化标准，保证评估结果有效</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47625"/>
          </a:xfrm>
          <a:prstGeom prst="rect">
            <a:avLst/>
          </a:prstGeom>
          <a:solidFill>
            <a:srgbClr val="38A169"/>
          </a:solidFill>
          <a:ln>
            <a:noFill/>
          </a:ln>
        </p:spPr>
      </p:sp>
      <p:sp>
        <p:nvSpPr>
          <p:cNvPr id="4" name="Rectangle 4"/>
          <p:cNvSpPr/>
          <p:nvPr/>
        </p:nvSpPr>
        <p:spPr>
          <a:xfrm>
            <a:off x="762000" y="476250"/>
            <a:ext cx="571500" cy="285750"/>
          </a:xfrm>
          <a:prstGeom prst="roundRect">
            <a:avLst>
              <a:gd name="adj" fmla="val 13333"/>
            </a:avLst>
          </a:prstGeom>
          <a:solidFill>
            <a:srgbClr val="38A169"/>
          </a:solidFill>
          <a:ln>
            <a:noFill/>
          </a:ln>
        </p:spPr>
      </p:sp>
      <p:sp>
        <p:nvSpPr>
          <p:cNvPr id="5" name="TextBox 5"/>
          <p:cNvSpPr txBox="1"/>
          <p:nvPr/>
        </p:nvSpPr>
        <p:spPr>
          <a:xfrm>
            <a:off x="898850" y="561499"/>
            <a:ext cx="29779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panose="020B0502040204020203"/>
                <a:ea typeface="微软雅黑" panose="020B0503020204020204" charset="-122"/>
                <a:cs typeface="Segoe UI" panose="020B0502040204020203"/>
              </a:rPr>
              <a:t>核心</a:t>
            </a:r>
            <a:endParaRPr lang="zh-CN" sz="975" b="1" dirty="0">
              <a:solidFill>
                <a:srgbClr val="FFFFFF"/>
              </a:solidFill>
              <a:latin typeface="Segoe UI" panose="020B0502040204020203"/>
              <a:ea typeface="微软雅黑" panose="020B0503020204020204" charset="-122"/>
              <a:cs typeface="Segoe UI" panose="020B0502040204020203"/>
            </a:endParaRPr>
          </a:p>
        </p:txBody>
      </p:sp>
      <p:sp>
        <p:nvSpPr>
          <p:cNvPr id="6" name="TextBox 6"/>
          <p:cNvSpPr txBox="1"/>
          <p:nvPr/>
        </p:nvSpPr>
        <p:spPr>
          <a:xfrm>
            <a:off x="1457325" y="504825"/>
            <a:ext cx="4207121" cy="304800"/>
          </a:xfrm>
          <a:prstGeom prst="rect">
            <a:avLst/>
          </a:prstGeom>
          <a:noFill/>
          <a:ln>
            <a:noFill/>
          </a:ln>
        </p:spPr>
        <p:txBody>
          <a:bodyPr wrap="none" lIns="0" tIns="0" rIns="0" bIns="0" anchor="t" anchorCtr="0">
            <a:spAutoFit/>
          </a:bodyPr>
          <a:lstStyle/>
          <a:p>
            <a:pPr algn="l"/>
            <a:r>
              <a:rPr lang="zh-CN" sz="1500" b="1" dirty="0">
                <a:solidFill>
                  <a:srgbClr val="2D3748"/>
                </a:solidFill>
                <a:latin typeface="Segoe UI" panose="020B0502040204020203"/>
                <a:ea typeface="微软雅黑" panose="020B0503020204020204" charset="-122"/>
                <a:cs typeface="Segoe UI" panose="020B0502040204020203"/>
              </a:rPr>
              <a:t>模型建立 — 为什么不能直接使用 DeepSeek？</a:t>
            </a:r>
            <a:endParaRPr lang="zh-CN" sz="1500" b="1" dirty="0">
              <a:solidFill>
                <a:srgbClr val="2D3748"/>
              </a:solidFill>
              <a:latin typeface="Segoe UI" panose="020B0502040204020203"/>
              <a:ea typeface="微软雅黑" panose="020B0503020204020204" charset="-122"/>
              <a:cs typeface="Segoe UI" panose="020B0502040204020203"/>
            </a:endParaRPr>
          </a:p>
        </p:txBody>
      </p:sp>
      <p:sp>
        <p:nvSpPr>
          <p:cNvPr id="7" name="Line 7"/>
          <p:cNvSpPr/>
          <p:nvPr/>
        </p:nvSpPr>
        <p:spPr>
          <a:xfrm>
            <a:off x="762000" y="904875"/>
            <a:ext cx="10668000" cy="9525"/>
          </a:xfrm>
          <a:custGeom>
            <a:avLst/>
            <a:gdLst/>
            <a:ahLst/>
            <a:cxnLst/>
            <a:rect l="l" t="t" r="r" b="b"/>
            <a:pathLst>
              <a:path w="10668000" h="9525">
                <a:moveTo>
                  <a:pt x="0" y="0"/>
                </a:moveTo>
                <a:lnTo>
                  <a:pt x="10668000" y="0"/>
                </a:lnTo>
              </a:path>
            </a:pathLst>
          </a:custGeom>
          <a:noFill/>
          <a:ln w="9525">
            <a:solidFill>
              <a:srgbClr val="E2E8F0"/>
            </a:solidFill>
          </a:ln>
        </p:spPr>
      </p:sp>
      <p:sp>
        <p:nvSpPr>
          <p:cNvPr id="8" name="Rectangle 8"/>
          <p:cNvSpPr/>
          <p:nvPr/>
        </p:nvSpPr>
        <p:spPr>
          <a:xfrm>
            <a:off x="762000" y="1143000"/>
            <a:ext cx="10668000" cy="1238250"/>
          </a:xfrm>
          <a:prstGeom prst="roundRect">
            <a:avLst>
              <a:gd name="adj" fmla="val 4615"/>
            </a:avLst>
          </a:prstGeom>
          <a:solidFill>
            <a:srgbClr val="FFF5F5"/>
          </a:solidFill>
          <a:ln w="14288">
            <a:solidFill>
              <a:srgbClr val="E53E3E"/>
            </a:solidFill>
          </a:ln>
        </p:spPr>
      </p:sp>
      <p:sp>
        <p:nvSpPr>
          <p:cNvPr id="9" name="Rectangle 9"/>
          <p:cNvSpPr/>
          <p:nvPr/>
        </p:nvSpPr>
        <p:spPr>
          <a:xfrm>
            <a:off x="762000" y="1143000"/>
            <a:ext cx="10668000" cy="381000"/>
          </a:xfrm>
          <a:prstGeom prst="roundRect">
            <a:avLst>
              <a:gd name="adj" fmla="val 15000"/>
            </a:avLst>
          </a:prstGeom>
          <a:solidFill>
            <a:srgbClr val="FED7D7"/>
          </a:solidFill>
          <a:ln>
            <a:noFill/>
          </a:ln>
        </p:spPr>
      </p:sp>
      <p:sp>
        <p:nvSpPr>
          <p:cNvPr id="10" name="Rectangle 10"/>
          <p:cNvSpPr/>
          <p:nvPr/>
        </p:nvSpPr>
        <p:spPr>
          <a:xfrm>
            <a:off x="762000" y="1447800"/>
            <a:ext cx="10668000" cy="76200"/>
          </a:xfrm>
          <a:prstGeom prst="rect">
            <a:avLst/>
          </a:prstGeom>
          <a:solidFill>
            <a:srgbClr val="FED7D7"/>
          </a:solidFill>
          <a:ln>
            <a:noFill/>
          </a:ln>
        </p:spPr>
      </p:sp>
      <p:sp>
        <p:nvSpPr>
          <p:cNvPr id="11" name="Ellipse 11"/>
          <p:cNvSpPr/>
          <p:nvPr/>
        </p:nvSpPr>
        <p:spPr>
          <a:xfrm>
            <a:off x="876300" y="1209675"/>
            <a:ext cx="247650" cy="247650"/>
          </a:xfrm>
          <a:prstGeom prst="ellipse">
            <a:avLst/>
          </a:prstGeom>
          <a:solidFill>
            <a:srgbClr val="E53E3E"/>
          </a:solidFill>
          <a:ln>
            <a:noFill/>
          </a:ln>
        </p:spPr>
      </p:sp>
      <p:sp>
        <p:nvSpPr>
          <p:cNvPr id="12" name="TextBox 12"/>
          <p:cNvSpPr txBox="1"/>
          <p:nvPr/>
        </p:nvSpPr>
        <p:spPr>
          <a:xfrm>
            <a:off x="964737" y="1267778"/>
            <a:ext cx="70776"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Georgia" panose="02040502050405020303"/>
                <a:ea typeface="宋体" panose="02010600030101010101" pitchFamily="2" charset="-122"/>
                <a:cs typeface="Georgia" panose="02040502050405020303"/>
              </a:rPr>
              <a:t>1</a:t>
            </a:r>
            <a:endParaRPr lang="zh-CN" sz="1050" b="1" dirty="0">
              <a:solidFill>
                <a:srgbClr val="FFFFFF"/>
              </a:solidFill>
              <a:latin typeface="Georgia" panose="02040502050405020303"/>
              <a:ea typeface="宋体" panose="02010600030101010101" pitchFamily="2" charset="-122"/>
              <a:cs typeface="Georgia" panose="02040502050405020303"/>
            </a:endParaRPr>
          </a:p>
        </p:txBody>
      </p:sp>
      <p:sp>
        <p:nvSpPr>
          <p:cNvPr id="13" name="TextBox 13"/>
          <p:cNvSpPr txBox="1"/>
          <p:nvPr/>
        </p:nvSpPr>
        <p:spPr>
          <a:xfrm>
            <a:off x="1223010" y="1251585"/>
            <a:ext cx="2113940" cy="243840"/>
          </a:xfrm>
          <a:prstGeom prst="rect">
            <a:avLst/>
          </a:prstGeom>
          <a:noFill/>
          <a:ln>
            <a:noFill/>
          </a:ln>
        </p:spPr>
        <p:txBody>
          <a:bodyPr wrap="none" lIns="0" tIns="0" rIns="0" bIns="0" anchor="t" anchorCtr="0">
            <a:spAutoFit/>
          </a:bodyPr>
          <a:lstStyle/>
          <a:p>
            <a:pPr algn="l"/>
            <a:r>
              <a:rPr lang="zh-CN" sz="1200" b="1" dirty="0">
                <a:solidFill>
                  <a:srgbClr val="C53030"/>
                </a:solidFill>
                <a:latin typeface="Segoe UI" panose="020B0502040204020203"/>
                <a:ea typeface="微软雅黑" panose="020B0503020204020204" charset="-122"/>
                <a:cs typeface="Segoe UI" panose="020B0502040204020203"/>
              </a:rPr>
              <a:t>尝试一：DeepSeek 视觉 API</a:t>
            </a:r>
            <a:endParaRPr lang="zh-CN" sz="1200" b="1" dirty="0">
              <a:solidFill>
                <a:srgbClr val="C53030"/>
              </a:solidFill>
              <a:latin typeface="Segoe UI" panose="020B0502040204020203"/>
              <a:ea typeface="微软雅黑" panose="020B0503020204020204" charset="-122"/>
              <a:cs typeface="Segoe UI" panose="020B0502040204020203"/>
            </a:endParaRPr>
          </a:p>
        </p:txBody>
      </p:sp>
      <p:grpSp>
        <p:nvGrpSpPr>
          <p:cNvPr id="18" name="Group 18"/>
          <p:cNvGrpSpPr/>
          <p:nvPr/>
        </p:nvGrpSpPr>
        <p:grpSpPr>
          <a:xfrm>
            <a:off x="1034415" y="1601152"/>
            <a:ext cx="4108180" cy="749142"/>
            <a:chOff x="1034415" y="1601152"/>
            <a:chExt cx="4108180" cy="749142"/>
          </a:xfrm>
        </p:grpSpPr>
        <p:sp>
          <p:nvSpPr>
            <p:cNvPr id="14" name="TextBox 14"/>
            <p:cNvSpPr txBox="1"/>
            <p:nvPr/>
          </p:nvSpPr>
          <p:spPr>
            <a:xfrm>
              <a:off x="1034415" y="1601152"/>
              <a:ext cx="3807142"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方案：将渲染后的公式图像直接发送给 DeepSeek 多模态模型</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1034415" y="1839278"/>
              <a:ext cx="4108180"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结果：约 70% 请求返回"无法看到图片"——API 实际不支持图像输入</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16" name="Rectangle 16"/>
            <p:cNvSpPr/>
            <p:nvPr/>
          </p:nvSpPr>
          <p:spPr>
            <a:xfrm>
              <a:off x="1047750" y="2095500"/>
              <a:ext cx="2571750" cy="228600"/>
            </a:xfrm>
            <a:prstGeom prst="roundRect">
              <a:avLst>
                <a:gd name="adj" fmla="val 16667"/>
              </a:avLst>
            </a:prstGeom>
            <a:solidFill>
              <a:srgbClr val="E53E3E"/>
            </a:solidFill>
            <a:ln>
              <a:noFill/>
            </a:ln>
          </p:spPr>
        </p:sp>
        <p:sp>
          <p:nvSpPr>
            <p:cNvPr id="17" name="TextBox 17"/>
            <p:cNvSpPr txBox="1"/>
            <p:nvPr/>
          </p:nvSpPr>
          <p:spPr>
            <a:xfrm>
              <a:off x="1130618" y="2152174"/>
              <a:ext cx="1622015"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Segoe UI" panose="020B0502040204020203"/>
                  <a:ea typeface="微软雅黑" panose="020B0503020204020204" charset="-122"/>
                  <a:cs typeface="Segoe UI" panose="020B0502040204020203"/>
                </a:rPr>
                <a:t>结论：API 不支持图像输入</a:t>
              </a:r>
              <a:endParaRPr lang="zh-CN" sz="975" b="1" dirty="0">
                <a:solidFill>
                  <a:srgbClr val="FFFFFF"/>
                </a:solidFill>
                <a:latin typeface="Segoe UI" panose="020B0502040204020203"/>
                <a:ea typeface="微软雅黑" panose="020B0503020204020204" charset="-122"/>
                <a:cs typeface="Segoe UI" panose="020B0502040204020203"/>
              </a:endParaRPr>
            </a:p>
          </p:txBody>
        </p:sp>
      </p:grpSp>
      <p:sp>
        <p:nvSpPr>
          <p:cNvPr id="19" name="Rectangle 19"/>
          <p:cNvSpPr/>
          <p:nvPr/>
        </p:nvSpPr>
        <p:spPr>
          <a:xfrm>
            <a:off x="762000" y="2619375"/>
            <a:ext cx="10668000" cy="1238250"/>
          </a:xfrm>
          <a:prstGeom prst="roundRect">
            <a:avLst>
              <a:gd name="adj" fmla="val 4615"/>
            </a:avLst>
          </a:prstGeom>
          <a:solidFill>
            <a:srgbClr val="FFFFF0"/>
          </a:solidFill>
          <a:ln w="14288">
            <a:solidFill>
              <a:srgbClr val="D69E2E"/>
            </a:solidFill>
          </a:ln>
        </p:spPr>
      </p:sp>
      <p:sp>
        <p:nvSpPr>
          <p:cNvPr id="20" name="Rectangle 20"/>
          <p:cNvSpPr/>
          <p:nvPr/>
        </p:nvSpPr>
        <p:spPr>
          <a:xfrm>
            <a:off x="762000" y="2619375"/>
            <a:ext cx="10668000" cy="381000"/>
          </a:xfrm>
          <a:prstGeom prst="roundRect">
            <a:avLst>
              <a:gd name="adj" fmla="val 15000"/>
            </a:avLst>
          </a:prstGeom>
          <a:solidFill>
            <a:srgbClr val="FEFCBF"/>
          </a:solidFill>
          <a:ln>
            <a:noFill/>
          </a:ln>
        </p:spPr>
      </p:sp>
      <p:sp>
        <p:nvSpPr>
          <p:cNvPr id="21" name="Rectangle 21"/>
          <p:cNvSpPr/>
          <p:nvPr/>
        </p:nvSpPr>
        <p:spPr>
          <a:xfrm>
            <a:off x="762000" y="2924175"/>
            <a:ext cx="10668000" cy="76200"/>
          </a:xfrm>
          <a:prstGeom prst="rect">
            <a:avLst/>
          </a:prstGeom>
          <a:solidFill>
            <a:srgbClr val="FEFCBF"/>
          </a:solidFill>
          <a:ln>
            <a:noFill/>
          </a:ln>
        </p:spPr>
      </p:sp>
      <p:sp>
        <p:nvSpPr>
          <p:cNvPr id="22" name="Ellipse 22"/>
          <p:cNvSpPr/>
          <p:nvPr/>
        </p:nvSpPr>
        <p:spPr>
          <a:xfrm>
            <a:off x="876300" y="2686050"/>
            <a:ext cx="247650" cy="247650"/>
          </a:xfrm>
          <a:prstGeom prst="ellipse">
            <a:avLst/>
          </a:prstGeom>
          <a:solidFill>
            <a:srgbClr val="D69E2E"/>
          </a:solidFill>
          <a:ln>
            <a:noFill/>
          </a:ln>
        </p:spPr>
      </p:sp>
      <p:sp>
        <p:nvSpPr>
          <p:cNvPr id="23" name="TextBox 23"/>
          <p:cNvSpPr txBox="1"/>
          <p:nvPr/>
        </p:nvSpPr>
        <p:spPr>
          <a:xfrm>
            <a:off x="946360" y="274415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Georgia" panose="02040502050405020303"/>
                <a:ea typeface="宋体" panose="02010600030101010101" pitchFamily="2" charset="-122"/>
                <a:cs typeface="Georgia" panose="02040502050405020303"/>
              </a:rPr>
              <a:t>2</a:t>
            </a:r>
            <a:endParaRPr lang="zh-CN" sz="1050" b="1" dirty="0">
              <a:solidFill>
                <a:srgbClr val="FFFFFF"/>
              </a:solidFill>
              <a:latin typeface="Georgia" panose="02040502050405020303"/>
              <a:ea typeface="宋体" panose="02010600030101010101" pitchFamily="2" charset="-122"/>
              <a:cs typeface="Georgia" panose="02040502050405020303"/>
            </a:endParaRPr>
          </a:p>
        </p:txBody>
      </p:sp>
      <p:sp>
        <p:nvSpPr>
          <p:cNvPr id="24" name="TextBox 24"/>
          <p:cNvSpPr txBox="1"/>
          <p:nvPr/>
        </p:nvSpPr>
        <p:spPr>
          <a:xfrm>
            <a:off x="1223010" y="2680335"/>
            <a:ext cx="2979249" cy="243840"/>
          </a:xfrm>
          <a:prstGeom prst="rect">
            <a:avLst/>
          </a:prstGeom>
          <a:noFill/>
          <a:ln>
            <a:noFill/>
          </a:ln>
        </p:spPr>
        <p:txBody>
          <a:bodyPr wrap="none" lIns="0" tIns="0" rIns="0" bIns="0" anchor="t" anchorCtr="0">
            <a:spAutoFit/>
          </a:bodyPr>
          <a:lstStyle/>
          <a:p>
            <a:pPr algn="l"/>
            <a:r>
              <a:rPr lang="zh-CN" sz="1200" b="1" dirty="0">
                <a:solidFill>
                  <a:srgbClr val="D69E2E"/>
                </a:solidFill>
                <a:latin typeface="Segoe UI" panose="020B0502040204020203"/>
                <a:ea typeface="微软雅黑" panose="020B0503020204020204" charset="-122"/>
                <a:cs typeface="Segoe UI" panose="020B0502040204020203"/>
              </a:rPr>
              <a:t>尝试二：笔画文本 + DeepSeek 文本 API</a:t>
            </a:r>
            <a:endParaRPr lang="zh-CN" sz="1200" b="1" dirty="0">
              <a:solidFill>
                <a:srgbClr val="D69E2E"/>
              </a:solidFill>
              <a:latin typeface="Segoe UI" panose="020B0502040204020203"/>
              <a:ea typeface="微软雅黑" panose="020B0503020204020204" charset="-122"/>
              <a:cs typeface="Segoe UI" panose="020B0502040204020203"/>
            </a:endParaRPr>
          </a:p>
        </p:txBody>
      </p:sp>
      <p:grpSp>
        <p:nvGrpSpPr>
          <p:cNvPr id="29" name="Group 29"/>
          <p:cNvGrpSpPr/>
          <p:nvPr/>
        </p:nvGrpSpPr>
        <p:grpSpPr>
          <a:xfrm>
            <a:off x="1034415" y="3077528"/>
            <a:ext cx="4549235" cy="749141"/>
            <a:chOff x="1034415" y="3077528"/>
            <a:chExt cx="4549235" cy="749141"/>
          </a:xfrm>
        </p:grpSpPr>
        <p:sp>
          <p:nvSpPr>
            <p:cNvPr id="25" name="TextBox 25"/>
            <p:cNvSpPr txBox="1"/>
            <p:nvPr/>
          </p:nvSpPr>
          <p:spPr>
            <a:xfrm>
              <a:off x="1034415" y="3077528"/>
              <a:ext cx="4549235"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方案：将 InkML 坐标序列转为文本描述，让 DeepSeek 理解笔画空间关系</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1034415" y="3315652"/>
              <a:ext cx="3961162"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Segoe UI" panose="020B0502040204020203"/>
                  <a:ea typeface="微软雅黑" panose="020B0503020204020204" charset="-122"/>
                  <a:cs typeface="Segoe UI" panose="020B0502040204020203"/>
                </a:rPr>
                <a:t>结果：模型无法从坐标序列中理解二维空间结构——坐标过于抽象</a:t>
              </a:r>
              <a:endParaRPr lang="zh-CN" sz="1050" dirty="0">
                <a:solidFill>
                  <a:srgbClr val="2D3748"/>
                </a:solidFill>
                <a:latin typeface="Segoe UI" panose="020B0502040204020203"/>
                <a:ea typeface="微软雅黑" panose="020B0503020204020204" charset="-122"/>
                <a:cs typeface="Segoe UI" panose="020B0502040204020203"/>
              </a:endParaRPr>
            </a:p>
          </p:txBody>
        </p:sp>
        <p:sp>
          <p:nvSpPr>
            <p:cNvPr id="27" name="Rectangle 27"/>
            <p:cNvSpPr/>
            <p:nvPr/>
          </p:nvSpPr>
          <p:spPr>
            <a:xfrm>
              <a:off x="1047750" y="3571875"/>
              <a:ext cx="2952750" cy="228600"/>
            </a:xfrm>
            <a:prstGeom prst="roundRect">
              <a:avLst>
                <a:gd name="adj" fmla="val 16667"/>
              </a:avLst>
            </a:prstGeom>
            <a:solidFill>
              <a:srgbClr val="D69E2E"/>
            </a:solidFill>
            <a:ln>
              <a:noFill/>
            </a:ln>
          </p:spPr>
        </p:sp>
        <p:sp>
          <p:nvSpPr>
            <p:cNvPr id="28" name="TextBox 28"/>
            <p:cNvSpPr txBox="1"/>
            <p:nvPr/>
          </p:nvSpPr>
          <p:spPr>
            <a:xfrm>
              <a:off x="1130618" y="3628549"/>
              <a:ext cx="2072521"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Segoe UI" panose="020B0502040204020203"/>
                  <a:ea typeface="微软雅黑" panose="020B0503020204020204" charset="-122"/>
                  <a:cs typeface="Segoe UI" panose="020B0502040204020203"/>
                </a:rPr>
                <a:t>结论：文本模型无法理解空间结构</a:t>
              </a:r>
              <a:endParaRPr lang="zh-CN" sz="975" b="1" dirty="0">
                <a:solidFill>
                  <a:srgbClr val="FFFFFF"/>
                </a:solidFill>
                <a:latin typeface="Segoe UI" panose="020B0502040204020203"/>
                <a:ea typeface="微软雅黑" panose="020B0503020204020204" charset="-122"/>
                <a:cs typeface="Segoe UI" panose="020B0502040204020203"/>
              </a:endParaRPr>
            </a:p>
          </p:txBody>
        </p:sp>
      </p:grpSp>
      <p:sp>
        <p:nvSpPr>
          <p:cNvPr id="30" name="Rectangle 30"/>
          <p:cNvSpPr/>
          <p:nvPr/>
        </p:nvSpPr>
        <p:spPr>
          <a:xfrm>
            <a:off x="762000" y="4095750"/>
            <a:ext cx="10668000" cy="619125"/>
          </a:xfrm>
          <a:prstGeom prst="roundRect">
            <a:avLst>
              <a:gd name="adj" fmla="val 9231"/>
            </a:avLst>
          </a:prstGeom>
          <a:solidFill>
            <a:srgbClr val="1A365D"/>
          </a:solidFill>
          <a:ln>
            <a:noFill/>
          </a:ln>
        </p:spPr>
      </p:sp>
      <p:sp>
        <p:nvSpPr>
          <p:cNvPr id="31" name="TextBox 31"/>
          <p:cNvSpPr txBox="1"/>
          <p:nvPr/>
        </p:nvSpPr>
        <p:spPr>
          <a:xfrm>
            <a:off x="5700808" y="4216718"/>
            <a:ext cx="79038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panose="020B0502040204020203"/>
                <a:ea typeface="微软雅黑" panose="020B0503020204020204" charset="-122"/>
                <a:cs typeface="Segoe UI" panose="020B0502040204020203"/>
              </a:rPr>
              <a:t>核心结论</a:t>
            </a:r>
            <a:endParaRPr lang="zh-CN" sz="1350" b="1" dirty="0">
              <a:solidFill>
                <a:srgbClr val="FFFFFF"/>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2704743" y="4477702"/>
            <a:ext cx="6782514" cy="213360"/>
          </a:xfrm>
          <a:prstGeom prst="rect">
            <a:avLst/>
          </a:prstGeom>
          <a:noFill/>
          <a:ln>
            <a:noFill/>
          </a:ln>
        </p:spPr>
        <p:txBody>
          <a:bodyPr wrap="none" lIns="0" tIns="0" rIns="0" bIns="0" anchor="t" anchorCtr="0">
            <a:spAutoFit/>
          </a:bodyPr>
          <a:lstStyle/>
          <a:p>
            <a:pPr algn="ctr"/>
            <a:r>
              <a:rPr lang="zh-CN" sz="1050" dirty="0">
                <a:solidFill>
                  <a:srgbClr val="90CDF4"/>
                </a:solidFill>
                <a:latin typeface="Segoe UI" panose="020B0502040204020203"/>
                <a:ea typeface="微软雅黑" panose="020B0503020204020204" charset="-122"/>
                <a:cs typeface="Segoe UI" panose="020B0502040204020203"/>
              </a:rPr>
              <a:t>DeepSeek API 不支持图像输入 → 无法直接完成"图像→LaTeX"端到端识别 → 设计替代方案（LoRA+DeepSeek）</a:t>
            </a:r>
            <a:endParaRPr lang="zh-CN" sz="1050" dirty="0">
              <a:solidFill>
                <a:srgbClr val="90CDF4"/>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11513820" y="6570345"/>
            <a:ext cx="124873" cy="182880"/>
          </a:xfrm>
          <a:prstGeom prst="rect">
            <a:avLst/>
          </a:prstGeom>
          <a:noFill/>
          <a:ln>
            <a:noFill/>
          </a:ln>
        </p:spPr>
        <p:txBody>
          <a:bodyPr wrap="none" lIns="0" tIns="0" rIns="0" bIns="0" anchor="t" anchorCtr="0">
            <a:spAutoFit/>
          </a:bodyPr>
          <a:lstStyle/>
          <a:p>
            <a:pPr algn="l"/>
            <a:r>
              <a:rPr lang="zh-CN" sz="900" dirty="0">
                <a:solidFill>
                  <a:srgbClr val="CBD5E0"/>
                </a:solidFill>
                <a:latin typeface="Consolas" panose="020B0609020204030204"/>
                <a:ea typeface="微软雅黑" panose="020B0503020204020204" charset="-122"/>
                <a:cs typeface="Consolas" panose="020B0609020204030204"/>
              </a:rPr>
              <a:t>15</a:t>
            </a:r>
            <a:endParaRPr lang="zh-CN" sz="900" dirty="0">
              <a:solidFill>
                <a:srgbClr val="CBD5E0"/>
              </a:solidFill>
              <a:latin typeface="Consolas" panose="020B0609020204030204"/>
              <a:ea typeface="微软雅黑" panose="020B0503020204020204" charset="-122"/>
              <a:cs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47625"/>
          </a:xfrm>
          <a:prstGeom prst="rect">
            <a:avLst/>
          </a:prstGeom>
          <a:solidFill>
            <a:srgbClr val="E53E3E"/>
          </a:solidFill>
          <a:ln>
            <a:noFill/>
          </a:ln>
        </p:spPr>
      </p:sp>
      <p:sp>
        <p:nvSpPr>
          <p:cNvPr id="4" name="Rectangle 4"/>
          <p:cNvSpPr/>
          <p:nvPr/>
        </p:nvSpPr>
        <p:spPr>
          <a:xfrm>
            <a:off x="762000" y="476250"/>
            <a:ext cx="571500" cy="285750"/>
          </a:xfrm>
          <a:prstGeom prst="roundRect">
            <a:avLst>
              <a:gd name="adj" fmla="val 13333"/>
            </a:avLst>
          </a:prstGeom>
          <a:solidFill>
            <a:srgbClr val="E53E3E"/>
          </a:solidFill>
          <a:ln>
            <a:noFill/>
          </a:ln>
        </p:spPr>
      </p:sp>
      <p:sp>
        <p:nvSpPr>
          <p:cNvPr id="5" name="TextBox 5"/>
          <p:cNvSpPr txBox="1"/>
          <p:nvPr/>
        </p:nvSpPr>
        <p:spPr>
          <a:xfrm>
            <a:off x="898850" y="561499"/>
            <a:ext cx="29779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panose="020B0502040204020203"/>
                <a:ea typeface="微软雅黑" panose="020B0503020204020204" charset="-122"/>
                <a:cs typeface="Segoe UI" panose="020B0502040204020203"/>
              </a:rPr>
              <a:t>评估</a:t>
            </a:r>
            <a:endParaRPr lang="zh-CN" sz="975" b="1" dirty="0">
              <a:solidFill>
                <a:srgbClr val="FFFFFF"/>
              </a:solidFill>
              <a:latin typeface="Segoe UI" panose="020B0502040204020203"/>
              <a:ea typeface="微软雅黑" panose="020B0503020204020204" charset="-122"/>
              <a:cs typeface="Segoe UI" panose="020B0502040204020203"/>
            </a:endParaRPr>
          </a:p>
        </p:txBody>
      </p:sp>
      <p:sp>
        <p:nvSpPr>
          <p:cNvPr id="6" name="TextBox 6"/>
          <p:cNvSpPr txBox="1"/>
          <p:nvPr/>
        </p:nvSpPr>
        <p:spPr>
          <a:xfrm>
            <a:off x="1457325" y="504825"/>
            <a:ext cx="2589919" cy="304800"/>
          </a:xfrm>
          <a:prstGeom prst="rect">
            <a:avLst/>
          </a:prstGeom>
          <a:noFill/>
          <a:ln>
            <a:noFill/>
          </a:ln>
        </p:spPr>
        <p:txBody>
          <a:bodyPr wrap="none" lIns="0" tIns="0" rIns="0" bIns="0" anchor="t" anchorCtr="0">
            <a:spAutoFit/>
          </a:bodyPr>
          <a:lstStyle/>
          <a:p>
            <a:pPr algn="l"/>
            <a:r>
              <a:rPr lang="zh-CN" sz="1500" b="1" dirty="0">
                <a:solidFill>
                  <a:srgbClr val="2D3748"/>
                </a:solidFill>
                <a:latin typeface="Segoe UI" panose="020B0502040204020203"/>
                <a:ea typeface="微软雅黑" panose="020B0503020204020204" charset="-122"/>
                <a:cs typeface="Segoe UI" panose="020B0502040204020203"/>
              </a:rPr>
              <a:t>模型评估 — 双路线结果对比</a:t>
            </a:r>
            <a:endParaRPr lang="zh-CN" sz="1500" b="1" dirty="0">
              <a:solidFill>
                <a:srgbClr val="2D3748"/>
              </a:solidFill>
              <a:latin typeface="Segoe UI" panose="020B0502040204020203"/>
              <a:ea typeface="微软雅黑" panose="020B0503020204020204" charset="-122"/>
              <a:cs typeface="Segoe UI" panose="020B0502040204020203"/>
            </a:endParaRPr>
          </a:p>
        </p:txBody>
      </p:sp>
      <p:sp>
        <p:nvSpPr>
          <p:cNvPr id="7" name="Line 7"/>
          <p:cNvSpPr/>
          <p:nvPr/>
        </p:nvSpPr>
        <p:spPr>
          <a:xfrm>
            <a:off x="762000" y="904875"/>
            <a:ext cx="10668000" cy="9525"/>
          </a:xfrm>
          <a:custGeom>
            <a:avLst/>
            <a:gdLst/>
            <a:ahLst/>
            <a:cxnLst/>
            <a:rect l="l" t="t" r="r" b="b"/>
            <a:pathLst>
              <a:path w="10668000" h="9525">
                <a:moveTo>
                  <a:pt x="0" y="0"/>
                </a:moveTo>
                <a:lnTo>
                  <a:pt x="10668000" y="0"/>
                </a:lnTo>
              </a:path>
            </a:pathLst>
          </a:custGeom>
          <a:noFill/>
          <a:ln w="9525">
            <a:solidFill>
              <a:srgbClr val="E2E8F0"/>
            </a:solidFill>
          </a:ln>
        </p:spPr>
      </p:sp>
      <p:sp>
        <p:nvSpPr>
          <p:cNvPr id="8" name="Rectangle 8"/>
          <p:cNvSpPr/>
          <p:nvPr/>
        </p:nvSpPr>
        <p:spPr>
          <a:xfrm>
            <a:off x="762000" y="1143000"/>
            <a:ext cx="3333750" cy="1333500"/>
          </a:xfrm>
          <a:prstGeom prst="roundRect">
            <a:avLst>
              <a:gd name="adj" fmla="val 5714"/>
            </a:avLst>
          </a:prstGeom>
          <a:solidFill>
            <a:srgbClr val="E53E3E"/>
          </a:solidFill>
          <a:ln>
            <a:noFill/>
          </a:ln>
        </p:spPr>
      </p:sp>
      <p:sp>
        <p:nvSpPr>
          <p:cNvPr id="9" name="TextBox 9"/>
          <p:cNvSpPr txBox="1"/>
          <p:nvPr/>
        </p:nvSpPr>
        <p:spPr>
          <a:xfrm>
            <a:off x="1536150" y="1102042"/>
            <a:ext cx="1785449" cy="883920"/>
          </a:xfrm>
          <a:prstGeom prst="rect">
            <a:avLst/>
          </a:prstGeom>
          <a:noFill/>
          <a:ln>
            <a:noFill/>
          </a:ln>
        </p:spPr>
        <p:txBody>
          <a:bodyPr wrap="none" lIns="0" tIns="0" rIns="0" bIns="0" anchor="t" anchorCtr="0">
            <a:spAutoFit/>
          </a:bodyPr>
          <a:lstStyle/>
          <a:p>
            <a:pPr algn="ctr"/>
            <a:r>
              <a:rPr lang="zh-CN" sz="4350" b="1" dirty="0">
                <a:solidFill>
                  <a:srgbClr val="FFFFFF"/>
                </a:solidFill>
                <a:latin typeface="Georgia" panose="02040502050405020303"/>
                <a:ea typeface="宋体" panose="02010600030101010101" pitchFamily="2" charset="-122"/>
                <a:cs typeface="Georgia" panose="02040502050405020303"/>
              </a:rPr>
              <a:t>85.2%</a:t>
            </a:r>
            <a:endParaRPr lang="zh-CN" sz="4350" b="1" dirty="0">
              <a:solidFill>
                <a:srgbClr val="FFFFFF"/>
              </a:solidFill>
              <a:latin typeface="Georgia" panose="02040502050405020303"/>
              <a:ea typeface="宋体" panose="02010600030101010101" pitchFamily="2" charset="-122"/>
              <a:cs typeface="Georgia" panose="02040502050405020303"/>
            </a:endParaRPr>
          </a:p>
        </p:txBody>
      </p:sp>
      <p:sp>
        <p:nvSpPr>
          <p:cNvPr id="10" name="TextBox 10"/>
          <p:cNvSpPr txBox="1"/>
          <p:nvPr/>
        </p:nvSpPr>
        <p:spPr>
          <a:xfrm>
            <a:off x="1428214" y="1783556"/>
            <a:ext cx="2001322" cy="228600"/>
          </a:xfrm>
          <a:prstGeom prst="rect">
            <a:avLst/>
          </a:prstGeom>
          <a:noFill/>
          <a:ln>
            <a:noFill/>
          </a:ln>
        </p:spPr>
        <p:txBody>
          <a:bodyPr wrap="none" lIns="0" tIns="0" rIns="0" bIns="0" anchor="t" anchorCtr="0">
            <a:spAutoFit/>
          </a:bodyPr>
          <a:lstStyle/>
          <a:p>
            <a:pPr algn="ctr"/>
            <a:r>
              <a:rPr lang="zh-CN" sz="1125" dirty="0">
                <a:solidFill>
                  <a:srgbClr val="FED7D7"/>
                </a:solidFill>
                <a:latin typeface="Segoe UI" panose="020B0502040204020203"/>
                <a:ea typeface="微软雅黑" panose="020B0503020204020204" charset="-122"/>
                <a:cs typeface="Segoe UI" panose="020B0502040204020203"/>
              </a:rPr>
              <a:t>多模态大模型 · 全量 921 样本</a:t>
            </a:r>
            <a:endParaRPr lang="zh-CN" sz="1125" dirty="0">
              <a:solidFill>
                <a:srgbClr val="FED7D7"/>
              </a:solidFill>
              <a:latin typeface="Segoe UI" panose="020B0502040204020203"/>
              <a:ea typeface="微软雅黑" panose="020B0503020204020204" charset="-122"/>
              <a:cs typeface="Segoe UI" panose="020B0502040204020203"/>
            </a:endParaRPr>
          </a:p>
        </p:txBody>
      </p:sp>
      <p:sp>
        <p:nvSpPr>
          <p:cNvPr id="11" name="Rectangle 11"/>
          <p:cNvSpPr/>
          <p:nvPr/>
        </p:nvSpPr>
        <p:spPr>
          <a:xfrm>
            <a:off x="4381500" y="1143000"/>
            <a:ext cx="3616960" cy="1346835"/>
          </a:xfrm>
          <a:prstGeom prst="roundRect">
            <a:avLst>
              <a:gd name="adj" fmla="val 9231"/>
            </a:avLst>
          </a:prstGeom>
          <a:solidFill>
            <a:srgbClr val="EBF8FF"/>
          </a:solidFill>
          <a:ln>
            <a:noFill/>
          </a:ln>
        </p:spPr>
      </p:sp>
      <p:sp>
        <p:nvSpPr>
          <p:cNvPr id="12" name="TextBox 12"/>
          <p:cNvSpPr txBox="1"/>
          <p:nvPr/>
        </p:nvSpPr>
        <p:spPr>
          <a:xfrm>
            <a:off x="5447030" y="1296035"/>
            <a:ext cx="1407795" cy="478155"/>
          </a:xfrm>
          <a:prstGeom prst="rect">
            <a:avLst/>
          </a:prstGeom>
          <a:noFill/>
          <a:ln>
            <a:noFill/>
          </a:ln>
        </p:spPr>
        <p:txBody>
          <a:bodyPr wrap="none" lIns="0" tIns="0" rIns="0" bIns="0" anchor="t" anchorCtr="0">
            <a:noAutofit/>
          </a:bodyPr>
          <a:lstStyle/>
          <a:p>
            <a:pPr algn="ctr"/>
            <a:r>
              <a:rPr lang="zh-CN" sz="1600" b="1" dirty="0">
                <a:solidFill>
                  <a:srgbClr val="3182CE"/>
                </a:solidFill>
                <a:latin typeface="Segoe UI" panose="020B0502040204020203"/>
                <a:ea typeface="微软雅黑" panose="020B0503020204020204" charset="-122"/>
                <a:cs typeface="Segoe UI" panose="020B0502040204020203"/>
              </a:rPr>
              <a:t>传统 ML（30 类）</a:t>
            </a:r>
            <a:endParaRPr lang="zh-CN" sz="1600" b="1" dirty="0">
              <a:solidFill>
                <a:srgbClr val="3182CE"/>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5549265" y="1773555"/>
            <a:ext cx="1282065" cy="702945"/>
          </a:xfrm>
          <a:prstGeom prst="rect">
            <a:avLst/>
          </a:prstGeom>
          <a:noFill/>
          <a:ln>
            <a:noFill/>
          </a:ln>
        </p:spPr>
        <p:txBody>
          <a:bodyPr wrap="none" lIns="0" tIns="0" rIns="0" bIns="0" anchor="t" anchorCtr="0">
            <a:noAutofit/>
          </a:bodyPr>
          <a:lstStyle/>
          <a:p>
            <a:pPr algn="ctr"/>
            <a:r>
              <a:rPr lang="zh-CN" sz="2800" b="1" dirty="0">
                <a:solidFill>
                  <a:srgbClr val="3182CE"/>
                </a:solidFill>
                <a:latin typeface="Georgia" panose="02040502050405020303"/>
                <a:ea typeface="宋体" panose="02010600030101010101" pitchFamily="2" charset="-122"/>
                <a:cs typeface="Georgia" panose="02040502050405020303"/>
              </a:rPr>
              <a:t>68.73%</a:t>
            </a:r>
            <a:endParaRPr lang="zh-CN" sz="2800" b="1" dirty="0">
              <a:solidFill>
                <a:srgbClr val="3182CE"/>
              </a:solidFill>
              <a:latin typeface="Georgia" panose="02040502050405020303"/>
              <a:ea typeface="宋体" panose="02010600030101010101" pitchFamily="2" charset="-122"/>
              <a:cs typeface="Georgia" panose="02040502050405020303"/>
            </a:endParaRPr>
          </a:p>
        </p:txBody>
      </p:sp>
      <p:sp>
        <p:nvSpPr>
          <p:cNvPr id="17" name="Rectangle 17"/>
          <p:cNvSpPr/>
          <p:nvPr/>
        </p:nvSpPr>
        <p:spPr>
          <a:xfrm>
            <a:off x="8096250" y="1143000"/>
            <a:ext cx="3333750" cy="1333500"/>
          </a:xfrm>
          <a:prstGeom prst="roundRect">
            <a:avLst>
              <a:gd name="adj" fmla="val 4286"/>
            </a:avLst>
          </a:prstGeom>
          <a:solidFill>
            <a:srgbClr val="1A365D"/>
          </a:solidFill>
          <a:ln>
            <a:noFill/>
          </a:ln>
        </p:spPr>
      </p:sp>
      <p:sp>
        <p:nvSpPr>
          <p:cNvPr id="18" name="TextBox 18"/>
          <p:cNvSpPr txBox="1"/>
          <p:nvPr/>
        </p:nvSpPr>
        <p:spPr>
          <a:xfrm>
            <a:off x="9276278" y="1354931"/>
            <a:ext cx="97369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panose="020B0502040204020203"/>
                <a:ea typeface="微软雅黑" panose="020B0503020204020204" charset="-122"/>
                <a:cs typeface="Segoe UI" panose="020B0502040204020203"/>
              </a:rPr>
              <a:t>性能提升历程</a:t>
            </a:r>
            <a:endParaRPr lang="zh-CN" sz="1125" b="1" dirty="0">
              <a:solidFill>
                <a:srgbClr val="FFFFFF"/>
              </a:solidFill>
              <a:latin typeface="Segoe UI" panose="020B0502040204020203"/>
              <a:ea typeface="微软雅黑" panose="020B0503020204020204" charset="-122"/>
              <a:cs typeface="Segoe UI" panose="020B0502040204020203"/>
            </a:endParaRPr>
          </a:p>
        </p:txBody>
      </p:sp>
      <p:grpSp>
        <p:nvGrpSpPr>
          <p:cNvPr id="23" name="Group 23"/>
          <p:cNvGrpSpPr/>
          <p:nvPr/>
        </p:nvGrpSpPr>
        <p:grpSpPr>
          <a:xfrm>
            <a:off x="8369618" y="1628299"/>
            <a:ext cx="1298924" cy="769620"/>
            <a:chOff x="8369618" y="1628299"/>
            <a:chExt cx="1298924" cy="769620"/>
          </a:xfrm>
        </p:grpSpPr>
        <p:sp>
          <p:nvSpPr>
            <p:cNvPr id="19" name="TextBox 19"/>
            <p:cNvSpPr txBox="1"/>
            <p:nvPr/>
          </p:nvSpPr>
          <p:spPr>
            <a:xfrm>
              <a:off x="8369618" y="1628299"/>
              <a:ext cx="1298924" cy="198120"/>
            </a:xfrm>
            <a:prstGeom prst="rect">
              <a:avLst/>
            </a:prstGeom>
            <a:noFill/>
            <a:ln>
              <a:noFill/>
            </a:ln>
          </p:spPr>
          <p:txBody>
            <a:bodyPr wrap="none" lIns="0" tIns="0" rIns="0" bIns="0" anchor="t" anchorCtr="0">
              <a:spAutoFit/>
            </a:bodyPr>
            <a:lstStyle/>
            <a:p>
              <a:pPr algn="l"/>
              <a:r>
                <a:rPr lang="zh-CN" sz="975" dirty="0">
                  <a:solidFill>
                    <a:srgbClr val="90CDF4"/>
                  </a:solidFill>
                  <a:latin typeface="Segoe UI" panose="020B0502040204020203"/>
                  <a:ea typeface="微软雅黑" panose="020B0503020204020204" charset="-122"/>
                  <a:cs typeface="Segoe UI" panose="020B0502040204020203"/>
                </a:rPr>
                <a:t>原始 LaTeXify → ~20%</a:t>
              </a:r>
              <a:endParaRPr lang="zh-CN" sz="975" dirty="0">
                <a:solidFill>
                  <a:srgbClr val="90CDF4"/>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8369618" y="1818799"/>
              <a:ext cx="1077897" cy="198120"/>
            </a:xfrm>
            <a:prstGeom prst="rect">
              <a:avLst/>
            </a:prstGeom>
            <a:noFill/>
            <a:ln>
              <a:noFill/>
            </a:ln>
          </p:spPr>
          <p:txBody>
            <a:bodyPr wrap="none" lIns="0" tIns="0" rIns="0" bIns="0" anchor="t" anchorCtr="0">
              <a:spAutoFit/>
            </a:bodyPr>
            <a:lstStyle/>
            <a:p>
              <a:pPr algn="l"/>
              <a:r>
                <a:rPr lang="zh-CN" sz="975" dirty="0">
                  <a:solidFill>
                    <a:srgbClr val="90CDF4"/>
                  </a:solidFill>
                  <a:latin typeface="Segoe UI" panose="020B0502040204020203"/>
                  <a:ea typeface="微软雅黑" panose="020B0503020204020204" charset="-122"/>
                  <a:cs typeface="Segoe UI" panose="020B0502040204020203"/>
                </a:rPr>
                <a:t>数据不匹配 → ~16%</a:t>
              </a:r>
              <a:endParaRPr lang="zh-CN" sz="975" dirty="0">
                <a:solidFill>
                  <a:srgbClr val="90CDF4"/>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8369618" y="2009299"/>
              <a:ext cx="941380" cy="198120"/>
            </a:xfrm>
            <a:prstGeom prst="rect">
              <a:avLst/>
            </a:prstGeom>
            <a:noFill/>
            <a:ln>
              <a:noFill/>
            </a:ln>
          </p:spPr>
          <p:txBody>
            <a:bodyPr wrap="none" lIns="0" tIns="0" rIns="0" bIns="0" anchor="t" anchorCtr="0">
              <a:spAutoFit/>
            </a:bodyPr>
            <a:lstStyle/>
            <a:p>
              <a:pPr algn="l"/>
              <a:r>
                <a:rPr lang="zh-CN" sz="975" dirty="0">
                  <a:solidFill>
                    <a:srgbClr val="90CDF4"/>
                  </a:solidFill>
                  <a:latin typeface="Segoe UI" panose="020B0502040204020203"/>
                  <a:ea typeface="微软雅黑" panose="020B0503020204020204" charset="-122"/>
                  <a:cs typeface="Segoe UI" panose="020B0502040204020203"/>
                </a:rPr>
                <a:t>LoRA 初版 → 71%</a:t>
              </a:r>
              <a:endParaRPr lang="zh-CN" sz="975" dirty="0">
                <a:solidFill>
                  <a:srgbClr val="90CDF4"/>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8369618" y="2199799"/>
              <a:ext cx="1175409" cy="198120"/>
            </a:xfrm>
            <a:prstGeom prst="rect">
              <a:avLst/>
            </a:prstGeom>
            <a:noFill/>
            <a:ln>
              <a:noFill/>
            </a:ln>
          </p:spPr>
          <p:txBody>
            <a:bodyPr wrap="none" lIns="0" tIns="0" rIns="0" bIns="0" anchor="t" anchorCtr="0">
              <a:spAutoFit/>
            </a:bodyPr>
            <a:lstStyle/>
            <a:p>
              <a:pPr algn="l"/>
              <a:r>
                <a:rPr lang="zh-CN" sz="975" dirty="0">
                  <a:solidFill>
                    <a:srgbClr val="68D391"/>
                  </a:solidFill>
                  <a:latin typeface="Segoe UI" panose="020B0502040204020203"/>
                  <a:ea typeface="微软雅黑" panose="020B0503020204020204" charset="-122"/>
                  <a:cs typeface="Segoe UI" panose="020B0502040204020203"/>
                </a:rPr>
                <a:t>+DeepSeek → 85.2%</a:t>
              </a:r>
              <a:endParaRPr lang="zh-CN" sz="975" dirty="0">
                <a:solidFill>
                  <a:srgbClr val="68D391"/>
                </a:solidFill>
                <a:latin typeface="Segoe UI" panose="020B0502040204020203"/>
                <a:ea typeface="微软雅黑" panose="020B0503020204020204" charset="-122"/>
                <a:cs typeface="Segoe UI" panose="020B0502040204020203"/>
              </a:endParaRPr>
            </a:p>
          </p:txBody>
        </p:sp>
      </p:grpSp>
      <p:sp>
        <p:nvSpPr>
          <p:cNvPr id="24" name="TextBox 24"/>
          <p:cNvSpPr txBox="1"/>
          <p:nvPr/>
        </p:nvSpPr>
        <p:spPr>
          <a:xfrm>
            <a:off x="746760" y="2727960"/>
            <a:ext cx="1038606" cy="243840"/>
          </a:xfrm>
          <a:prstGeom prst="rect">
            <a:avLst/>
          </a:prstGeom>
          <a:noFill/>
          <a:ln>
            <a:noFill/>
          </a:ln>
        </p:spPr>
        <p:txBody>
          <a:bodyPr wrap="none" lIns="0" tIns="0" rIns="0" bIns="0" anchor="t" anchorCtr="0">
            <a:spAutoFit/>
          </a:bodyPr>
          <a:lstStyle/>
          <a:p>
            <a:pPr algn="l"/>
            <a:r>
              <a:rPr lang="zh-CN" sz="1200" b="1" dirty="0">
                <a:solidFill>
                  <a:srgbClr val="2D3748"/>
                </a:solidFill>
                <a:latin typeface="Segoe UI" panose="020B0502040204020203"/>
                <a:ea typeface="微软雅黑" panose="020B0503020204020204" charset="-122"/>
                <a:cs typeface="Segoe UI" panose="020B0502040204020203"/>
              </a:rPr>
              <a:t>关键对比维度</a:t>
            </a:r>
            <a:endParaRPr lang="zh-CN" sz="1200" b="1" dirty="0">
              <a:solidFill>
                <a:srgbClr val="2D3748"/>
              </a:solidFill>
              <a:latin typeface="Segoe UI" panose="020B0502040204020203"/>
              <a:ea typeface="微软雅黑" panose="020B0503020204020204" charset="-122"/>
              <a:cs typeface="Segoe UI" panose="020B0502040204020203"/>
            </a:endParaRPr>
          </a:p>
        </p:txBody>
      </p:sp>
      <p:grpSp>
        <p:nvGrpSpPr>
          <p:cNvPr id="73" name="Group 73"/>
          <p:cNvGrpSpPr/>
          <p:nvPr/>
        </p:nvGrpSpPr>
        <p:grpSpPr>
          <a:xfrm>
            <a:off x="762000" y="3000375"/>
            <a:ext cx="10668000" cy="1502569"/>
            <a:chOff x="762000" y="3000375"/>
            <a:chExt cx="10668000" cy="1502569"/>
          </a:xfrm>
        </p:grpSpPr>
        <p:sp>
          <p:nvSpPr>
            <p:cNvPr id="25" name="Rectangle 25"/>
            <p:cNvSpPr/>
            <p:nvPr/>
          </p:nvSpPr>
          <p:spPr>
            <a:xfrm>
              <a:off x="762000" y="3000375"/>
              <a:ext cx="1333500" cy="247650"/>
            </a:xfrm>
            <a:prstGeom prst="rect">
              <a:avLst/>
            </a:prstGeom>
            <a:solidFill>
              <a:srgbClr val="1A365D"/>
            </a:solidFill>
            <a:ln>
              <a:noFill/>
            </a:ln>
          </p:spPr>
        </p:sp>
        <p:sp>
          <p:nvSpPr>
            <p:cNvPr id="26" name="TextBox 26"/>
            <p:cNvSpPr txBox="1"/>
            <p:nvPr/>
          </p:nvSpPr>
          <p:spPr>
            <a:xfrm>
              <a:off x="1279850" y="3066574"/>
              <a:ext cx="29779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panose="020B0502040204020203"/>
                  <a:ea typeface="微软雅黑" panose="020B0503020204020204" charset="-122"/>
                  <a:cs typeface="Segoe UI" panose="020B0502040204020203"/>
                </a:rPr>
                <a:t>维度</a:t>
              </a:r>
              <a:endParaRPr lang="zh-CN" sz="975" b="1" dirty="0">
                <a:solidFill>
                  <a:srgbClr val="FFFFFF"/>
                </a:solidFill>
                <a:latin typeface="Segoe UI" panose="020B0502040204020203"/>
                <a:ea typeface="微软雅黑" panose="020B0503020204020204" charset="-122"/>
                <a:cs typeface="Segoe UI" panose="020B0502040204020203"/>
              </a:endParaRPr>
            </a:p>
          </p:txBody>
        </p:sp>
        <p:sp>
          <p:nvSpPr>
            <p:cNvPr id="27" name="Rectangle 27"/>
            <p:cNvSpPr/>
            <p:nvPr/>
          </p:nvSpPr>
          <p:spPr>
            <a:xfrm>
              <a:off x="2095500" y="3000375"/>
              <a:ext cx="2857500" cy="247650"/>
            </a:xfrm>
            <a:prstGeom prst="rect">
              <a:avLst/>
            </a:prstGeom>
            <a:solidFill>
              <a:srgbClr val="EBF8FF"/>
            </a:solidFill>
            <a:ln>
              <a:noFill/>
            </a:ln>
          </p:spPr>
        </p:sp>
        <p:sp>
          <p:nvSpPr>
            <p:cNvPr id="28" name="TextBox 28"/>
            <p:cNvSpPr txBox="1"/>
            <p:nvPr/>
          </p:nvSpPr>
          <p:spPr>
            <a:xfrm>
              <a:off x="3102316" y="3066574"/>
              <a:ext cx="843867" cy="198120"/>
            </a:xfrm>
            <a:prstGeom prst="rect">
              <a:avLst/>
            </a:prstGeom>
            <a:noFill/>
            <a:ln>
              <a:noFill/>
            </a:ln>
          </p:spPr>
          <p:txBody>
            <a:bodyPr wrap="none" lIns="0" tIns="0" rIns="0" bIns="0" anchor="t" anchorCtr="0">
              <a:spAutoFit/>
            </a:bodyPr>
            <a:lstStyle/>
            <a:p>
              <a:pPr algn="ctr"/>
              <a:r>
                <a:rPr lang="zh-CN" sz="975" b="1" dirty="0">
                  <a:solidFill>
                    <a:srgbClr val="3182CE"/>
                  </a:solidFill>
                  <a:latin typeface="Segoe UI" panose="020B0502040204020203"/>
                  <a:ea typeface="微软雅黑" panose="020B0503020204020204" charset="-122"/>
                  <a:cs typeface="Segoe UI" panose="020B0502040204020203"/>
                </a:rPr>
                <a:t>传统机器学习</a:t>
              </a:r>
              <a:endParaRPr lang="zh-CN" sz="975" b="1" dirty="0">
                <a:solidFill>
                  <a:srgbClr val="3182CE"/>
                </a:solidFill>
                <a:latin typeface="Segoe UI" panose="020B0502040204020203"/>
                <a:ea typeface="微软雅黑" panose="020B0503020204020204" charset="-122"/>
                <a:cs typeface="Segoe UI" panose="020B0502040204020203"/>
              </a:endParaRPr>
            </a:p>
          </p:txBody>
        </p:sp>
        <p:sp>
          <p:nvSpPr>
            <p:cNvPr id="29" name="Rectangle 29"/>
            <p:cNvSpPr/>
            <p:nvPr/>
          </p:nvSpPr>
          <p:spPr>
            <a:xfrm>
              <a:off x="4953000" y="3000375"/>
              <a:ext cx="2857500" cy="247650"/>
            </a:xfrm>
            <a:prstGeom prst="rect">
              <a:avLst/>
            </a:prstGeom>
            <a:solidFill>
              <a:srgbClr val="FFF5F5"/>
            </a:solidFill>
            <a:ln>
              <a:noFill/>
            </a:ln>
          </p:spPr>
        </p:sp>
        <p:sp>
          <p:nvSpPr>
            <p:cNvPr id="30" name="TextBox 30"/>
            <p:cNvSpPr txBox="1"/>
            <p:nvPr/>
          </p:nvSpPr>
          <p:spPr>
            <a:xfrm>
              <a:off x="5959816" y="3066574"/>
              <a:ext cx="843867" cy="198120"/>
            </a:xfrm>
            <a:prstGeom prst="rect">
              <a:avLst/>
            </a:prstGeom>
            <a:noFill/>
            <a:ln>
              <a:noFill/>
            </a:ln>
          </p:spPr>
          <p:txBody>
            <a:bodyPr wrap="none" lIns="0" tIns="0" rIns="0" bIns="0" anchor="t" anchorCtr="0">
              <a:spAutoFit/>
            </a:bodyPr>
            <a:lstStyle/>
            <a:p>
              <a:pPr algn="ctr"/>
              <a:r>
                <a:rPr lang="zh-CN" sz="975" b="1" dirty="0">
                  <a:solidFill>
                    <a:srgbClr val="E53E3E"/>
                  </a:solidFill>
                  <a:latin typeface="Segoe UI" panose="020B0502040204020203"/>
                  <a:ea typeface="微软雅黑" panose="020B0503020204020204" charset="-122"/>
                  <a:cs typeface="Segoe UI" panose="020B0502040204020203"/>
                </a:rPr>
                <a:t>多模态大模型</a:t>
              </a:r>
              <a:endParaRPr lang="zh-CN" sz="975" b="1" dirty="0">
                <a:solidFill>
                  <a:srgbClr val="E53E3E"/>
                </a:solidFill>
                <a:latin typeface="Segoe UI" panose="020B0502040204020203"/>
                <a:ea typeface="微软雅黑" panose="020B0503020204020204" charset="-122"/>
                <a:cs typeface="Segoe UI" panose="020B0502040204020203"/>
              </a:endParaRPr>
            </a:p>
          </p:txBody>
        </p:sp>
        <p:sp>
          <p:nvSpPr>
            <p:cNvPr id="31" name="Rectangle 31"/>
            <p:cNvSpPr/>
            <p:nvPr/>
          </p:nvSpPr>
          <p:spPr>
            <a:xfrm>
              <a:off x="7810500" y="3000375"/>
              <a:ext cx="3619500" cy="247650"/>
            </a:xfrm>
            <a:prstGeom prst="rect">
              <a:avLst/>
            </a:prstGeom>
            <a:solidFill>
              <a:srgbClr val="F7FAFC"/>
            </a:solidFill>
            <a:ln>
              <a:noFill/>
            </a:ln>
          </p:spPr>
        </p:sp>
        <p:sp>
          <p:nvSpPr>
            <p:cNvPr id="32" name="TextBox 32"/>
            <p:cNvSpPr txBox="1"/>
            <p:nvPr/>
          </p:nvSpPr>
          <p:spPr>
            <a:xfrm>
              <a:off x="9477851" y="3066574"/>
              <a:ext cx="284798"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Segoe UI" panose="020B0502040204020203"/>
                  <a:ea typeface="微软雅黑" panose="020B0503020204020204" charset="-122"/>
                  <a:cs typeface="Segoe UI" panose="020B0502040204020203"/>
                </a:rPr>
                <a:t>差异</a:t>
              </a:r>
              <a:endParaRPr lang="zh-CN" sz="975" dirty="0">
                <a:solidFill>
                  <a:srgbClr val="718096"/>
                </a:solidFill>
                <a:latin typeface="Segoe UI" panose="020B0502040204020203"/>
                <a:ea typeface="微软雅黑" panose="020B0503020204020204" charset="-122"/>
                <a:cs typeface="Segoe UI" panose="020B0502040204020203"/>
              </a:endParaRPr>
            </a:p>
          </p:txBody>
        </p:sp>
        <p:sp>
          <p:nvSpPr>
            <p:cNvPr id="33" name="Rectangle 33"/>
            <p:cNvSpPr/>
            <p:nvPr/>
          </p:nvSpPr>
          <p:spPr>
            <a:xfrm>
              <a:off x="762000" y="3267075"/>
              <a:ext cx="1333500" cy="228600"/>
            </a:xfrm>
            <a:prstGeom prst="rect">
              <a:avLst/>
            </a:prstGeom>
            <a:noFill/>
            <a:ln>
              <a:noFill/>
            </a:ln>
          </p:spPr>
        </p:sp>
        <p:sp>
          <p:nvSpPr>
            <p:cNvPr id="34" name="TextBox 34"/>
            <p:cNvSpPr txBox="1"/>
            <p:nvPr/>
          </p:nvSpPr>
          <p:spPr>
            <a:xfrm>
              <a:off x="1091327" y="3314224"/>
              <a:ext cx="674846"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Segoe UI" panose="020B0502040204020203"/>
                  <a:ea typeface="微软雅黑" panose="020B0503020204020204" charset="-122"/>
                  <a:cs typeface="Segoe UI" panose="020B0502040204020203"/>
                </a:rPr>
                <a:t>最高准确率</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35" name="Rectangle 35"/>
            <p:cNvSpPr/>
            <p:nvPr/>
          </p:nvSpPr>
          <p:spPr>
            <a:xfrm>
              <a:off x="2095500" y="3267075"/>
              <a:ext cx="2857500" cy="228600"/>
            </a:xfrm>
            <a:prstGeom prst="rect">
              <a:avLst/>
            </a:prstGeom>
            <a:noFill/>
            <a:ln>
              <a:noFill/>
            </a:ln>
          </p:spPr>
        </p:sp>
        <p:sp>
          <p:nvSpPr>
            <p:cNvPr id="36" name="TextBox 36"/>
            <p:cNvSpPr txBox="1"/>
            <p:nvPr/>
          </p:nvSpPr>
          <p:spPr>
            <a:xfrm>
              <a:off x="3297341" y="3314224"/>
              <a:ext cx="453819" cy="198120"/>
            </a:xfrm>
            <a:prstGeom prst="rect">
              <a:avLst/>
            </a:prstGeom>
            <a:noFill/>
            <a:ln>
              <a:noFill/>
            </a:ln>
          </p:spPr>
          <p:txBody>
            <a:bodyPr wrap="none" lIns="0" tIns="0" rIns="0" bIns="0" anchor="t" anchorCtr="0">
              <a:spAutoFit/>
            </a:bodyPr>
            <a:lstStyle/>
            <a:p>
              <a:pPr algn="ctr"/>
              <a:r>
                <a:rPr lang="zh-CN" sz="975" dirty="0">
                  <a:solidFill>
                    <a:srgbClr val="3182CE"/>
                  </a:solidFill>
                  <a:latin typeface="Segoe UI" panose="020B0502040204020203"/>
                  <a:ea typeface="微软雅黑" panose="020B0503020204020204" charset="-122"/>
                  <a:cs typeface="Segoe UI" panose="020B0502040204020203"/>
                </a:rPr>
                <a:t>68.73%</a:t>
              </a:r>
              <a:endParaRPr lang="zh-CN" sz="975" dirty="0">
                <a:solidFill>
                  <a:srgbClr val="3182CE"/>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4953000" y="3267075"/>
              <a:ext cx="2857500" cy="228600"/>
            </a:xfrm>
            <a:prstGeom prst="rect">
              <a:avLst/>
            </a:prstGeom>
            <a:noFill/>
            <a:ln>
              <a:noFill/>
            </a:ln>
          </p:spPr>
        </p:sp>
        <p:sp>
          <p:nvSpPr>
            <p:cNvPr id="38" name="TextBox 38"/>
            <p:cNvSpPr txBox="1"/>
            <p:nvPr/>
          </p:nvSpPr>
          <p:spPr>
            <a:xfrm>
              <a:off x="6190595" y="3314224"/>
              <a:ext cx="382310"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85.2%</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39" name="Rectangle 39"/>
            <p:cNvSpPr/>
            <p:nvPr/>
          </p:nvSpPr>
          <p:spPr>
            <a:xfrm>
              <a:off x="7810500" y="3267075"/>
              <a:ext cx="3619500" cy="228600"/>
            </a:xfrm>
            <a:prstGeom prst="rect">
              <a:avLst/>
            </a:prstGeom>
            <a:noFill/>
            <a:ln>
              <a:noFill/>
            </a:ln>
          </p:spPr>
        </p:sp>
        <p:sp>
          <p:nvSpPr>
            <p:cNvPr id="40" name="TextBox 40"/>
            <p:cNvSpPr txBox="1"/>
            <p:nvPr/>
          </p:nvSpPr>
          <p:spPr>
            <a:xfrm>
              <a:off x="9165812" y="3314224"/>
              <a:ext cx="908876"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+16.5 个百分点</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41" name="Rectangle 41"/>
            <p:cNvSpPr/>
            <p:nvPr/>
          </p:nvSpPr>
          <p:spPr>
            <a:xfrm>
              <a:off x="762000" y="3514725"/>
              <a:ext cx="1333500" cy="228600"/>
            </a:xfrm>
            <a:prstGeom prst="rect">
              <a:avLst/>
            </a:prstGeom>
            <a:solidFill>
              <a:srgbClr val="F7FAFC"/>
            </a:solidFill>
            <a:ln>
              <a:noFill/>
            </a:ln>
          </p:spPr>
        </p:sp>
        <p:sp>
          <p:nvSpPr>
            <p:cNvPr id="42" name="TextBox 42"/>
            <p:cNvSpPr txBox="1"/>
            <p:nvPr/>
          </p:nvSpPr>
          <p:spPr>
            <a:xfrm>
              <a:off x="1091327" y="3561874"/>
              <a:ext cx="674846"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Segoe UI" panose="020B0502040204020203"/>
                  <a:ea typeface="微软雅黑" panose="020B0503020204020204" charset="-122"/>
                  <a:cs typeface="Segoe UI" panose="020B0502040204020203"/>
                </a:rPr>
                <a:t>类覆盖范围</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43" name="Rectangle 43"/>
            <p:cNvSpPr/>
            <p:nvPr/>
          </p:nvSpPr>
          <p:spPr>
            <a:xfrm>
              <a:off x="2095500" y="3514725"/>
              <a:ext cx="2857500" cy="228600"/>
            </a:xfrm>
            <a:prstGeom prst="rect">
              <a:avLst/>
            </a:prstGeom>
            <a:solidFill>
              <a:srgbClr val="F7FAFC"/>
            </a:solidFill>
            <a:ln>
              <a:noFill/>
            </a:ln>
          </p:spPr>
        </p:sp>
        <p:sp>
          <p:nvSpPr>
            <p:cNvPr id="44" name="TextBox 44"/>
            <p:cNvSpPr txBox="1"/>
            <p:nvPr/>
          </p:nvSpPr>
          <p:spPr>
            <a:xfrm>
              <a:off x="3212830" y="3561874"/>
              <a:ext cx="622840" cy="198120"/>
            </a:xfrm>
            <a:prstGeom prst="rect">
              <a:avLst/>
            </a:prstGeom>
            <a:noFill/>
            <a:ln>
              <a:noFill/>
            </a:ln>
          </p:spPr>
          <p:txBody>
            <a:bodyPr wrap="none" lIns="0" tIns="0" rIns="0" bIns="0" anchor="t" anchorCtr="0">
              <a:spAutoFit/>
            </a:bodyPr>
            <a:lstStyle/>
            <a:p>
              <a:pPr algn="ctr"/>
              <a:r>
                <a:rPr lang="zh-CN" sz="975" dirty="0">
                  <a:solidFill>
                    <a:srgbClr val="3182CE"/>
                  </a:solidFill>
                  <a:latin typeface="Segoe UI" panose="020B0502040204020203"/>
                  <a:ea typeface="微软雅黑" panose="020B0503020204020204" charset="-122"/>
                  <a:cs typeface="Segoe UI" panose="020B0502040204020203"/>
                </a:rPr>
                <a:t>Top-30 类</a:t>
              </a:r>
              <a:endParaRPr lang="zh-CN" sz="975" dirty="0">
                <a:solidFill>
                  <a:srgbClr val="3182CE"/>
                </a:solidFill>
                <a:latin typeface="Segoe UI" panose="020B0502040204020203"/>
                <a:ea typeface="微软雅黑" panose="020B0503020204020204" charset="-122"/>
                <a:cs typeface="Segoe UI" panose="020B0502040204020203"/>
              </a:endParaRPr>
            </a:p>
          </p:txBody>
        </p:sp>
        <p:sp>
          <p:nvSpPr>
            <p:cNvPr id="45" name="Rectangle 45"/>
            <p:cNvSpPr/>
            <p:nvPr/>
          </p:nvSpPr>
          <p:spPr>
            <a:xfrm>
              <a:off x="4953000" y="3514725"/>
              <a:ext cx="2857500" cy="228600"/>
            </a:xfrm>
            <a:prstGeom prst="rect">
              <a:avLst/>
            </a:prstGeom>
            <a:solidFill>
              <a:srgbClr val="F7FAFC"/>
            </a:solidFill>
            <a:ln>
              <a:noFill/>
            </a:ln>
          </p:spPr>
        </p:sp>
        <p:sp>
          <p:nvSpPr>
            <p:cNvPr id="46" name="TextBox 46"/>
            <p:cNvSpPr txBox="1"/>
            <p:nvPr/>
          </p:nvSpPr>
          <p:spPr>
            <a:xfrm>
              <a:off x="5979319" y="3561874"/>
              <a:ext cx="804862"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全量 921 样本</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47" name="Rectangle 47"/>
            <p:cNvSpPr/>
            <p:nvPr/>
          </p:nvSpPr>
          <p:spPr>
            <a:xfrm>
              <a:off x="7810500" y="3514725"/>
              <a:ext cx="3619500" cy="228600"/>
            </a:xfrm>
            <a:prstGeom prst="rect">
              <a:avLst/>
            </a:prstGeom>
            <a:solidFill>
              <a:srgbClr val="F7FAFC"/>
            </a:solidFill>
            <a:ln>
              <a:noFill/>
            </a:ln>
          </p:spPr>
        </p:sp>
        <p:sp>
          <p:nvSpPr>
            <p:cNvPr id="48" name="TextBox 48"/>
            <p:cNvSpPr txBox="1"/>
            <p:nvPr/>
          </p:nvSpPr>
          <p:spPr>
            <a:xfrm>
              <a:off x="9256824" y="3561874"/>
              <a:ext cx="726853"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30 倍覆盖率</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49" name="Rectangle 49"/>
            <p:cNvSpPr/>
            <p:nvPr/>
          </p:nvSpPr>
          <p:spPr>
            <a:xfrm>
              <a:off x="762000" y="3762375"/>
              <a:ext cx="1333500" cy="228600"/>
            </a:xfrm>
            <a:prstGeom prst="rect">
              <a:avLst/>
            </a:prstGeom>
            <a:noFill/>
            <a:ln>
              <a:noFill/>
            </a:ln>
          </p:spPr>
        </p:sp>
        <p:sp>
          <p:nvSpPr>
            <p:cNvPr id="50" name="TextBox 50"/>
            <p:cNvSpPr txBox="1"/>
            <p:nvPr/>
          </p:nvSpPr>
          <p:spPr>
            <a:xfrm>
              <a:off x="1156335" y="3809524"/>
              <a:ext cx="544830"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Segoe UI" panose="020B0502040204020203"/>
                  <a:ea typeface="微软雅黑" panose="020B0503020204020204" charset="-122"/>
                  <a:cs typeface="Segoe UI" panose="020B0502040204020203"/>
                </a:rPr>
                <a:t>矩阵识别</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51" name="Rectangle 51"/>
            <p:cNvSpPr/>
            <p:nvPr/>
          </p:nvSpPr>
          <p:spPr>
            <a:xfrm>
              <a:off x="2095500" y="3762375"/>
              <a:ext cx="2857500" cy="228600"/>
            </a:xfrm>
            <a:prstGeom prst="rect">
              <a:avLst/>
            </a:prstGeom>
            <a:noFill/>
            <a:ln>
              <a:noFill/>
            </a:ln>
          </p:spPr>
        </p:sp>
        <p:sp>
          <p:nvSpPr>
            <p:cNvPr id="52" name="TextBox 52"/>
            <p:cNvSpPr txBox="1"/>
            <p:nvPr/>
          </p:nvSpPr>
          <p:spPr>
            <a:xfrm>
              <a:off x="3251835" y="3809524"/>
              <a:ext cx="544830"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无法识别</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53" name="Rectangle 53"/>
            <p:cNvSpPr/>
            <p:nvPr/>
          </p:nvSpPr>
          <p:spPr>
            <a:xfrm>
              <a:off x="4953000" y="3762375"/>
              <a:ext cx="2857500" cy="228600"/>
            </a:xfrm>
            <a:prstGeom prst="rect">
              <a:avLst/>
            </a:prstGeom>
            <a:noFill/>
            <a:ln>
              <a:noFill/>
            </a:ln>
          </p:spPr>
        </p:sp>
        <p:sp>
          <p:nvSpPr>
            <p:cNvPr id="54" name="TextBox 54"/>
            <p:cNvSpPr txBox="1"/>
            <p:nvPr/>
          </p:nvSpPr>
          <p:spPr>
            <a:xfrm>
              <a:off x="6190595" y="3809524"/>
              <a:ext cx="382310"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45.9%</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55" name="Rectangle 55"/>
            <p:cNvSpPr/>
            <p:nvPr/>
          </p:nvSpPr>
          <p:spPr>
            <a:xfrm>
              <a:off x="7810500" y="3762375"/>
              <a:ext cx="3619500" cy="228600"/>
            </a:xfrm>
            <a:prstGeom prst="rect">
              <a:avLst/>
            </a:prstGeom>
            <a:noFill/>
            <a:ln>
              <a:noFill/>
            </a:ln>
          </p:spPr>
        </p:sp>
        <p:sp>
          <p:nvSpPr>
            <p:cNvPr id="56" name="TextBox 56"/>
            <p:cNvSpPr txBox="1"/>
            <p:nvPr/>
          </p:nvSpPr>
          <p:spPr>
            <a:xfrm>
              <a:off x="9087802" y="3809524"/>
              <a:ext cx="1064895"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从无到有（质变）</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57" name="Rectangle 57"/>
            <p:cNvSpPr/>
            <p:nvPr/>
          </p:nvSpPr>
          <p:spPr>
            <a:xfrm>
              <a:off x="762000" y="4010025"/>
              <a:ext cx="1333500" cy="228600"/>
            </a:xfrm>
            <a:prstGeom prst="rect">
              <a:avLst/>
            </a:prstGeom>
            <a:solidFill>
              <a:srgbClr val="F7FAFC"/>
            </a:solidFill>
            <a:ln>
              <a:noFill/>
            </a:ln>
          </p:spPr>
        </p:sp>
        <p:sp>
          <p:nvSpPr>
            <p:cNvPr id="58" name="TextBox 58"/>
            <p:cNvSpPr txBox="1"/>
            <p:nvPr/>
          </p:nvSpPr>
          <p:spPr>
            <a:xfrm>
              <a:off x="1156335" y="4057174"/>
              <a:ext cx="544830"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Segoe UI" panose="020B0502040204020203"/>
                  <a:ea typeface="微软雅黑" panose="020B0503020204020204" charset="-122"/>
                  <a:cs typeface="Segoe UI" panose="020B0502040204020203"/>
                </a:rPr>
                <a:t>训练时间</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59" name="Rectangle 59"/>
            <p:cNvSpPr/>
            <p:nvPr/>
          </p:nvSpPr>
          <p:spPr>
            <a:xfrm>
              <a:off x="2095500" y="4010025"/>
              <a:ext cx="2857500" cy="228600"/>
            </a:xfrm>
            <a:prstGeom prst="rect">
              <a:avLst/>
            </a:prstGeom>
            <a:solidFill>
              <a:srgbClr val="F7FAFC"/>
            </a:solidFill>
            <a:ln>
              <a:noFill/>
            </a:ln>
          </p:spPr>
        </p:sp>
        <p:sp>
          <p:nvSpPr>
            <p:cNvPr id="60" name="TextBox 60"/>
            <p:cNvSpPr txBox="1"/>
            <p:nvPr/>
          </p:nvSpPr>
          <p:spPr>
            <a:xfrm>
              <a:off x="3154323" y="4057174"/>
              <a:ext cx="739854" cy="198120"/>
            </a:xfrm>
            <a:prstGeom prst="rect">
              <a:avLst/>
            </a:prstGeom>
            <a:noFill/>
            <a:ln>
              <a:noFill/>
            </a:ln>
          </p:spPr>
          <p:txBody>
            <a:bodyPr wrap="none" lIns="0" tIns="0" rIns="0" bIns="0" anchor="t" anchorCtr="0">
              <a:spAutoFit/>
            </a:bodyPr>
            <a:lstStyle/>
            <a:p>
              <a:pPr algn="ctr"/>
              <a:r>
                <a:rPr lang="zh-CN" sz="975" dirty="0">
                  <a:solidFill>
                    <a:srgbClr val="3182CE"/>
                  </a:solidFill>
                  <a:latin typeface="Segoe UI" panose="020B0502040204020203"/>
                  <a:ea typeface="微软雅黑" panose="020B0503020204020204" charset="-122"/>
                  <a:cs typeface="Segoe UI" panose="020B0502040204020203"/>
                </a:rPr>
                <a:t>~34 min CPU</a:t>
              </a:r>
              <a:endParaRPr lang="zh-CN" sz="975" dirty="0">
                <a:solidFill>
                  <a:srgbClr val="3182CE"/>
                </a:solidFill>
                <a:latin typeface="Segoe UI" panose="020B0502040204020203"/>
                <a:ea typeface="微软雅黑" panose="020B0503020204020204" charset="-122"/>
                <a:cs typeface="Segoe UI" panose="020B0502040204020203"/>
              </a:endParaRPr>
            </a:p>
          </p:txBody>
        </p:sp>
        <p:sp>
          <p:nvSpPr>
            <p:cNvPr id="61" name="Rectangle 61"/>
            <p:cNvSpPr/>
            <p:nvPr/>
          </p:nvSpPr>
          <p:spPr>
            <a:xfrm>
              <a:off x="4953000" y="4010025"/>
              <a:ext cx="2857500" cy="228600"/>
            </a:xfrm>
            <a:prstGeom prst="rect">
              <a:avLst/>
            </a:prstGeom>
            <a:solidFill>
              <a:srgbClr val="F7FAFC"/>
            </a:solidFill>
            <a:ln>
              <a:noFill/>
            </a:ln>
          </p:spPr>
        </p:sp>
        <p:sp>
          <p:nvSpPr>
            <p:cNvPr id="62" name="TextBox 62"/>
            <p:cNvSpPr txBox="1"/>
            <p:nvPr/>
          </p:nvSpPr>
          <p:spPr>
            <a:xfrm>
              <a:off x="6047577" y="4057174"/>
              <a:ext cx="668345"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~7 min GPU</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63" name="Rectangle 63"/>
            <p:cNvSpPr/>
            <p:nvPr/>
          </p:nvSpPr>
          <p:spPr>
            <a:xfrm>
              <a:off x="7810500" y="4010025"/>
              <a:ext cx="3619500" cy="228600"/>
            </a:xfrm>
            <a:prstGeom prst="rect">
              <a:avLst/>
            </a:prstGeom>
            <a:solidFill>
              <a:srgbClr val="F7FAFC"/>
            </a:solidFill>
            <a:ln>
              <a:noFill/>
            </a:ln>
          </p:spPr>
        </p:sp>
        <p:sp>
          <p:nvSpPr>
            <p:cNvPr id="64" name="TextBox 64"/>
            <p:cNvSpPr txBox="1"/>
            <p:nvPr/>
          </p:nvSpPr>
          <p:spPr>
            <a:xfrm>
              <a:off x="9347835" y="4057174"/>
              <a:ext cx="544830"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Segoe UI" panose="020B0502040204020203"/>
                  <a:ea typeface="微软雅黑" panose="020B0503020204020204" charset="-122"/>
                  <a:cs typeface="Segoe UI" panose="020B0502040204020203"/>
                </a:rPr>
                <a:t>各有优势</a:t>
              </a:r>
              <a:endParaRPr lang="zh-CN" sz="975" dirty="0">
                <a:solidFill>
                  <a:srgbClr val="718096"/>
                </a:solidFill>
                <a:latin typeface="Segoe UI" panose="020B0502040204020203"/>
                <a:ea typeface="微软雅黑" panose="020B0503020204020204" charset="-122"/>
                <a:cs typeface="Segoe UI" panose="020B0502040204020203"/>
              </a:endParaRPr>
            </a:p>
          </p:txBody>
        </p:sp>
        <p:sp>
          <p:nvSpPr>
            <p:cNvPr id="65" name="Rectangle 65"/>
            <p:cNvSpPr/>
            <p:nvPr/>
          </p:nvSpPr>
          <p:spPr>
            <a:xfrm>
              <a:off x="762000" y="4257675"/>
              <a:ext cx="1333500" cy="228600"/>
            </a:xfrm>
            <a:prstGeom prst="rect">
              <a:avLst/>
            </a:prstGeom>
            <a:noFill/>
            <a:ln>
              <a:noFill/>
            </a:ln>
          </p:spPr>
        </p:sp>
        <p:sp>
          <p:nvSpPr>
            <p:cNvPr id="66" name="TextBox 66"/>
            <p:cNvSpPr txBox="1"/>
            <p:nvPr/>
          </p:nvSpPr>
          <p:spPr>
            <a:xfrm>
              <a:off x="1091327" y="4304824"/>
              <a:ext cx="674846"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Segoe UI" panose="020B0502040204020203"/>
                  <a:ea typeface="微软雅黑" panose="020B0503020204020204" charset="-122"/>
                  <a:cs typeface="Segoe UI" panose="020B0502040204020203"/>
                </a:rPr>
                <a:t>图像分辨率</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67" name="Rectangle 67"/>
            <p:cNvSpPr/>
            <p:nvPr/>
          </p:nvSpPr>
          <p:spPr>
            <a:xfrm>
              <a:off x="2095500" y="4257675"/>
              <a:ext cx="2857500" cy="228600"/>
            </a:xfrm>
            <a:prstGeom prst="rect">
              <a:avLst/>
            </a:prstGeom>
            <a:noFill/>
            <a:ln>
              <a:noFill/>
            </a:ln>
          </p:spPr>
        </p:sp>
        <p:sp>
          <p:nvSpPr>
            <p:cNvPr id="68" name="TextBox 68"/>
            <p:cNvSpPr txBox="1"/>
            <p:nvPr/>
          </p:nvSpPr>
          <p:spPr>
            <a:xfrm>
              <a:off x="3294090" y="4304824"/>
              <a:ext cx="460319" cy="198120"/>
            </a:xfrm>
            <a:prstGeom prst="rect">
              <a:avLst/>
            </a:prstGeom>
            <a:noFill/>
            <a:ln>
              <a:noFill/>
            </a:ln>
          </p:spPr>
          <p:txBody>
            <a:bodyPr wrap="none" lIns="0" tIns="0" rIns="0" bIns="0" anchor="t" anchorCtr="0">
              <a:spAutoFit/>
            </a:bodyPr>
            <a:lstStyle/>
            <a:p>
              <a:pPr algn="ctr"/>
              <a:r>
                <a:rPr lang="zh-CN" sz="975" dirty="0">
                  <a:solidFill>
                    <a:srgbClr val="3182CE"/>
                  </a:solidFill>
                  <a:latin typeface="Segoe UI" panose="020B0502040204020203"/>
                  <a:ea typeface="微软雅黑" panose="020B0503020204020204" charset="-122"/>
                  <a:cs typeface="Segoe UI" panose="020B0502040204020203"/>
                </a:rPr>
                <a:t>48 × 48</a:t>
              </a:r>
              <a:endParaRPr lang="zh-CN" sz="975" dirty="0">
                <a:solidFill>
                  <a:srgbClr val="3182CE"/>
                </a:solidFill>
                <a:latin typeface="Segoe UI" panose="020B0502040204020203"/>
                <a:ea typeface="微软雅黑" panose="020B0503020204020204" charset="-122"/>
                <a:cs typeface="Segoe UI" panose="020B0502040204020203"/>
              </a:endParaRPr>
            </a:p>
          </p:txBody>
        </p:sp>
        <p:sp>
          <p:nvSpPr>
            <p:cNvPr id="69" name="Rectangle 69"/>
            <p:cNvSpPr/>
            <p:nvPr/>
          </p:nvSpPr>
          <p:spPr>
            <a:xfrm>
              <a:off x="4953000" y="4257675"/>
              <a:ext cx="2857500" cy="228600"/>
            </a:xfrm>
            <a:prstGeom prst="rect">
              <a:avLst/>
            </a:prstGeom>
            <a:noFill/>
            <a:ln>
              <a:noFill/>
            </a:ln>
          </p:spPr>
        </p:sp>
        <p:sp>
          <p:nvSpPr>
            <p:cNvPr id="70" name="TextBox 70"/>
            <p:cNvSpPr txBox="1"/>
            <p:nvPr/>
          </p:nvSpPr>
          <p:spPr>
            <a:xfrm>
              <a:off x="6080081" y="4304824"/>
              <a:ext cx="603337"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448 × 448</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71" name="Rectangle 71"/>
            <p:cNvSpPr/>
            <p:nvPr/>
          </p:nvSpPr>
          <p:spPr>
            <a:xfrm>
              <a:off x="7810500" y="4257675"/>
              <a:ext cx="3619500" cy="228600"/>
            </a:xfrm>
            <a:prstGeom prst="rect">
              <a:avLst/>
            </a:prstGeom>
            <a:noFill/>
            <a:ln>
              <a:noFill/>
            </a:ln>
          </p:spPr>
        </p:sp>
        <p:sp>
          <p:nvSpPr>
            <p:cNvPr id="72" name="TextBox 72"/>
            <p:cNvSpPr txBox="1"/>
            <p:nvPr/>
          </p:nvSpPr>
          <p:spPr>
            <a:xfrm>
              <a:off x="9237321" y="4304824"/>
              <a:ext cx="765858"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Segoe UI" panose="020B0502040204020203"/>
                  <a:ea typeface="微软雅黑" panose="020B0503020204020204" charset="-122"/>
                  <a:cs typeface="Segoe UI" panose="020B0502040204020203"/>
                </a:rPr>
                <a:t>面积差 87 倍</a:t>
              </a:r>
              <a:endParaRPr lang="zh-CN" sz="975" dirty="0">
                <a:solidFill>
                  <a:srgbClr val="718096"/>
                </a:solidFill>
                <a:latin typeface="Segoe UI" panose="020B0502040204020203"/>
                <a:ea typeface="微软雅黑" panose="020B0503020204020204" charset="-122"/>
                <a:cs typeface="Segoe UI" panose="020B0502040204020203"/>
              </a:endParaRPr>
            </a:p>
          </p:txBody>
        </p:sp>
      </p:grpSp>
      <p:sp>
        <p:nvSpPr>
          <p:cNvPr id="74" name="TextBox 74"/>
          <p:cNvSpPr txBox="1"/>
          <p:nvPr/>
        </p:nvSpPr>
        <p:spPr>
          <a:xfrm>
            <a:off x="11513820" y="6570345"/>
            <a:ext cx="124873" cy="182880"/>
          </a:xfrm>
          <a:prstGeom prst="rect">
            <a:avLst/>
          </a:prstGeom>
          <a:noFill/>
          <a:ln>
            <a:noFill/>
          </a:ln>
        </p:spPr>
        <p:txBody>
          <a:bodyPr wrap="none" lIns="0" tIns="0" rIns="0" bIns="0" anchor="t" anchorCtr="0">
            <a:spAutoFit/>
          </a:bodyPr>
          <a:lstStyle/>
          <a:p>
            <a:pPr algn="l"/>
            <a:r>
              <a:rPr lang="zh-CN" sz="900" dirty="0">
                <a:solidFill>
                  <a:srgbClr val="CBD5E0"/>
                </a:solidFill>
                <a:latin typeface="Consolas" panose="020B0609020204030204"/>
                <a:ea typeface="微软雅黑" panose="020B0503020204020204" charset="-122"/>
                <a:cs typeface="Consolas" panose="020B0609020204030204"/>
              </a:rPr>
              <a:t>17</a:t>
            </a:r>
            <a:endParaRPr lang="zh-CN" sz="900" dirty="0">
              <a:solidFill>
                <a:srgbClr val="CBD5E0"/>
              </a:solidFill>
              <a:latin typeface="Consolas" panose="020B0609020204030204"/>
              <a:ea typeface="微软雅黑" panose="020B0503020204020204" charset="-122"/>
              <a:cs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47625"/>
          </a:xfrm>
          <a:prstGeom prst="rect">
            <a:avLst/>
          </a:prstGeom>
          <a:solidFill>
            <a:srgbClr val="E53E3E"/>
          </a:solidFill>
          <a:ln>
            <a:noFill/>
          </a:ln>
        </p:spPr>
      </p:sp>
      <p:sp>
        <p:nvSpPr>
          <p:cNvPr id="4" name="Rectangle 4"/>
          <p:cNvSpPr/>
          <p:nvPr/>
        </p:nvSpPr>
        <p:spPr>
          <a:xfrm>
            <a:off x="762000" y="476250"/>
            <a:ext cx="571500" cy="285750"/>
          </a:xfrm>
          <a:prstGeom prst="roundRect">
            <a:avLst>
              <a:gd name="adj" fmla="val 13333"/>
            </a:avLst>
          </a:prstGeom>
          <a:solidFill>
            <a:srgbClr val="E53E3E"/>
          </a:solidFill>
          <a:ln>
            <a:noFill/>
          </a:ln>
        </p:spPr>
      </p:sp>
      <p:sp>
        <p:nvSpPr>
          <p:cNvPr id="5" name="TextBox 5"/>
          <p:cNvSpPr txBox="1"/>
          <p:nvPr/>
        </p:nvSpPr>
        <p:spPr>
          <a:xfrm>
            <a:off x="898850" y="561499"/>
            <a:ext cx="29779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panose="020B0502040204020203"/>
                <a:ea typeface="微软雅黑" panose="020B0503020204020204" charset="-122"/>
                <a:cs typeface="Segoe UI" panose="020B0502040204020203"/>
              </a:rPr>
              <a:t>评估</a:t>
            </a:r>
            <a:endParaRPr lang="zh-CN" sz="975" b="1" dirty="0">
              <a:solidFill>
                <a:srgbClr val="FFFFFF"/>
              </a:solidFill>
              <a:latin typeface="Segoe UI" panose="020B0502040204020203"/>
              <a:ea typeface="微软雅黑" panose="020B0503020204020204" charset="-122"/>
              <a:cs typeface="Segoe UI" panose="020B0502040204020203"/>
            </a:endParaRPr>
          </a:p>
        </p:txBody>
      </p:sp>
      <p:sp>
        <p:nvSpPr>
          <p:cNvPr id="6" name="TextBox 6"/>
          <p:cNvSpPr txBox="1"/>
          <p:nvPr/>
        </p:nvSpPr>
        <p:spPr>
          <a:xfrm>
            <a:off x="1457325" y="504825"/>
            <a:ext cx="3430024" cy="304800"/>
          </a:xfrm>
          <a:prstGeom prst="rect">
            <a:avLst/>
          </a:prstGeom>
          <a:noFill/>
          <a:ln>
            <a:noFill/>
          </a:ln>
        </p:spPr>
        <p:txBody>
          <a:bodyPr wrap="none" lIns="0" tIns="0" rIns="0" bIns="0" anchor="t" anchorCtr="0">
            <a:spAutoFit/>
          </a:bodyPr>
          <a:lstStyle/>
          <a:p>
            <a:pPr algn="l"/>
            <a:r>
              <a:rPr lang="zh-CN" sz="1500" b="1" dirty="0">
                <a:solidFill>
                  <a:srgbClr val="2D3748"/>
                </a:solidFill>
                <a:latin typeface="Segoe UI" panose="020B0502040204020203"/>
                <a:ea typeface="微软雅黑" panose="020B0503020204020204" charset="-122"/>
                <a:cs typeface="Segoe UI" panose="020B0502040204020203"/>
              </a:rPr>
              <a:t>模型评估 — 矩阵公式识别：能力质变</a:t>
            </a:r>
            <a:endParaRPr lang="zh-CN" sz="1500" b="1" dirty="0">
              <a:solidFill>
                <a:srgbClr val="2D3748"/>
              </a:solidFill>
              <a:latin typeface="Segoe UI" panose="020B0502040204020203"/>
              <a:ea typeface="微软雅黑" panose="020B0503020204020204" charset="-122"/>
              <a:cs typeface="Segoe UI" panose="020B0502040204020203"/>
            </a:endParaRPr>
          </a:p>
        </p:txBody>
      </p:sp>
      <p:sp>
        <p:nvSpPr>
          <p:cNvPr id="7" name="Line 7"/>
          <p:cNvSpPr/>
          <p:nvPr/>
        </p:nvSpPr>
        <p:spPr>
          <a:xfrm>
            <a:off x="762000" y="904875"/>
            <a:ext cx="10668000" cy="9525"/>
          </a:xfrm>
          <a:custGeom>
            <a:avLst/>
            <a:gdLst/>
            <a:ahLst/>
            <a:cxnLst/>
            <a:rect l="l" t="t" r="r" b="b"/>
            <a:pathLst>
              <a:path w="10668000" h="9525">
                <a:moveTo>
                  <a:pt x="0" y="0"/>
                </a:moveTo>
                <a:lnTo>
                  <a:pt x="10668000" y="0"/>
                </a:lnTo>
              </a:path>
            </a:pathLst>
          </a:custGeom>
          <a:noFill/>
          <a:ln w="9525">
            <a:solidFill>
              <a:srgbClr val="E2E8F0"/>
            </a:solidFill>
          </a:ln>
        </p:spPr>
      </p:sp>
      <p:sp>
        <p:nvSpPr>
          <p:cNvPr id="8" name="Rectangle 8"/>
          <p:cNvSpPr/>
          <p:nvPr/>
        </p:nvSpPr>
        <p:spPr>
          <a:xfrm>
            <a:off x="762000" y="1143000"/>
            <a:ext cx="5143500" cy="2381250"/>
          </a:xfrm>
          <a:prstGeom prst="roundRect">
            <a:avLst>
              <a:gd name="adj" fmla="val 2400"/>
            </a:avLst>
          </a:prstGeom>
          <a:solidFill>
            <a:srgbClr val="FED7D7"/>
          </a:solidFill>
          <a:ln w="14288">
            <a:solidFill>
              <a:srgbClr val="E53E3E"/>
            </a:solidFill>
          </a:ln>
        </p:spPr>
      </p:sp>
      <p:sp>
        <p:nvSpPr>
          <p:cNvPr id="9" name="Rectangle 9"/>
          <p:cNvSpPr/>
          <p:nvPr/>
        </p:nvSpPr>
        <p:spPr>
          <a:xfrm>
            <a:off x="762000" y="1143000"/>
            <a:ext cx="5143500" cy="333375"/>
          </a:xfrm>
          <a:prstGeom prst="roundRect">
            <a:avLst>
              <a:gd name="adj" fmla="val 17143"/>
            </a:avLst>
          </a:prstGeom>
          <a:solidFill>
            <a:srgbClr val="E53E3E"/>
          </a:solidFill>
          <a:ln>
            <a:noFill/>
          </a:ln>
        </p:spPr>
      </p:sp>
      <p:sp>
        <p:nvSpPr>
          <p:cNvPr id="10" name="TextBox 10"/>
          <p:cNvSpPr txBox="1"/>
          <p:nvPr/>
        </p:nvSpPr>
        <p:spPr>
          <a:xfrm>
            <a:off x="2484608" y="1240631"/>
            <a:ext cx="169828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panose="020B0502040204020203"/>
                <a:ea typeface="微软雅黑" panose="020B0503020204020204" charset="-122"/>
                <a:cs typeface="Segoe UI" panose="020B0502040204020203"/>
              </a:rPr>
              <a:t>传统 ML：无法识别矩阵</a:t>
            </a:r>
            <a:endParaRPr lang="zh-CN" sz="1125" b="1" dirty="0">
              <a:solidFill>
                <a:srgbClr val="FFFFFF"/>
              </a:solidFill>
              <a:latin typeface="Segoe UI" panose="020B0502040204020203"/>
              <a:ea typeface="微软雅黑" panose="020B0503020204020204" charset="-122"/>
              <a:cs typeface="Segoe UI" panose="020B0502040204020203"/>
            </a:endParaRPr>
          </a:p>
        </p:txBody>
      </p:sp>
      <p:grpSp>
        <p:nvGrpSpPr>
          <p:cNvPr id="19" name="Group 19"/>
          <p:cNvGrpSpPr/>
          <p:nvPr/>
        </p:nvGrpSpPr>
        <p:grpSpPr>
          <a:xfrm>
            <a:off x="1035368" y="1561624"/>
            <a:ext cx="2391061" cy="1655445"/>
            <a:chOff x="1035368" y="1561624"/>
            <a:chExt cx="2391061" cy="1655445"/>
          </a:xfrm>
        </p:grpSpPr>
        <p:sp>
          <p:nvSpPr>
            <p:cNvPr id="11" name="TextBox 11"/>
            <p:cNvSpPr txBox="1"/>
            <p:nvPr/>
          </p:nvSpPr>
          <p:spPr>
            <a:xfrm>
              <a:off x="1035368" y="1561624"/>
              <a:ext cx="1526453" cy="198120"/>
            </a:xfrm>
            <a:prstGeom prst="rect">
              <a:avLst/>
            </a:prstGeom>
            <a:noFill/>
            <a:ln>
              <a:noFill/>
            </a:ln>
          </p:spPr>
          <p:txBody>
            <a:bodyPr wrap="none" lIns="0" tIns="0" rIns="0" bIns="0" anchor="t" anchorCtr="0">
              <a:spAutoFit/>
            </a:bodyPr>
            <a:lstStyle/>
            <a:p>
              <a:pPr algn="l"/>
              <a:r>
                <a:rPr lang="zh-CN" sz="975" b="1" dirty="0">
                  <a:solidFill>
                    <a:srgbClr val="2D3748"/>
                  </a:solidFill>
                  <a:latin typeface="Segoe UI" panose="020B0502040204020203"/>
                  <a:ea typeface="微软雅黑" panose="020B0503020204020204" charset="-122"/>
                  <a:cs typeface="Segoe UI" panose="020B0502040204020203"/>
                </a:rPr>
                <a:t>根本原因：分类范式限制</a:t>
              </a:r>
              <a:endParaRPr lang="zh-CN" sz="975" b="1" dirty="0">
                <a:solidFill>
                  <a:srgbClr val="2D3748"/>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1035368" y="1780699"/>
              <a:ext cx="2391061"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每个完整 LaTeX 字符串是一个独立类别</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035368" y="1971199"/>
              <a:ext cx="1994511"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不同矩阵 → 不同类别 → 组合爆炸</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035368" y="2209324"/>
              <a:ext cx="1669796" cy="198120"/>
            </a:xfrm>
            <a:prstGeom prst="rect">
              <a:avLst/>
            </a:prstGeom>
            <a:noFill/>
            <a:ln>
              <a:noFill/>
            </a:ln>
          </p:spPr>
          <p:txBody>
            <a:bodyPr wrap="none" lIns="0" tIns="0" rIns="0" bIns="0" anchor="t" anchorCtr="0">
              <a:spAutoFit/>
            </a:bodyPr>
            <a:lstStyle/>
            <a:p>
              <a:pPr algn="l"/>
              <a:r>
                <a:rPr lang="zh-CN" sz="975" b="1" dirty="0">
                  <a:solidFill>
                    <a:srgbClr val="2D3748"/>
                  </a:solidFill>
                  <a:latin typeface="Segoe UI" panose="020B0502040204020203"/>
                  <a:ea typeface="微软雅黑" panose="020B0503020204020204" charset="-122"/>
                  <a:cs typeface="Segoe UI" panose="020B0502040204020203"/>
                </a:rPr>
                <a:t>代码证据：Top-N 频率过滤</a:t>
              </a:r>
              <a:endParaRPr lang="zh-CN" sz="975" b="1" dirty="0">
                <a:solidFill>
                  <a:srgbClr val="2D3748"/>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1035368" y="2399824"/>
              <a:ext cx="1955506"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load_filtered(min_samples=10)</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1035368" y="2590324"/>
              <a:ext cx="1988010"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高频类（普通公式）135 样本/类</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1035368" y="2780824"/>
              <a:ext cx="2176534"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 矩阵类仅 1-5 样本/类 → 被过滤淘汰</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1035368" y="3018949"/>
              <a:ext cx="2345555" cy="198120"/>
            </a:xfrm>
            <a:prstGeom prst="rect">
              <a:avLst/>
            </a:prstGeom>
            <a:noFill/>
            <a:ln>
              <a:noFill/>
            </a:ln>
          </p:spPr>
          <p:txBody>
            <a:bodyPr wrap="none" lIns="0" tIns="0" rIns="0" bIns="0" anchor="t" anchorCtr="0">
              <a:spAutoFit/>
            </a:bodyPr>
            <a:lstStyle/>
            <a:p>
              <a:pPr algn="l"/>
              <a:r>
                <a:rPr lang="zh-CN" sz="975" b="1" dirty="0">
                  <a:solidFill>
                    <a:srgbClr val="E53E3E"/>
                  </a:solidFill>
                  <a:latin typeface="Segoe UI" panose="020B0502040204020203"/>
                  <a:ea typeface="微软雅黑" panose="020B0503020204020204" charset="-122"/>
                  <a:cs typeface="Segoe UI" panose="020B0502040204020203"/>
                </a:rPr>
                <a:t>结论：分类范式与矩阵识别不可解矛盾</a:t>
              </a:r>
              <a:endParaRPr lang="zh-CN" sz="975" b="1" dirty="0">
                <a:solidFill>
                  <a:srgbClr val="E53E3E"/>
                </a:solidFill>
                <a:latin typeface="Segoe UI" panose="020B0502040204020203"/>
                <a:ea typeface="微软雅黑" panose="020B0503020204020204" charset="-122"/>
                <a:cs typeface="Segoe UI" panose="020B0502040204020203"/>
              </a:endParaRPr>
            </a:p>
          </p:txBody>
        </p:sp>
      </p:grpSp>
      <p:sp>
        <p:nvSpPr>
          <p:cNvPr id="20" name="Rectangle 20"/>
          <p:cNvSpPr/>
          <p:nvPr/>
        </p:nvSpPr>
        <p:spPr>
          <a:xfrm>
            <a:off x="6191250" y="1143000"/>
            <a:ext cx="5238750" cy="2381250"/>
          </a:xfrm>
          <a:prstGeom prst="roundRect">
            <a:avLst>
              <a:gd name="adj" fmla="val 2400"/>
            </a:avLst>
          </a:prstGeom>
          <a:solidFill>
            <a:srgbClr val="C6F6D5"/>
          </a:solidFill>
          <a:ln w="14288">
            <a:solidFill>
              <a:srgbClr val="38A169"/>
            </a:solidFill>
          </a:ln>
        </p:spPr>
      </p:sp>
      <p:sp>
        <p:nvSpPr>
          <p:cNvPr id="21" name="Rectangle 21"/>
          <p:cNvSpPr/>
          <p:nvPr/>
        </p:nvSpPr>
        <p:spPr>
          <a:xfrm>
            <a:off x="6191250" y="1143000"/>
            <a:ext cx="5238750" cy="333375"/>
          </a:xfrm>
          <a:prstGeom prst="roundRect">
            <a:avLst>
              <a:gd name="adj" fmla="val 17143"/>
            </a:avLst>
          </a:prstGeom>
          <a:solidFill>
            <a:srgbClr val="38A169"/>
          </a:solidFill>
          <a:ln>
            <a:noFill/>
          </a:ln>
        </p:spPr>
      </p:sp>
      <p:sp>
        <p:nvSpPr>
          <p:cNvPr id="22" name="TextBox 22"/>
          <p:cNvSpPr txBox="1"/>
          <p:nvPr/>
        </p:nvSpPr>
        <p:spPr>
          <a:xfrm>
            <a:off x="8028429" y="1240631"/>
            <a:ext cx="156439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panose="020B0502040204020203"/>
                <a:ea typeface="微软雅黑" panose="020B0503020204020204" charset="-122"/>
                <a:cs typeface="Segoe UI" panose="020B0502040204020203"/>
              </a:rPr>
              <a:t>多模态大模型：45.9%</a:t>
            </a:r>
            <a:endParaRPr lang="zh-CN" sz="1125" b="1" dirty="0">
              <a:solidFill>
                <a:srgbClr val="FFFFFF"/>
              </a:solidFill>
              <a:latin typeface="Segoe UI" panose="020B0502040204020203"/>
              <a:ea typeface="微软雅黑" panose="020B0503020204020204" charset="-122"/>
              <a:cs typeface="Segoe UI" panose="020B0502040204020203"/>
            </a:endParaRPr>
          </a:p>
        </p:txBody>
      </p:sp>
      <p:grpSp>
        <p:nvGrpSpPr>
          <p:cNvPr id="32" name="Group 32"/>
          <p:cNvGrpSpPr/>
          <p:nvPr/>
        </p:nvGrpSpPr>
        <p:grpSpPr>
          <a:xfrm>
            <a:off x="6464618" y="1561624"/>
            <a:ext cx="2425541" cy="1864995"/>
            <a:chOff x="6464618" y="1561624"/>
            <a:chExt cx="2425541" cy="1864995"/>
          </a:xfrm>
        </p:grpSpPr>
        <p:sp>
          <p:nvSpPr>
            <p:cNvPr id="23" name="TextBox 23"/>
            <p:cNvSpPr txBox="1"/>
            <p:nvPr/>
          </p:nvSpPr>
          <p:spPr>
            <a:xfrm>
              <a:off x="6464618" y="1561624"/>
              <a:ext cx="1253419" cy="198120"/>
            </a:xfrm>
            <a:prstGeom prst="rect">
              <a:avLst/>
            </a:prstGeom>
            <a:noFill/>
            <a:ln>
              <a:noFill/>
            </a:ln>
          </p:spPr>
          <p:txBody>
            <a:bodyPr wrap="none" lIns="0" tIns="0" rIns="0" bIns="0" anchor="t" anchorCtr="0">
              <a:spAutoFit/>
            </a:bodyPr>
            <a:lstStyle/>
            <a:p>
              <a:pPr algn="l"/>
              <a:r>
                <a:rPr lang="zh-CN" sz="975" b="1" dirty="0">
                  <a:solidFill>
                    <a:srgbClr val="38A169"/>
                  </a:solidFill>
                  <a:latin typeface="Segoe UI" panose="020B0502040204020203"/>
                  <a:ea typeface="微软雅黑" panose="020B0503020204020204" charset="-122"/>
                  <a:cs typeface="Segoe UI" panose="020B0502040204020203"/>
                </a:rPr>
                <a:t>生成范式的三大优势</a:t>
              </a:r>
              <a:endParaRPr lang="zh-CN" sz="975" b="1" dirty="0">
                <a:solidFill>
                  <a:srgbClr val="38A169"/>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6464618" y="1780699"/>
              <a:ext cx="2267545"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① 自回归生成：逐个 token 生成 LaTeX</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6655118" y="1942624"/>
              <a:ext cx="2235041"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不受预定义类别限制，可生成任意矩阵</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6464618" y="2180749"/>
              <a:ext cx="2209038"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② 共享子结构学习：\begin{pmatrix}</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6655118" y="2342674"/>
              <a:ext cx="1591461"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跨所有矩阵共享结构 token</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6464618" y="2580799"/>
              <a:ext cx="1870996"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③ 全量数据利用：无 Top-N 截断</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6655118" y="2742724"/>
              <a:ext cx="1844992" cy="198120"/>
            </a:xfrm>
            <a:prstGeom prst="rect">
              <a:avLst/>
            </a:prstGeom>
            <a:noFill/>
            <a:ln>
              <a:noFill/>
            </a:ln>
          </p:spPr>
          <p:txBody>
            <a:bodyPr wrap="none" lIns="0" tIns="0" rIns="0" bIns="0" anchor="t" anchorCtr="0">
              <a:spAutoFit/>
            </a:bodyPr>
            <a:lstStyle/>
            <a:p>
              <a:pPr algn="l"/>
              <a:r>
                <a:rPr lang="zh-CN" sz="975" dirty="0">
                  <a:solidFill>
                    <a:srgbClr val="2D3748"/>
                  </a:solidFill>
                  <a:latin typeface="Segoe UI" panose="020B0502040204020203"/>
                  <a:ea typeface="微软雅黑" panose="020B0503020204020204" charset="-122"/>
                  <a:cs typeface="Segoe UI" panose="020B0502040204020203"/>
                </a:rPr>
                <a:t>低频矩阵也能参与训练贡献梯度</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6464618" y="3018949"/>
              <a:ext cx="1662970" cy="198120"/>
            </a:xfrm>
            <a:prstGeom prst="rect">
              <a:avLst/>
            </a:prstGeom>
            <a:noFill/>
            <a:ln>
              <a:noFill/>
            </a:ln>
          </p:spPr>
          <p:txBody>
            <a:bodyPr wrap="none" lIns="0" tIns="0" rIns="0" bIns="0" anchor="t" anchorCtr="0">
              <a:spAutoFit/>
            </a:bodyPr>
            <a:lstStyle/>
            <a:p>
              <a:pPr algn="l"/>
              <a:r>
                <a:rPr lang="zh-CN" sz="975" b="1" dirty="0">
                  <a:solidFill>
                    <a:srgbClr val="38A169"/>
                  </a:solidFill>
                  <a:latin typeface="Segoe UI" panose="020B0502040204020203"/>
                  <a:ea typeface="微软雅黑" panose="020B0503020204020204" charset="-122"/>
                  <a:cs typeface="Segoe UI" panose="020B0502040204020203"/>
                </a:rPr>
                <a:t>矩阵结构本身多能正确生成</a:t>
              </a:r>
              <a:endParaRPr lang="zh-CN" sz="975" b="1" dirty="0">
                <a:solidFill>
                  <a:srgbClr val="38A169"/>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6464618" y="3228499"/>
              <a:ext cx="1584960" cy="198120"/>
            </a:xfrm>
            <a:prstGeom prst="rect">
              <a:avLst/>
            </a:prstGeom>
            <a:noFill/>
            <a:ln>
              <a:noFill/>
            </a:ln>
          </p:spPr>
          <p:txBody>
            <a:bodyPr wrap="none" lIns="0" tIns="0" rIns="0" bIns="0" anchor="t" anchorCtr="0">
              <a:spAutoFit/>
            </a:bodyPr>
            <a:lstStyle/>
            <a:p>
              <a:pPr algn="l"/>
              <a:r>
                <a:rPr lang="zh-CN" sz="975" dirty="0">
                  <a:solidFill>
                    <a:srgbClr val="718096"/>
                  </a:solidFill>
                  <a:latin typeface="Segoe UI" panose="020B0502040204020203"/>
                  <a:ea typeface="微软雅黑" panose="020B0503020204020204" charset="-122"/>
                  <a:cs typeface="Segoe UI" panose="020B0502040204020203"/>
                </a:rPr>
                <a:t>主要错误在内部数字精度上</a:t>
              </a:r>
              <a:endParaRPr lang="zh-CN" sz="975" dirty="0">
                <a:solidFill>
                  <a:srgbClr val="718096"/>
                </a:solidFill>
                <a:latin typeface="Segoe UI" panose="020B0502040204020203"/>
                <a:ea typeface="微软雅黑" panose="020B0503020204020204" charset="-122"/>
                <a:cs typeface="Segoe UI" panose="020B0502040204020203"/>
              </a:endParaRPr>
            </a:p>
          </p:txBody>
        </p:sp>
      </p:grpSp>
      <p:sp>
        <p:nvSpPr>
          <p:cNvPr id="33" name="Rectangle 33"/>
          <p:cNvSpPr/>
          <p:nvPr/>
        </p:nvSpPr>
        <p:spPr>
          <a:xfrm>
            <a:off x="762000" y="3762375"/>
            <a:ext cx="10668000" cy="857250"/>
          </a:xfrm>
          <a:prstGeom prst="roundRect">
            <a:avLst>
              <a:gd name="adj" fmla="val 6667"/>
            </a:avLst>
          </a:prstGeom>
          <a:solidFill>
            <a:srgbClr val="1A365D"/>
          </a:solidFill>
          <a:ln>
            <a:noFill/>
          </a:ln>
        </p:spPr>
      </p:sp>
      <p:sp>
        <p:nvSpPr>
          <p:cNvPr id="34" name="TextBox 34"/>
          <p:cNvSpPr txBox="1"/>
          <p:nvPr/>
        </p:nvSpPr>
        <p:spPr>
          <a:xfrm>
            <a:off x="4741513" y="3902392"/>
            <a:ext cx="270897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panose="020B0502040204020203"/>
                <a:ea typeface="微软雅黑" panose="020B0503020204020204" charset="-122"/>
                <a:cs typeface="Segoe UI" panose="020B0502040204020203"/>
              </a:rPr>
              <a:t>核心结论：分类范式 → 生成范式</a:t>
            </a:r>
            <a:endParaRPr lang="zh-CN" sz="1350" b="1" dirty="0">
              <a:solidFill>
                <a:srgbClr val="FFFFFF"/>
              </a:solidFill>
              <a:latin typeface="Segoe UI" panose="020B0502040204020203"/>
              <a:ea typeface="微软雅黑" panose="020B0503020204020204" charset="-122"/>
              <a:cs typeface="Segoe UI" panose="020B0502040204020203"/>
            </a:endParaRPr>
          </a:p>
        </p:txBody>
      </p:sp>
      <p:grpSp>
        <p:nvGrpSpPr>
          <p:cNvPr id="37" name="Group 37"/>
          <p:cNvGrpSpPr/>
          <p:nvPr/>
        </p:nvGrpSpPr>
        <p:grpSpPr>
          <a:xfrm>
            <a:off x="3366325" y="4191952"/>
            <a:ext cx="5459349" cy="370840"/>
            <a:chOff x="3366325" y="4191952"/>
            <a:chExt cx="5459349" cy="370840"/>
          </a:xfrm>
        </p:grpSpPr>
        <p:sp>
          <p:nvSpPr>
            <p:cNvPr id="35" name="TextBox 35"/>
            <p:cNvSpPr txBox="1"/>
            <p:nvPr/>
          </p:nvSpPr>
          <p:spPr>
            <a:xfrm>
              <a:off x="3366325" y="4191952"/>
              <a:ext cx="5459349" cy="213360"/>
            </a:xfrm>
            <a:prstGeom prst="rect">
              <a:avLst/>
            </a:prstGeom>
            <a:noFill/>
            <a:ln>
              <a:noFill/>
            </a:ln>
          </p:spPr>
          <p:txBody>
            <a:bodyPr wrap="none" lIns="0" tIns="0" rIns="0" bIns="0" anchor="t" anchorCtr="0">
              <a:spAutoFit/>
            </a:bodyPr>
            <a:lstStyle/>
            <a:p>
              <a:pPr algn="ctr"/>
              <a:r>
                <a:rPr lang="zh-CN" sz="1050" dirty="0">
                  <a:solidFill>
                    <a:srgbClr val="90CDF4"/>
                  </a:solidFill>
                  <a:latin typeface="Segoe UI" panose="020B0502040204020203"/>
                  <a:ea typeface="微软雅黑" panose="020B0503020204020204" charset="-122"/>
                  <a:cs typeface="Segoe UI" panose="020B0502040204020203"/>
                </a:rPr>
                <a:t>传统 ML（封闭类别 → 矩阵不可识别）≠ 多模态大模型（开放生成 → 矩阵可识别 45.9%）</a:t>
              </a:r>
              <a:endParaRPr lang="zh-CN" sz="1050" dirty="0">
                <a:solidFill>
                  <a:srgbClr val="90CDF4"/>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4362468" y="4401502"/>
              <a:ext cx="3467100" cy="161290"/>
            </a:xfrm>
            <a:prstGeom prst="rect">
              <a:avLst/>
            </a:prstGeom>
            <a:noFill/>
            <a:ln>
              <a:noFill/>
            </a:ln>
          </p:spPr>
          <p:txBody>
            <a:bodyPr wrap="none" lIns="0" tIns="0" rIns="0" bIns="0" anchor="t" anchorCtr="0">
              <a:spAutoFit/>
            </a:bodyPr>
            <a:lstStyle/>
            <a:p>
              <a:pPr algn="ctr"/>
              <a:r>
                <a:rPr lang="zh-CN" sz="1050" dirty="0">
                  <a:solidFill>
                    <a:srgbClr val="FED7D7"/>
                  </a:solidFill>
                  <a:latin typeface="Segoe UI" panose="020B0502040204020203"/>
                  <a:ea typeface="微软雅黑" panose="020B0503020204020204" charset="-122"/>
                  <a:cs typeface="Segoe UI" panose="020B0502040204020203"/>
                </a:rPr>
                <a:t>并且因为时间限制大模型方法也没有进行深入增加在正确率</a:t>
              </a:r>
              <a:endParaRPr lang="en-US" altLang="zh-CN" sz="1050" dirty="0">
                <a:solidFill>
                  <a:srgbClr val="FED7D7"/>
                </a:solidFill>
                <a:latin typeface="Segoe UI" panose="020B0502040204020203"/>
                <a:ea typeface="微软雅黑" panose="020B0503020204020204" charset="-122"/>
                <a:cs typeface="Segoe UI" panose="020B0502040204020203"/>
              </a:endParaRPr>
            </a:p>
          </p:txBody>
        </p:sp>
      </p:grpSp>
      <p:sp>
        <p:nvSpPr>
          <p:cNvPr id="38" name="TextBox 38"/>
          <p:cNvSpPr txBox="1"/>
          <p:nvPr/>
        </p:nvSpPr>
        <p:spPr>
          <a:xfrm>
            <a:off x="11513820" y="6570345"/>
            <a:ext cx="124873" cy="182880"/>
          </a:xfrm>
          <a:prstGeom prst="rect">
            <a:avLst/>
          </a:prstGeom>
          <a:noFill/>
          <a:ln>
            <a:noFill/>
          </a:ln>
        </p:spPr>
        <p:txBody>
          <a:bodyPr wrap="none" lIns="0" tIns="0" rIns="0" bIns="0" anchor="t" anchorCtr="0">
            <a:spAutoFit/>
          </a:bodyPr>
          <a:lstStyle/>
          <a:p>
            <a:pPr algn="l"/>
            <a:r>
              <a:rPr lang="zh-CN" sz="900" dirty="0">
                <a:solidFill>
                  <a:srgbClr val="CBD5E0"/>
                </a:solidFill>
                <a:latin typeface="Consolas" panose="020B0609020204030204"/>
                <a:ea typeface="微软雅黑" panose="020B0503020204020204" charset="-122"/>
                <a:cs typeface="Consolas" panose="020B0609020204030204"/>
              </a:rPr>
              <a:t>18</a:t>
            </a:r>
            <a:endParaRPr lang="zh-CN" sz="900" dirty="0">
              <a:solidFill>
                <a:srgbClr val="CBD5E0"/>
              </a:solidFill>
              <a:latin typeface="Consolas" panose="020B0609020204030204"/>
              <a:ea typeface="微软雅黑" panose="020B0503020204020204" charset="-122"/>
              <a:cs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47625"/>
          </a:xfrm>
          <a:prstGeom prst="rect">
            <a:avLst/>
          </a:prstGeom>
          <a:solidFill>
            <a:srgbClr val="E53E3E"/>
          </a:solidFill>
          <a:ln>
            <a:noFill/>
          </a:ln>
        </p:spPr>
      </p:sp>
      <p:sp>
        <p:nvSpPr>
          <p:cNvPr id="4" name="Rectangle 4"/>
          <p:cNvSpPr/>
          <p:nvPr/>
        </p:nvSpPr>
        <p:spPr>
          <a:xfrm>
            <a:off x="762000" y="476250"/>
            <a:ext cx="571500" cy="285750"/>
          </a:xfrm>
          <a:prstGeom prst="roundRect">
            <a:avLst>
              <a:gd name="adj" fmla="val 13333"/>
            </a:avLst>
          </a:prstGeom>
          <a:solidFill>
            <a:srgbClr val="E53E3E"/>
          </a:solidFill>
          <a:ln>
            <a:noFill/>
          </a:ln>
        </p:spPr>
      </p:sp>
      <p:sp>
        <p:nvSpPr>
          <p:cNvPr id="5" name="TextBox 5"/>
          <p:cNvSpPr txBox="1"/>
          <p:nvPr/>
        </p:nvSpPr>
        <p:spPr>
          <a:xfrm>
            <a:off x="898850" y="561499"/>
            <a:ext cx="297799"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panose="020B0502040204020203"/>
                <a:ea typeface="微软雅黑" panose="020B0503020204020204" charset="-122"/>
                <a:cs typeface="Segoe UI" panose="020B0502040204020203"/>
              </a:rPr>
              <a:t>部署</a:t>
            </a:r>
            <a:endParaRPr lang="zh-CN" sz="975" b="1" dirty="0">
              <a:solidFill>
                <a:srgbClr val="FFFFFF"/>
              </a:solidFill>
              <a:latin typeface="Segoe UI" panose="020B0502040204020203"/>
              <a:ea typeface="微软雅黑" panose="020B0503020204020204" charset="-122"/>
              <a:cs typeface="Segoe UI" panose="020B0502040204020203"/>
            </a:endParaRPr>
          </a:p>
        </p:txBody>
      </p:sp>
      <p:sp>
        <p:nvSpPr>
          <p:cNvPr id="6" name="TextBox 6"/>
          <p:cNvSpPr txBox="1"/>
          <p:nvPr/>
        </p:nvSpPr>
        <p:spPr>
          <a:xfrm>
            <a:off x="1457325" y="504825"/>
            <a:ext cx="3009971" cy="304800"/>
          </a:xfrm>
          <a:prstGeom prst="rect">
            <a:avLst/>
          </a:prstGeom>
          <a:noFill/>
          <a:ln>
            <a:noFill/>
          </a:ln>
        </p:spPr>
        <p:txBody>
          <a:bodyPr wrap="none" lIns="0" tIns="0" rIns="0" bIns="0" anchor="t" anchorCtr="0">
            <a:spAutoFit/>
          </a:bodyPr>
          <a:lstStyle/>
          <a:p>
            <a:pPr algn="l"/>
            <a:r>
              <a:rPr lang="zh-CN" sz="1500" b="1" dirty="0">
                <a:solidFill>
                  <a:srgbClr val="2D3748"/>
                </a:solidFill>
                <a:latin typeface="Segoe UI" panose="020B0502040204020203"/>
                <a:ea typeface="微软雅黑" panose="020B0503020204020204" charset="-122"/>
                <a:cs typeface="Segoe UI" panose="020B0502040204020203"/>
              </a:rPr>
              <a:t>模型部署 — 使用方式与应用场景</a:t>
            </a:r>
            <a:endParaRPr lang="zh-CN" sz="1500" b="1" dirty="0">
              <a:solidFill>
                <a:srgbClr val="2D3748"/>
              </a:solidFill>
              <a:latin typeface="Segoe UI" panose="020B0502040204020203"/>
              <a:ea typeface="微软雅黑" panose="020B0503020204020204" charset="-122"/>
              <a:cs typeface="Segoe UI" panose="020B0502040204020203"/>
            </a:endParaRPr>
          </a:p>
        </p:txBody>
      </p:sp>
      <p:sp>
        <p:nvSpPr>
          <p:cNvPr id="7" name="Line 7"/>
          <p:cNvSpPr/>
          <p:nvPr/>
        </p:nvSpPr>
        <p:spPr>
          <a:xfrm>
            <a:off x="762000" y="904875"/>
            <a:ext cx="10668000" cy="9525"/>
          </a:xfrm>
          <a:custGeom>
            <a:avLst/>
            <a:gdLst/>
            <a:ahLst/>
            <a:cxnLst/>
            <a:rect l="l" t="t" r="r" b="b"/>
            <a:pathLst>
              <a:path w="10668000" h="9525">
                <a:moveTo>
                  <a:pt x="0" y="0"/>
                </a:moveTo>
                <a:lnTo>
                  <a:pt x="10668000" y="0"/>
                </a:lnTo>
              </a:path>
            </a:pathLst>
          </a:custGeom>
          <a:noFill/>
          <a:ln w="9525">
            <a:solidFill>
              <a:srgbClr val="E2E8F0"/>
            </a:solidFill>
          </a:ln>
        </p:spPr>
      </p:sp>
      <p:sp>
        <p:nvSpPr>
          <p:cNvPr id="8" name="Rectangle 8"/>
          <p:cNvSpPr/>
          <p:nvPr/>
        </p:nvSpPr>
        <p:spPr>
          <a:xfrm>
            <a:off x="762000" y="1143000"/>
            <a:ext cx="5143500" cy="1619250"/>
          </a:xfrm>
          <a:prstGeom prst="roundRect">
            <a:avLst>
              <a:gd name="adj" fmla="val 3529"/>
            </a:avLst>
          </a:prstGeom>
          <a:solidFill>
            <a:srgbClr val="EBF8FF"/>
          </a:solidFill>
          <a:ln>
            <a:noFill/>
          </a:ln>
        </p:spPr>
      </p:sp>
      <p:sp>
        <p:nvSpPr>
          <p:cNvPr id="9" name="Rectangle 9"/>
          <p:cNvSpPr/>
          <p:nvPr/>
        </p:nvSpPr>
        <p:spPr>
          <a:xfrm>
            <a:off x="762000" y="1143000"/>
            <a:ext cx="5143500" cy="333375"/>
          </a:xfrm>
          <a:prstGeom prst="roundRect">
            <a:avLst>
              <a:gd name="adj" fmla="val 17143"/>
            </a:avLst>
          </a:prstGeom>
          <a:solidFill>
            <a:srgbClr val="3182CE"/>
          </a:solidFill>
          <a:ln>
            <a:noFill/>
          </a:ln>
        </p:spPr>
      </p:sp>
      <p:sp>
        <p:nvSpPr>
          <p:cNvPr id="10" name="TextBox 10"/>
          <p:cNvSpPr txBox="1"/>
          <p:nvPr/>
        </p:nvSpPr>
        <p:spPr>
          <a:xfrm>
            <a:off x="2854779" y="1240631"/>
            <a:ext cx="957941"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panose="020B0502040204020203"/>
                <a:ea typeface="微软雅黑" panose="020B0503020204020204" charset="-122"/>
                <a:cs typeface="Segoe UI" panose="020B0502040204020203"/>
              </a:rPr>
              <a:t>传统 ML 部署</a:t>
            </a:r>
            <a:endParaRPr lang="zh-CN" sz="1125" b="1" dirty="0">
              <a:solidFill>
                <a:srgbClr val="FFFFFF"/>
              </a:solidFill>
              <a:latin typeface="Segoe UI" panose="020B0502040204020203"/>
              <a:ea typeface="微软雅黑" panose="020B0503020204020204" charset="-122"/>
              <a:cs typeface="Segoe UI" panose="020B0502040204020203"/>
            </a:endParaRPr>
          </a:p>
        </p:txBody>
      </p:sp>
      <p:grpSp>
        <p:nvGrpSpPr>
          <p:cNvPr id="16" name="Group 16"/>
          <p:cNvGrpSpPr/>
          <p:nvPr/>
        </p:nvGrpSpPr>
        <p:grpSpPr>
          <a:xfrm>
            <a:off x="1036320" y="1541145"/>
            <a:ext cx="2483167" cy="1135380"/>
            <a:chOff x="1036320" y="1541145"/>
            <a:chExt cx="2483167" cy="1135380"/>
          </a:xfrm>
        </p:grpSpPr>
        <p:sp>
          <p:nvSpPr>
            <p:cNvPr id="11" name="TextBox 11"/>
            <p:cNvSpPr txBox="1"/>
            <p:nvPr/>
          </p:nvSpPr>
          <p:spPr>
            <a:xfrm>
              <a:off x="1036320" y="1541145"/>
              <a:ext cx="2051113" cy="182880"/>
            </a:xfrm>
            <a:prstGeom prst="rect">
              <a:avLst/>
            </a:prstGeom>
            <a:noFill/>
            <a:ln>
              <a:noFill/>
            </a:ln>
          </p:spPr>
          <p:txBody>
            <a:bodyPr wrap="none" lIns="0" tIns="0" rIns="0" bIns="0" anchor="t" anchorCtr="0">
              <a:spAutoFit/>
            </a:bodyPr>
            <a:lstStyle/>
            <a:p>
              <a:pPr algn="l"/>
              <a:r>
                <a:rPr lang="zh-CN" sz="900" dirty="0">
                  <a:solidFill>
                    <a:srgbClr val="2D3748"/>
                  </a:solidFill>
                  <a:latin typeface="Consolas" panose="020B0609020204030204"/>
                  <a:ea typeface="微软雅黑" panose="020B0503020204020204" charset="-122"/>
                  <a:cs typeface="Consolas" panose="020B0609020204030204"/>
                </a:rPr>
                <a:t>python preprocess.py # 数据预处理</a:t>
              </a:r>
              <a:endParaRPr lang="zh-CN" sz="900" dirty="0">
                <a:solidFill>
                  <a:srgbClr val="2D3748"/>
                </a:solidFill>
                <a:latin typeface="Consolas" panose="020B0609020204030204"/>
                <a:ea typeface="微软雅黑" panose="020B0503020204020204" charset="-122"/>
                <a:cs typeface="Consolas" panose="020B0609020204030204"/>
              </a:endParaRPr>
            </a:p>
          </p:txBody>
        </p:sp>
        <p:sp>
          <p:nvSpPr>
            <p:cNvPr id="12" name="TextBox 12"/>
            <p:cNvSpPr txBox="1"/>
            <p:nvPr/>
          </p:nvSpPr>
          <p:spPr>
            <a:xfrm>
              <a:off x="1036320" y="1760220"/>
              <a:ext cx="2483167" cy="182880"/>
            </a:xfrm>
            <a:prstGeom prst="rect">
              <a:avLst/>
            </a:prstGeom>
            <a:noFill/>
            <a:ln>
              <a:noFill/>
            </a:ln>
          </p:spPr>
          <p:txBody>
            <a:bodyPr wrap="none" lIns="0" tIns="0" rIns="0" bIns="0" anchor="t" anchorCtr="0">
              <a:spAutoFit/>
            </a:bodyPr>
            <a:lstStyle/>
            <a:p>
              <a:pPr algn="l"/>
              <a:r>
                <a:rPr lang="zh-CN" sz="900" dirty="0">
                  <a:solidFill>
                    <a:srgbClr val="2D3748"/>
                  </a:solidFill>
                  <a:latin typeface="Consolas" panose="020B0609020204030204"/>
                  <a:ea typeface="微软雅黑" panose="020B0503020204020204" charset="-122"/>
                  <a:cs typeface="Consolas" panose="020B0609020204030204"/>
                </a:rPr>
                <a:t>python traditional_model.py # 训练+可视化</a:t>
              </a:r>
              <a:endParaRPr lang="zh-CN" sz="900" dirty="0">
                <a:solidFill>
                  <a:srgbClr val="2D3748"/>
                </a:solidFill>
                <a:latin typeface="Consolas" panose="020B0609020204030204"/>
                <a:ea typeface="微软雅黑" panose="020B0503020204020204" charset="-122"/>
                <a:cs typeface="Consolas" panose="020B0609020204030204"/>
              </a:endParaRPr>
            </a:p>
          </p:txBody>
        </p:sp>
        <p:sp>
          <p:nvSpPr>
            <p:cNvPr id="13" name="TextBox 13"/>
            <p:cNvSpPr txBox="1"/>
            <p:nvPr/>
          </p:nvSpPr>
          <p:spPr>
            <a:xfrm>
              <a:off x="1036320" y="1979295"/>
              <a:ext cx="1901095" cy="182880"/>
            </a:xfrm>
            <a:prstGeom prst="rect">
              <a:avLst/>
            </a:prstGeom>
            <a:noFill/>
            <a:ln>
              <a:noFill/>
            </a:ln>
          </p:spPr>
          <p:txBody>
            <a:bodyPr wrap="none" lIns="0" tIns="0" rIns="0" bIns="0" anchor="t" anchorCtr="0">
              <a:spAutoFit/>
            </a:bodyPr>
            <a:lstStyle/>
            <a:p>
              <a:pPr algn="l"/>
              <a:r>
                <a:rPr lang="zh-CN" sz="900" dirty="0">
                  <a:solidFill>
                    <a:srgbClr val="2D3748"/>
                  </a:solidFill>
                  <a:latin typeface="Consolas" panose="020B0609020204030204"/>
                  <a:ea typeface="微软雅黑" panose="020B0503020204020204" charset="-122"/>
                  <a:cs typeface="Consolas" panose="020B0609020204030204"/>
                </a:rPr>
                <a:t>python quick_test.py # 快速验证</a:t>
              </a:r>
              <a:endParaRPr lang="zh-CN" sz="900" dirty="0">
                <a:solidFill>
                  <a:srgbClr val="2D3748"/>
                </a:solidFill>
                <a:latin typeface="Consolas" panose="020B0609020204030204"/>
                <a:ea typeface="微软雅黑" panose="020B0503020204020204" charset="-122"/>
                <a:cs typeface="Consolas" panose="020B0609020204030204"/>
              </a:endParaRPr>
            </a:p>
          </p:txBody>
        </p:sp>
        <p:sp>
          <p:nvSpPr>
            <p:cNvPr id="14" name="TextBox 14"/>
            <p:cNvSpPr txBox="1"/>
            <p:nvPr/>
          </p:nvSpPr>
          <p:spPr>
            <a:xfrm>
              <a:off x="1036320" y="2265045"/>
              <a:ext cx="2309146" cy="182880"/>
            </a:xfrm>
            <a:prstGeom prst="rect">
              <a:avLst/>
            </a:prstGeom>
            <a:noFill/>
            <a:ln>
              <a:noFill/>
            </a:ln>
          </p:spPr>
          <p:txBody>
            <a:bodyPr wrap="none" lIns="0" tIns="0" rIns="0" bIns="0" anchor="t" anchorCtr="0">
              <a:spAutoFit/>
            </a:bodyPr>
            <a:lstStyle/>
            <a:p>
              <a:pPr algn="l"/>
              <a:r>
                <a:rPr lang="zh-CN" sz="900" dirty="0">
                  <a:solidFill>
                    <a:srgbClr val="3182CE"/>
                  </a:solidFill>
                  <a:latin typeface="Segoe UI" panose="020B0502040204020203"/>
                  <a:ea typeface="微软雅黑" panose="020B0503020204020204" charset="-122"/>
                  <a:cs typeface="Segoe UI" panose="020B0502040204020203"/>
                </a:rPr>
                <a:t>环境：任意 CPU · numpy/opencv/sklearn</a:t>
              </a:r>
              <a:endParaRPr lang="zh-CN" sz="900" dirty="0">
                <a:solidFill>
                  <a:srgbClr val="3182CE"/>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1036320" y="2493645"/>
              <a:ext cx="1463040" cy="182880"/>
            </a:xfrm>
            <a:prstGeom prst="rect">
              <a:avLst/>
            </a:prstGeom>
            <a:noFill/>
            <a:ln>
              <a:noFill/>
            </a:ln>
          </p:spPr>
          <p:txBody>
            <a:bodyPr wrap="none" lIns="0" tIns="0" rIns="0" bIns="0" anchor="t" anchorCtr="0">
              <a:spAutoFit/>
            </a:bodyPr>
            <a:lstStyle/>
            <a:p>
              <a:pPr algn="l"/>
              <a:r>
                <a:rPr lang="zh-CN" sz="900" dirty="0">
                  <a:solidFill>
                    <a:srgbClr val="3182CE"/>
                  </a:solidFill>
                  <a:latin typeface="Segoe UI" panose="020B0502040204020203"/>
                  <a:ea typeface="微软雅黑" panose="020B0503020204020204" charset="-122"/>
                  <a:cs typeface="Segoe UI" panose="020B0502040204020203"/>
                </a:rPr>
                <a:t>完全离线 · 免费 · 无需 API</a:t>
              </a:r>
              <a:endParaRPr lang="zh-CN" sz="900" dirty="0">
                <a:solidFill>
                  <a:srgbClr val="3182CE"/>
                </a:solidFill>
                <a:latin typeface="Segoe UI" panose="020B0502040204020203"/>
                <a:ea typeface="微软雅黑" panose="020B0503020204020204" charset="-122"/>
                <a:cs typeface="Segoe UI" panose="020B0502040204020203"/>
              </a:endParaRPr>
            </a:p>
          </p:txBody>
        </p:sp>
      </p:grpSp>
      <p:sp>
        <p:nvSpPr>
          <p:cNvPr id="17" name="Rectangle 17"/>
          <p:cNvSpPr/>
          <p:nvPr/>
        </p:nvSpPr>
        <p:spPr>
          <a:xfrm>
            <a:off x="6191250" y="1143000"/>
            <a:ext cx="5238750" cy="1619250"/>
          </a:xfrm>
          <a:prstGeom prst="roundRect">
            <a:avLst>
              <a:gd name="adj" fmla="val 3529"/>
            </a:avLst>
          </a:prstGeom>
          <a:solidFill>
            <a:srgbClr val="FFF5F5"/>
          </a:solidFill>
          <a:ln>
            <a:noFill/>
          </a:ln>
        </p:spPr>
      </p:sp>
      <p:sp>
        <p:nvSpPr>
          <p:cNvPr id="18" name="Rectangle 18"/>
          <p:cNvSpPr/>
          <p:nvPr/>
        </p:nvSpPr>
        <p:spPr>
          <a:xfrm>
            <a:off x="6191250" y="1143000"/>
            <a:ext cx="5238750" cy="333375"/>
          </a:xfrm>
          <a:prstGeom prst="roundRect">
            <a:avLst>
              <a:gd name="adj" fmla="val 17143"/>
            </a:avLst>
          </a:prstGeom>
          <a:solidFill>
            <a:srgbClr val="E53E3E"/>
          </a:solidFill>
          <a:ln>
            <a:noFill/>
          </a:ln>
        </p:spPr>
      </p:sp>
      <p:sp>
        <p:nvSpPr>
          <p:cNvPr id="19" name="TextBox 19"/>
          <p:cNvSpPr txBox="1"/>
          <p:nvPr/>
        </p:nvSpPr>
        <p:spPr>
          <a:xfrm>
            <a:off x="8166259" y="1240631"/>
            <a:ext cx="128873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panose="020B0502040204020203"/>
                <a:ea typeface="微软雅黑" panose="020B0503020204020204" charset="-122"/>
                <a:cs typeface="Segoe UI" panose="020B0502040204020203"/>
              </a:rPr>
              <a:t>多模态大模型部署</a:t>
            </a:r>
            <a:endParaRPr lang="zh-CN" sz="1125" b="1" dirty="0">
              <a:solidFill>
                <a:srgbClr val="FFFFFF"/>
              </a:solidFill>
              <a:latin typeface="Segoe UI" panose="020B0502040204020203"/>
              <a:ea typeface="微软雅黑" panose="020B0503020204020204" charset="-122"/>
              <a:cs typeface="Segoe UI" panose="020B0502040204020203"/>
            </a:endParaRPr>
          </a:p>
        </p:txBody>
      </p:sp>
      <p:grpSp>
        <p:nvGrpSpPr>
          <p:cNvPr id="26" name="Group 26"/>
          <p:cNvGrpSpPr/>
          <p:nvPr/>
        </p:nvGrpSpPr>
        <p:grpSpPr>
          <a:xfrm>
            <a:off x="6465570" y="1541145"/>
            <a:ext cx="2693194" cy="1325880"/>
            <a:chOff x="6465570" y="1541145"/>
            <a:chExt cx="2693194" cy="1325880"/>
          </a:xfrm>
        </p:grpSpPr>
        <p:sp>
          <p:nvSpPr>
            <p:cNvPr id="20" name="TextBox 20"/>
            <p:cNvSpPr txBox="1"/>
            <p:nvPr/>
          </p:nvSpPr>
          <p:spPr>
            <a:xfrm>
              <a:off x="6465570" y="1541145"/>
              <a:ext cx="1571053" cy="182880"/>
            </a:xfrm>
            <a:prstGeom prst="rect">
              <a:avLst/>
            </a:prstGeom>
            <a:noFill/>
            <a:ln>
              <a:noFill/>
            </a:ln>
          </p:spPr>
          <p:txBody>
            <a:bodyPr wrap="none" lIns="0" tIns="0" rIns="0" bIns="0" anchor="t" anchorCtr="0">
              <a:spAutoFit/>
            </a:bodyPr>
            <a:lstStyle/>
            <a:p>
              <a:pPr algn="l"/>
              <a:r>
                <a:rPr lang="zh-CN" sz="900" dirty="0">
                  <a:solidFill>
                    <a:srgbClr val="2D3748"/>
                  </a:solidFill>
                  <a:latin typeface="Consolas" panose="020B0609020204030204"/>
                  <a:ea typeface="微软雅黑" panose="020B0503020204020204" charset="-122"/>
                  <a:cs typeface="Consolas" panose="020B0609020204030204"/>
                </a:rPr>
                <a:t># LoRA + DeepSeek 混合方案</a:t>
              </a:r>
              <a:endParaRPr lang="zh-CN" sz="900" dirty="0">
                <a:solidFill>
                  <a:srgbClr val="2D3748"/>
                </a:solidFill>
                <a:latin typeface="Consolas" panose="020B0609020204030204"/>
                <a:ea typeface="微软雅黑" panose="020B0503020204020204" charset="-122"/>
                <a:cs typeface="Consolas" panose="020B0609020204030204"/>
              </a:endParaRPr>
            </a:p>
          </p:txBody>
        </p:sp>
        <p:sp>
          <p:nvSpPr>
            <p:cNvPr id="21" name="TextBox 21"/>
            <p:cNvSpPr txBox="1"/>
            <p:nvPr/>
          </p:nvSpPr>
          <p:spPr>
            <a:xfrm>
              <a:off x="6465570" y="1731645"/>
              <a:ext cx="2069116" cy="182880"/>
            </a:xfrm>
            <a:prstGeom prst="rect">
              <a:avLst/>
            </a:prstGeom>
            <a:noFill/>
            <a:ln>
              <a:noFill/>
            </a:ln>
          </p:spPr>
          <p:txBody>
            <a:bodyPr wrap="none" lIns="0" tIns="0" rIns="0" bIns="0" anchor="t" anchorCtr="0">
              <a:spAutoFit/>
            </a:bodyPr>
            <a:lstStyle/>
            <a:p>
              <a:pPr algn="l"/>
              <a:r>
                <a:rPr lang="zh-CN" sz="900" dirty="0">
                  <a:solidFill>
                    <a:srgbClr val="2D3748"/>
                  </a:solidFill>
                  <a:latin typeface="Consolas" panose="020B0609020204030204"/>
                  <a:ea typeface="微软雅黑" panose="020B0503020204020204" charset="-122"/>
                  <a:cs typeface="Consolas" panose="020B0609020204030204"/>
                </a:rPr>
                <a:t>python main.py --mode lora_refine</a:t>
              </a:r>
              <a:endParaRPr lang="zh-CN" sz="900" dirty="0">
                <a:solidFill>
                  <a:srgbClr val="2D3748"/>
                </a:solidFill>
                <a:latin typeface="Consolas" panose="020B0609020204030204"/>
                <a:ea typeface="微软雅黑" panose="020B0503020204020204" charset="-122"/>
                <a:cs typeface="Consolas" panose="020B0609020204030204"/>
              </a:endParaRPr>
            </a:p>
          </p:txBody>
        </p:sp>
        <p:sp>
          <p:nvSpPr>
            <p:cNvPr id="22" name="TextBox 22"/>
            <p:cNvSpPr txBox="1"/>
            <p:nvPr/>
          </p:nvSpPr>
          <p:spPr>
            <a:xfrm>
              <a:off x="6465570" y="1979295"/>
              <a:ext cx="1385030" cy="182880"/>
            </a:xfrm>
            <a:prstGeom prst="rect">
              <a:avLst/>
            </a:prstGeom>
            <a:noFill/>
            <a:ln>
              <a:noFill/>
            </a:ln>
          </p:spPr>
          <p:txBody>
            <a:bodyPr wrap="none" lIns="0" tIns="0" rIns="0" bIns="0" anchor="t" anchorCtr="0">
              <a:spAutoFit/>
            </a:bodyPr>
            <a:lstStyle/>
            <a:p>
              <a:pPr algn="l"/>
              <a:r>
                <a:rPr lang="zh-CN" sz="900" dirty="0">
                  <a:solidFill>
                    <a:srgbClr val="2D3748"/>
                  </a:solidFill>
                  <a:latin typeface="Consolas" panose="020B0609020204030204"/>
                  <a:ea typeface="微软雅黑" panose="020B0503020204020204" charset="-122"/>
                  <a:cs typeface="Consolas" panose="020B0609020204030204"/>
                </a:rPr>
                <a:t># 仅 LoRA 推理（无 API）</a:t>
              </a:r>
              <a:endParaRPr lang="zh-CN" sz="900" dirty="0">
                <a:solidFill>
                  <a:srgbClr val="2D3748"/>
                </a:solidFill>
                <a:latin typeface="Consolas" panose="020B0609020204030204"/>
                <a:ea typeface="微软雅黑" panose="020B0503020204020204" charset="-122"/>
                <a:cs typeface="Consolas" panose="020B0609020204030204"/>
              </a:endParaRPr>
            </a:p>
          </p:txBody>
        </p:sp>
        <p:sp>
          <p:nvSpPr>
            <p:cNvPr id="23" name="TextBox 23"/>
            <p:cNvSpPr txBox="1"/>
            <p:nvPr/>
          </p:nvSpPr>
          <p:spPr>
            <a:xfrm>
              <a:off x="6465570" y="2169795"/>
              <a:ext cx="1637062" cy="182880"/>
            </a:xfrm>
            <a:prstGeom prst="rect">
              <a:avLst/>
            </a:prstGeom>
            <a:noFill/>
            <a:ln>
              <a:noFill/>
            </a:ln>
          </p:spPr>
          <p:txBody>
            <a:bodyPr wrap="none" lIns="0" tIns="0" rIns="0" bIns="0" anchor="t" anchorCtr="0">
              <a:spAutoFit/>
            </a:bodyPr>
            <a:lstStyle/>
            <a:p>
              <a:pPr algn="l"/>
              <a:r>
                <a:rPr lang="zh-CN" sz="900" dirty="0">
                  <a:solidFill>
                    <a:srgbClr val="2D3748"/>
                  </a:solidFill>
                  <a:latin typeface="Consolas" panose="020B0609020204030204"/>
                  <a:ea typeface="微软雅黑" panose="020B0503020204020204" charset="-122"/>
                  <a:cs typeface="Consolas" panose="020B0609020204030204"/>
                </a:rPr>
                <a:t>python main.py --mode lora</a:t>
              </a:r>
              <a:endParaRPr lang="zh-CN" sz="900" dirty="0">
                <a:solidFill>
                  <a:srgbClr val="2D3748"/>
                </a:solidFill>
                <a:latin typeface="Consolas" panose="020B0609020204030204"/>
                <a:ea typeface="微软雅黑" panose="020B0503020204020204" charset="-122"/>
                <a:cs typeface="Consolas" panose="020B0609020204030204"/>
              </a:endParaRPr>
            </a:p>
          </p:txBody>
        </p:sp>
        <p:sp>
          <p:nvSpPr>
            <p:cNvPr id="24" name="TextBox 24"/>
            <p:cNvSpPr txBox="1"/>
            <p:nvPr/>
          </p:nvSpPr>
          <p:spPr>
            <a:xfrm>
              <a:off x="6465570" y="2455545"/>
              <a:ext cx="2693194" cy="182880"/>
            </a:xfrm>
            <a:prstGeom prst="rect">
              <a:avLst/>
            </a:prstGeom>
            <a:noFill/>
            <a:ln>
              <a:noFill/>
            </a:ln>
          </p:spPr>
          <p:txBody>
            <a:bodyPr wrap="none" lIns="0" tIns="0" rIns="0" bIns="0" anchor="t" anchorCtr="0">
              <a:spAutoFit/>
            </a:bodyPr>
            <a:lstStyle/>
            <a:p>
              <a:pPr algn="l"/>
              <a:r>
                <a:rPr lang="zh-CN" sz="900" dirty="0">
                  <a:solidFill>
                    <a:srgbClr val="E53E3E"/>
                  </a:solidFill>
                  <a:latin typeface="Segoe UI" panose="020B0502040204020203"/>
                  <a:ea typeface="微软雅黑" panose="020B0503020204020204" charset="-122"/>
                  <a:cs typeface="Segoe UI" panose="020B0502040204020203"/>
                </a:rPr>
                <a:t>环境：GPU 4GB+ · PyTorch+Transformers+PEFT</a:t>
              </a:r>
              <a:endParaRPr lang="zh-CN" sz="900" dirty="0">
                <a:solidFill>
                  <a:srgbClr val="E53E3E"/>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6465570" y="2684145"/>
              <a:ext cx="1883092" cy="182880"/>
            </a:xfrm>
            <a:prstGeom prst="rect">
              <a:avLst/>
            </a:prstGeom>
            <a:noFill/>
            <a:ln>
              <a:noFill/>
            </a:ln>
          </p:spPr>
          <p:txBody>
            <a:bodyPr wrap="none" lIns="0" tIns="0" rIns="0" bIns="0" anchor="t" anchorCtr="0">
              <a:spAutoFit/>
            </a:bodyPr>
            <a:lstStyle/>
            <a:p>
              <a:pPr algn="l"/>
              <a:r>
                <a:rPr lang="zh-CN" sz="900" dirty="0">
                  <a:solidFill>
                    <a:srgbClr val="E53E3E"/>
                  </a:solidFill>
                  <a:latin typeface="Segoe UI" panose="020B0502040204020203"/>
                  <a:ea typeface="微软雅黑" panose="020B0503020204020204" charset="-122"/>
                  <a:cs typeface="Segoe UI" panose="020B0502040204020203"/>
                </a:rPr>
                <a:t>需 DeepSeek API Key · 模型需下载</a:t>
              </a:r>
              <a:endParaRPr lang="zh-CN" sz="900" dirty="0">
                <a:solidFill>
                  <a:srgbClr val="E53E3E"/>
                </a:solidFill>
                <a:latin typeface="Segoe UI" panose="020B0502040204020203"/>
                <a:ea typeface="微软雅黑" panose="020B0503020204020204" charset="-122"/>
                <a:cs typeface="Segoe UI" panose="020B0502040204020203"/>
              </a:endParaRPr>
            </a:p>
          </p:txBody>
        </p:sp>
      </p:grpSp>
      <p:sp>
        <p:nvSpPr>
          <p:cNvPr id="27" name="TextBox 27"/>
          <p:cNvSpPr txBox="1"/>
          <p:nvPr/>
        </p:nvSpPr>
        <p:spPr>
          <a:xfrm>
            <a:off x="746760" y="2966085"/>
            <a:ext cx="1038606" cy="243840"/>
          </a:xfrm>
          <a:prstGeom prst="rect">
            <a:avLst/>
          </a:prstGeom>
          <a:noFill/>
          <a:ln>
            <a:noFill/>
          </a:ln>
        </p:spPr>
        <p:txBody>
          <a:bodyPr wrap="none" lIns="0" tIns="0" rIns="0" bIns="0" anchor="t" anchorCtr="0">
            <a:spAutoFit/>
          </a:bodyPr>
          <a:lstStyle/>
          <a:p>
            <a:pPr algn="l"/>
            <a:r>
              <a:rPr lang="zh-CN" sz="1200" b="1" dirty="0">
                <a:solidFill>
                  <a:srgbClr val="2D3748"/>
                </a:solidFill>
                <a:latin typeface="Segoe UI" panose="020B0502040204020203"/>
                <a:ea typeface="微软雅黑" panose="020B0503020204020204" charset="-122"/>
                <a:cs typeface="Segoe UI" panose="020B0502040204020203"/>
              </a:rPr>
              <a:t>场景选择建议</a:t>
            </a:r>
            <a:endParaRPr lang="zh-CN" sz="1200" b="1" dirty="0">
              <a:solidFill>
                <a:srgbClr val="2D3748"/>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762000" y="3286125"/>
            <a:ext cx="3333750" cy="952500"/>
          </a:xfrm>
          <a:prstGeom prst="roundRect">
            <a:avLst>
              <a:gd name="adj" fmla="val 6000"/>
            </a:avLst>
          </a:prstGeom>
          <a:solidFill>
            <a:srgbClr val="EBF8FF"/>
          </a:solidFill>
          <a:ln>
            <a:noFill/>
          </a:ln>
        </p:spPr>
      </p:sp>
      <p:sp>
        <p:nvSpPr>
          <p:cNvPr id="29" name="TextBox 29"/>
          <p:cNvSpPr txBox="1"/>
          <p:nvPr/>
        </p:nvSpPr>
        <p:spPr>
          <a:xfrm>
            <a:off x="2077398" y="3429952"/>
            <a:ext cx="702955" cy="213360"/>
          </a:xfrm>
          <a:prstGeom prst="rect">
            <a:avLst/>
          </a:prstGeom>
          <a:noFill/>
          <a:ln>
            <a:noFill/>
          </a:ln>
        </p:spPr>
        <p:txBody>
          <a:bodyPr wrap="none" lIns="0" tIns="0" rIns="0" bIns="0" anchor="t" anchorCtr="0">
            <a:spAutoFit/>
          </a:bodyPr>
          <a:lstStyle/>
          <a:p>
            <a:pPr algn="ctr"/>
            <a:r>
              <a:rPr lang="zh-CN" sz="1050" b="1" dirty="0">
                <a:solidFill>
                  <a:srgbClr val="3182CE"/>
                </a:solidFill>
                <a:latin typeface="Segoe UI" panose="020B0502040204020203"/>
                <a:ea typeface="微软雅黑" panose="020B0503020204020204" charset="-122"/>
                <a:cs typeface="Segoe UI" panose="020B0502040204020203"/>
              </a:rPr>
              <a:t>选传统 ML</a:t>
            </a:r>
            <a:endParaRPr lang="zh-CN" sz="1050" b="1" dirty="0">
              <a:solidFill>
                <a:srgbClr val="3182CE"/>
              </a:solidFill>
              <a:latin typeface="Segoe UI" panose="020B0502040204020203"/>
              <a:ea typeface="微软雅黑" panose="020B0503020204020204" charset="-122"/>
              <a:cs typeface="Segoe UI" panose="020B0502040204020203"/>
            </a:endParaRPr>
          </a:p>
        </p:txBody>
      </p:sp>
      <p:grpSp>
        <p:nvGrpSpPr>
          <p:cNvPr id="33" name="Group 33"/>
          <p:cNvGrpSpPr/>
          <p:nvPr/>
        </p:nvGrpSpPr>
        <p:grpSpPr>
          <a:xfrm>
            <a:off x="940118" y="3685699"/>
            <a:ext cx="1844992" cy="579120"/>
            <a:chOff x="940118" y="3685699"/>
            <a:chExt cx="1844992" cy="579120"/>
          </a:xfrm>
        </p:grpSpPr>
        <p:sp>
          <p:nvSpPr>
            <p:cNvPr id="30" name="TextBox 30"/>
            <p:cNvSpPr txBox="1"/>
            <p:nvPr/>
          </p:nvSpPr>
          <p:spPr>
            <a:xfrm>
              <a:off x="940118" y="3685699"/>
              <a:ext cx="1818989"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资源受限（无 GPU、无网络）</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940118" y="3876199"/>
              <a:ext cx="1844992"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受限公式类型 · 需要可解释性</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940118" y="4066699"/>
              <a:ext cx="1584960"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教学演示 · 快速原型验证</a:t>
              </a:r>
              <a:endParaRPr lang="zh-CN" sz="975" dirty="0">
                <a:solidFill>
                  <a:srgbClr val="4A5568"/>
                </a:solidFill>
                <a:latin typeface="Segoe UI" panose="020B0502040204020203"/>
                <a:ea typeface="微软雅黑" panose="020B0503020204020204" charset="-122"/>
                <a:cs typeface="Segoe UI" panose="020B0502040204020203"/>
              </a:endParaRPr>
            </a:p>
          </p:txBody>
        </p:sp>
      </p:grpSp>
      <p:sp>
        <p:nvSpPr>
          <p:cNvPr id="34" name="Rectangle 34"/>
          <p:cNvSpPr/>
          <p:nvPr/>
        </p:nvSpPr>
        <p:spPr>
          <a:xfrm>
            <a:off x="4429125" y="3286125"/>
            <a:ext cx="3333750" cy="952500"/>
          </a:xfrm>
          <a:prstGeom prst="roundRect">
            <a:avLst>
              <a:gd name="adj" fmla="val 6000"/>
            </a:avLst>
          </a:prstGeom>
          <a:solidFill>
            <a:srgbClr val="FFF5F5"/>
          </a:solidFill>
          <a:ln>
            <a:noFill/>
          </a:ln>
        </p:spPr>
      </p:sp>
      <p:sp>
        <p:nvSpPr>
          <p:cNvPr id="35" name="TextBox 35"/>
          <p:cNvSpPr txBox="1"/>
          <p:nvPr/>
        </p:nvSpPr>
        <p:spPr>
          <a:xfrm>
            <a:off x="5568101" y="3429952"/>
            <a:ext cx="1055799" cy="213360"/>
          </a:xfrm>
          <a:prstGeom prst="rect">
            <a:avLst/>
          </a:prstGeom>
          <a:noFill/>
          <a:ln>
            <a:noFill/>
          </a:ln>
        </p:spPr>
        <p:txBody>
          <a:bodyPr wrap="none" lIns="0" tIns="0" rIns="0" bIns="0" anchor="t" anchorCtr="0">
            <a:spAutoFit/>
          </a:bodyPr>
          <a:lstStyle/>
          <a:p>
            <a:pPr algn="ctr"/>
            <a:r>
              <a:rPr lang="zh-CN" sz="1050" b="1" dirty="0">
                <a:solidFill>
                  <a:srgbClr val="E53E3E"/>
                </a:solidFill>
                <a:latin typeface="Segoe UI" panose="020B0502040204020203"/>
                <a:ea typeface="微软雅黑" panose="020B0503020204020204" charset="-122"/>
                <a:cs typeface="Segoe UI" panose="020B0502040204020203"/>
              </a:rPr>
              <a:t>选多模态大模型</a:t>
            </a:r>
            <a:endParaRPr lang="zh-CN" sz="1050" b="1" dirty="0">
              <a:solidFill>
                <a:srgbClr val="E53E3E"/>
              </a:solidFill>
              <a:latin typeface="Segoe UI" panose="020B0502040204020203"/>
              <a:ea typeface="微软雅黑" panose="020B0503020204020204" charset="-122"/>
              <a:cs typeface="Segoe UI" panose="020B0502040204020203"/>
            </a:endParaRPr>
          </a:p>
        </p:txBody>
      </p:sp>
      <p:grpSp>
        <p:nvGrpSpPr>
          <p:cNvPr id="39" name="Group 39"/>
          <p:cNvGrpSpPr/>
          <p:nvPr/>
        </p:nvGrpSpPr>
        <p:grpSpPr>
          <a:xfrm>
            <a:off x="4607242" y="3685699"/>
            <a:ext cx="1896999" cy="579120"/>
            <a:chOff x="4607242" y="3685699"/>
            <a:chExt cx="1896999" cy="579120"/>
          </a:xfrm>
        </p:grpSpPr>
        <p:sp>
          <p:nvSpPr>
            <p:cNvPr id="36" name="TextBox 36"/>
            <p:cNvSpPr txBox="1"/>
            <p:nvPr/>
          </p:nvSpPr>
          <p:spPr>
            <a:xfrm>
              <a:off x="4607242" y="3685699"/>
              <a:ext cx="1714976"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高精度要求 · 开放公式类型</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4607242" y="3876199"/>
              <a:ext cx="1896999"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矩阵/复杂公式需要结构化输出</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4607242" y="4066699"/>
              <a:ext cx="1409438"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有 GPU + API 资源支持</a:t>
              </a:r>
              <a:endParaRPr lang="zh-CN" sz="975" dirty="0">
                <a:solidFill>
                  <a:srgbClr val="4A5568"/>
                </a:solidFill>
                <a:latin typeface="Segoe UI" panose="020B0502040204020203"/>
                <a:ea typeface="微软雅黑" panose="020B0503020204020204" charset="-122"/>
                <a:cs typeface="Segoe UI" panose="020B0502040204020203"/>
              </a:endParaRPr>
            </a:p>
          </p:txBody>
        </p:sp>
      </p:grpSp>
      <p:sp>
        <p:nvSpPr>
          <p:cNvPr id="40" name="Rectangle 40"/>
          <p:cNvSpPr/>
          <p:nvPr/>
        </p:nvSpPr>
        <p:spPr>
          <a:xfrm>
            <a:off x="8096250" y="3286125"/>
            <a:ext cx="3333750" cy="952500"/>
          </a:xfrm>
          <a:prstGeom prst="roundRect">
            <a:avLst>
              <a:gd name="adj" fmla="val 6000"/>
            </a:avLst>
          </a:prstGeom>
          <a:solidFill>
            <a:srgbClr val="F0FFF4"/>
          </a:solidFill>
          <a:ln>
            <a:noFill/>
          </a:ln>
        </p:spPr>
      </p:sp>
      <p:sp>
        <p:nvSpPr>
          <p:cNvPr id="41" name="TextBox 41"/>
          <p:cNvSpPr txBox="1"/>
          <p:nvPr/>
        </p:nvSpPr>
        <p:spPr>
          <a:xfrm>
            <a:off x="9455753" y="3429952"/>
            <a:ext cx="614744" cy="213360"/>
          </a:xfrm>
          <a:prstGeom prst="rect">
            <a:avLst/>
          </a:prstGeom>
          <a:noFill/>
          <a:ln>
            <a:noFill/>
          </a:ln>
        </p:spPr>
        <p:txBody>
          <a:bodyPr wrap="none" lIns="0" tIns="0" rIns="0" bIns="0" anchor="t" anchorCtr="0">
            <a:spAutoFit/>
          </a:bodyPr>
          <a:lstStyle/>
          <a:p>
            <a:pPr algn="ctr"/>
            <a:r>
              <a:rPr lang="zh-CN" sz="1050" b="1" dirty="0">
                <a:solidFill>
                  <a:srgbClr val="38A169"/>
                </a:solidFill>
                <a:latin typeface="Segoe UI" panose="020B0502040204020203"/>
                <a:ea typeface="微软雅黑" panose="020B0503020204020204" charset="-122"/>
                <a:cs typeface="Segoe UI" panose="020B0502040204020203"/>
              </a:rPr>
              <a:t>两者互补</a:t>
            </a:r>
            <a:endParaRPr lang="zh-CN" sz="1050" b="1" dirty="0">
              <a:solidFill>
                <a:srgbClr val="38A169"/>
              </a:solidFill>
              <a:latin typeface="Segoe UI" panose="020B0502040204020203"/>
              <a:ea typeface="微软雅黑" panose="020B0503020204020204" charset="-122"/>
              <a:cs typeface="Segoe UI" panose="020B0502040204020203"/>
            </a:endParaRPr>
          </a:p>
        </p:txBody>
      </p:sp>
      <p:grpSp>
        <p:nvGrpSpPr>
          <p:cNvPr id="45" name="Group 45"/>
          <p:cNvGrpSpPr/>
          <p:nvPr/>
        </p:nvGrpSpPr>
        <p:grpSpPr>
          <a:xfrm>
            <a:off x="8274368" y="3685699"/>
            <a:ext cx="2053019" cy="579120"/>
            <a:chOff x="8274368" y="3685699"/>
            <a:chExt cx="2053019" cy="579120"/>
          </a:xfrm>
        </p:grpSpPr>
        <p:sp>
          <p:nvSpPr>
            <p:cNvPr id="42" name="TextBox 42"/>
            <p:cNvSpPr txBox="1"/>
            <p:nvPr/>
          </p:nvSpPr>
          <p:spPr>
            <a:xfrm>
              <a:off x="8274368" y="3685699"/>
              <a:ext cx="2053019"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简单公式 → 传统 ML（快速免费）</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8274368" y="3876199"/>
              <a:ext cx="1844992"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复杂公式 → 大模型（高精度）</a:t>
              </a:r>
              <a:endParaRPr lang="zh-CN" sz="975" dirty="0">
                <a:solidFill>
                  <a:srgbClr val="4A5568"/>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8274368" y="4066699"/>
              <a:ext cx="1435441" cy="198120"/>
            </a:xfrm>
            <a:prstGeom prst="rect">
              <a:avLst/>
            </a:prstGeom>
            <a:noFill/>
            <a:ln>
              <a:noFill/>
            </a:ln>
          </p:spPr>
          <p:txBody>
            <a:bodyPr wrap="none" lIns="0" tIns="0" rIns="0" bIns="0" anchor="t" anchorCtr="0">
              <a:spAutoFit/>
            </a:bodyPr>
            <a:lstStyle/>
            <a:p>
              <a:pPr algn="l"/>
              <a:r>
                <a:rPr lang="zh-CN" sz="975" dirty="0">
                  <a:solidFill>
                    <a:srgbClr val="4A5568"/>
                  </a:solidFill>
                  <a:latin typeface="Segoe UI" panose="020B0502040204020203"/>
                  <a:ea typeface="微软雅黑" panose="020B0503020204020204" charset="-122"/>
                  <a:cs typeface="Segoe UI" panose="020B0502040204020203"/>
                </a:rPr>
                <a:t>• 两者结合覆盖全部场景</a:t>
              </a:r>
              <a:endParaRPr lang="zh-CN" sz="975" dirty="0">
                <a:solidFill>
                  <a:srgbClr val="4A5568"/>
                </a:solidFill>
                <a:latin typeface="Segoe UI" panose="020B0502040204020203"/>
                <a:ea typeface="微软雅黑" panose="020B0503020204020204" charset="-122"/>
                <a:cs typeface="Segoe UI" panose="020B0502040204020203"/>
              </a:endParaRPr>
            </a:p>
          </p:txBody>
        </p:sp>
      </p:grpSp>
      <p:sp>
        <p:nvSpPr>
          <p:cNvPr id="46" name="TextBox 46"/>
          <p:cNvSpPr txBox="1"/>
          <p:nvPr/>
        </p:nvSpPr>
        <p:spPr>
          <a:xfrm>
            <a:off x="11513820" y="6570345"/>
            <a:ext cx="124873" cy="182880"/>
          </a:xfrm>
          <a:prstGeom prst="rect">
            <a:avLst/>
          </a:prstGeom>
          <a:noFill/>
          <a:ln>
            <a:noFill/>
          </a:ln>
        </p:spPr>
        <p:txBody>
          <a:bodyPr wrap="none" lIns="0" tIns="0" rIns="0" bIns="0" anchor="t" anchorCtr="0">
            <a:spAutoFit/>
          </a:bodyPr>
          <a:lstStyle/>
          <a:p>
            <a:pPr algn="l"/>
            <a:r>
              <a:rPr lang="zh-CN" sz="900" dirty="0">
                <a:solidFill>
                  <a:srgbClr val="CBD5E0"/>
                </a:solidFill>
                <a:latin typeface="Consolas" panose="020B0609020204030204"/>
                <a:ea typeface="微软雅黑" panose="020B0503020204020204" charset="-122"/>
                <a:cs typeface="Consolas" panose="020B0609020204030204"/>
              </a:rPr>
              <a:t>19</a:t>
            </a:r>
            <a:endParaRPr lang="zh-CN" sz="900" dirty="0">
              <a:solidFill>
                <a:srgbClr val="CBD5E0"/>
              </a:solidFill>
              <a:latin typeface="Consolas" panose="020B0609020204030204"/>
              <a:ea typeface="微软雅黑" panose="020B0503020204020204" charset="-122"/>
              <a:cs typeface="Consolas" panose="020B0609020204030204"/>
            </a:endParaRPr>
          </a:p>
        </p:txBody>
      </p:sp>
      <p:sp>
        <p:nvSpPr>
          <p:cNvPr id="47" name="文本框 46"/>
          <p:cNvSpPr txBox="1"/>
          <p:nvPr/>
        </p:nvSpPr>
        <p:spPr>
          <a:xfrm>
            <a:off x="642620" y="4714240"/>
            <a:ext cx="10786745" cy="1476375"/>
          </a:xfrm>
          <a:prstGeom prst="rect">
            <a:avLst/>
          </a:prstGeom>
          <a:noFill/>
        </p:spPr>
        <p:txBody>
          <a:bodyPr wrap="square" rtlCol="0">
            <a:spAutoFit/>
          </a:bodyPr>
          <a:p>
            <a:r>
              <a:rPr lang="zh-CN" altLang="en-US"/>
              <a:t>具体到</a:t>
            </a:r>
            <a:r>
              <a:rPr lang="zh-CN" altLang="en-US"/>
              <a:t>实践</a:t>
            </a:r>
            <a:r>
              <a:rPr lang="zh-CN" altLang="en-US"/>
              <a:t>中的适用场景：</a:t>
            </a:r>
            <a:endParaRPr lang="zh-CN" altLang="en-US"/>
          </a:p>
          <a:p>
            <a:r>
              <a:rPr lang="en-US" altLang="zh-CN"/>
              <a:t>  - </a:t>
            </a:r>
            <a:r>
              <a:rPr lang="zh-CN" altLang="en-US"/>
              <a:t>高精度要求的学术文档数字化：论文、教材、历史手稿</a:t>
            </a:r>
            <a:endParaRPr lang="zh-CN" altLang="en-US"/>
          </a:p>
          <a:p>
            <a:r>
              <a:rPr lang="en-US" altLang="zh-CN"/>
              <a:t>  - </a:t>
            </a:r>
            <a:r>
              <a:rPr lang="zh-CN" altLang="en-US"/>
              <a:t>开放公式类型：公式种类不确定、需要处理未见过的公式</a:t>
            </a:r>
            <a:endParaRPr lang="zh-CN" altLang="en-US"/>
          </a:p>
          <a:p>
            <a:r>
              <a:rPr lang="en-US" altLang="zh-CN"/>
              <a:t>  - </a:t>
            </a:r>
            <a:r>
              <a:rPr lang="zh-CN" altLang="en-US"/>
              <a:t>复杂结构识别：矩阵、级数、积分、极限等</a:t>
            </a:r>
            <a:endParaRPr lang="zh-CN" altLang="en-US"/>
          </a:p>
          <a:p>
            <a:r>
              <a:rPr lang="en-US" altLang="zh-CN"/>
              <a:t>  - </a:t>
            </a:r>
            <a:r>
              <a:rPr lang="zh-CN" altLang="en-US"/>
              <a:t>配合扫描仪做在线识别服务</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47625"/>
          </a:xfrm>
          <a:prstGeom prst="rect">
            <a:avLst/>
          </a:prstGeom>
          <a:solidFill>
            <a:srgbClr val="1A365D"/>
          </a:solidFill>
          <a:ln>
            <a:noFill/>
          </a:ln>
        </p:spPr>
      </p:sp>
      <p:sp>
        <p:nvSpPr>
          <p:cNvPr id="4" name="Rectangle 4"/>
          <p:cNvSpPr/>
          <p:nvPr/>
        </p:nvSpPr>
        <p:spPr>
          <a:xfrm>
            <a:off x="762000" y="476250"/>
            <a:ext cx="57150" cy="333375"/>
          </a:xfrm>
          <a:prstGeom prst="rect">
            <a:avLst/>
          </a:prstGeom>
          <a:solidFill>
            <a:srgbClr val="E53E3E"/>
          </a:solidFill>
          <a:ln>
            <a:noFill/>
          </a:ln>
        </p:spPr>
      </p:sp>
      <p:sp>
        <p:nvSpPr>
          <p:cNvPr id="5" name="TextBox 5"/>
          <p:cNvSpPr txBox="1"/>
          <p:nvPr/>
        </p:nvSpPr>
        <p:spPr>
          <a:xfrm>
            <a:off x="1017270" y="455295"/>
            <a:ext cx="733044" cy="487680"/>
          </a:xfrm>
          <a:prstGeom prst="rect">
            <a:avLst/>
          </a:prstGeom>
          <a:noFill/>
          <a:ln>
            <a:noFill/>
          </a:ln>
        </p:spPr>
        <p:txBody>
          <a:bodyPr wrap="none" lIns="0" tIns="0" rIns="0" bIns="0" anchor="t" anchorCtr="0">
            <a:spAutoFit/>
          </a:bodyPr>
          <a:lstStyle/>
          <a:p>
            <a:pPr algn="l"/>
            <a:r>
              <a:rPr lang="zh-CN" sz="2400" b="1" dirty="0">
                <a:solidFill>
                  <a:srgbClr val="1A365D"/>
                </a:solidFill>
                <a:latin typeface="Georgia" panose="02040502050405020303"/>
                <a:ea typeface="楷体" panose="02010609060101010101" charset="-122"/>
                <a:cs typeface="Georgia" panose="02040502050405020303"/>
              </a:rPr>
              <a:t>总结</a:t>
            </a:r>
            <a:endParaRPr lang="zh-CN" sz="2400" b="1" dirty="0">
              <a:solidFill>
                <a:srgbClr val="1A365D"/>
              </a:solidFill>
              <a:latin typeface="Georgia" panose="02040502050405020303"/>
              <a:ea typeface="楷体" panose="02010609060101010101" charset="-122"/>
              <a:cs typeface="Georgia" panose="02040502050405020303"/>
            </a:endParaRPr>
          </a:p>
        </p:txBody>
      </p:sp>
      <p:sp>
        <p:nvSpPr>
          <p:cNvPr id="6" name="Line 6"/>
          <p:cNvSpPr/>
          <p:nvPr/>
        </p:nvSpPr>
        <p:spPr>
          <a:xfrm>
            <a:off x="762000" y="904875"/>
            <a:ext cx="10668000" cy="9525"/>
          </a:xfrm>
          <a:custGeom>
            <a:avLst/>
            <a:gdLst/>
            <a:ahLst/>
            <a:cxnLst/>
            <a:rect l="l" t="t" r="r" b="b"/>
            <a:pathLst>
              <a:path w="10668000" h="9525">
                <a:moveTo>
                  <a:pt x="0" y="0"/>
                </a:moveTo>
                <a:lnTo>
                  <a:pt x="10668000" y="0"/>
                </a:lnTo>
              </a:path>
            </a:pathLst>
          </a:custGeom>
          <a:noFill/>
          <a:ln w="9525">
            <a:solidFill>
              <a:srgbClr val="E2E8F0"/>
            </a:solidFill>
          </a:ln>
        </p:spPr>
      </p:sp>
      <p:sp>
        <p:nvSpPr>
          <p:cNvPr id="7" name="Rectangle 7"/>
          <p:cNvSpPr/>
          <p:nvPr/>
        </p:nvSpPr>
        <p:spPr>
          <a:xfrm>
            <a:off x="762000" y="1095375"/>
            <a:ext cx="10668000" cy="3619500"/>
          </a:xfrm>
          <a:prstGeom prst="roundRect">
            <a:avLst>
              <a:gd name="adj" fmla="val 1579"/>
            </a:avLst>
          </a:prstGeom>
          <a:noFill/>
          <a:ln w="9525">
            <a:solidFill>
              <a:srgbClr val="CBD5E0"/>
            </a:solidFill>
          </a:ln>
        </p:spPr>
      </p:sp>
      <p:sp>
        <p:nvSpPr>
          <p:cNvPr id="8" name="Rectangle 8"/>
          <p:cNvSpPr/>
          <p:nvPr/>
        </p:nvSpPr>
        <p:spPr>
          <a:xfrm>
            <a:off x="762000" y="1095375"/>
            <a:ext cx="10668000" cy="333375"/>
          </a:xfrm>
          <a:prstGeom prst="roundRect">
            <a:avLst>
              <a:gd name="adj" fmla="val 17143"/>
            </a:avLst>
          </a:prstGeom>
          <a:solidFill>
            <a:srgbClr val="1A365D"/>
          </a:solidFill>
          <a:ln>
            <a:noFill/>
          </a:ln>
        </p:spPr>
      </p:sp>
      <p:sp>
        <p:nvSpPr>
          <p:cNvPr id="9" name="TextBox 9"/>
          <p:cNvSpPr txBox="1"/>
          <p:nvPr/>
        </p:nvSpPr>
        <p:spPr>
          <a:xfrm>
            <a:off x="5408676" y="1184910"/>
            <a:ext cx="137464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双路线全维度总结</a:t>
            </a:r>
            <a:endParaRPr lang="zh-CN" sz="1200" b="1" dirty="0">
              <a:solidFill>
                <a:srgbClr val="FFFFFF"/>
              </a:solidFill>
              <a:latin typeface="Segoe UI" panose="020B0502040204020203"/>
              <a:ea typeface="微软雅黑" panose="020B0503020204020204" charset="-122"/>
              <a:cs typeface="Segoe UI" panose="020B0502040204020203"/>
            </a:endParaRPr>
          </a:p>
        </p:txBody>
      </p:sp>
      <p:grpSp>
        <p:nvGrpSpPr>
          <p:cNvPr id="90" name="Group 90"/>
          <p:cNvGrpSpPr/>
          <p:nvPr/>
        </p:nvGrpSpPr>
        <p:grpSpPr>
          <a:xfrm>
            <a:off x="857250" y="1476375"/>
            <a:ext cx="10477500" cy="2683669"/>
            <a:chOff x="857250" y="1476375"/>
            <a:chExt cx="10477500" cy="2683669"/>
          </a:xfrm>
        </p:grpSpPr>
        <p:sp>
          <p:nvSpPr>
            <p:cNvPr id="10" name="Rectangle 10"/>
            <p:cNvSpPr/>
            <p:nvPr/>
          </p:nvSpPr>
          <p:spPr>
            <a:xfrm>
              <a:off x="857250" y="1476375"/>
              <a:ext cx="1143000" cy="266700"/>
            </a:xfrm>
            <a:prstGeom prst="rect">
              <a:avLst/>
            </a:prstGeom>
            <a:solidFill>
              <a:srgbClr val="F7FAFC"/>
            </a:solidFill>
            <a:ln>
              <a:noFill/>
            </a:ln>
          </p:spPr>
        </p:sp>
        <p:sp>
          <p:nvSpPr>
            <p:cNvPr id="11" name="TextBox 11"/>
            <p:cNvSpPr txBox="1"/>
            <p:nvPr/>
          </p:nvSpPr>
          <p:spPr>
            <a:xfrm>
              <a:off x="1279850" y="1552099"/>
              <a:ext cx="297799" cy="198120"/>
            </a:xfrm>
            <a:prstGeom prst="rect">
              <a:avLst/>
            </a:prstGeom>
            <a:noFill/>
            <a:ln>
              <a:noFill/>
            </a:ln>
          </p:spPr>
          <p:txBody>
            <a:bodyPr wrap="none" lIns="0" tIns="0" rIns="0" bIns="0" anchor="t" anchorCtr="0">
              <a:spAutoFit/>
            </a:bodyPr>
            <a:lstStyle/>
            <a:p>
              <a:pPr algn="ctr"/>
              <a:r>
                <a:rPr lang="zh-CN" sz="975" b="1" dirty="0">
                  <a:solidFill>
                    <a:srgbClr val="2D3748"/>
                  </a:solidFill>
                  <a:latin typeface="Segoe UI" panose="020B0502040204020203"/>
                  <a:ea typeface="微软雅黑" panose="020B0503020204020204" charset="-122"/>
                  <a:cs typeface="Segoe UI" panose="020B0502040204020203"/>
                </a:rPr>
                <a:t>维度</a:t>
              </a:r>
              <a:endParaRPr lang="zh-CN" sz="975" b="1" dirty="0">
                <a:solidFill>
                  <a:srgbClr val="2D3748"/>
                </a:solidFill>
                <a:latin typeface="Segoe UI" panose="020B0502040204020203"/>
                <a:ea typeface="微软雅黑" panose="020B0503020204020204" charset="-122"/>
                <a:cs typeface="Segoe UI" panose="020B0502040204020203"/>
              </a:endParaRPr>
            </a:p>
          </p:txBody>
        </p:sp>
        <p:sp>
          <p:nvSpPr>
            <p:cNvPr id="12" name="Rectangle 12"/>
            <p:cNvSpPr/>
            <p:nvPr/>
          </p:nvSpPr>
          <p:spPr>
            <a:xfrm>
              <a:off x="2000250" y="1476375"/>
              <a:ext cx="3333750" cy="266700"/>
            </a:xfrm>
            <a:prstGeom prst="rect">
              <a:avLst/>
            </a:prstGeom>
            <a:solidFill>
              <a:srgbClr val="EBF8FF"/>
            </a:solidFill>
            <a:ln>
              <a:noFill/>
            </a:ln>
          </p:spPr>
        </p:sp>
        <p:sp>
          <p:nvSpPr>
            <p:cNvPr id="13" name="TextBox 13"/>
            <p:cNvSpPr txBox="1"/>
            <p:nvPr/>
          </p:nvSpPr>
          <p:spPr>
            <a:xfrm>
              <a:off x="3245191" y="1552099"/>
              <a:ext cx="843867" cy="198120"/>
            </a:xfrm>
            <a:prstGeom prst="rect">
              <a:avLst/>
            </a:prstGeom>
            <a:noFill/>
            <a:ln>
              <a:noFill/>
            </a:ln>
          </p:spPr>
          <p:txBody>
            <a:bodyPr wrap="none" lIns="0" tIns="0" rIns="0" bIns="0" anchor="t" anchorCtr="0">
              <a:spAutoFit/>
            </a:bodyPr>
            <a:lstStyle/>
            <a:p>
              <a:pPr algn="ctr"/>
              <a:r>
                <a:rPr lang="zh-CN" sz="975" b="1" dirty="0">
                  <a:solidFill>
                    <a:srgbClr val="3182CE"/>
                  </a:solidFill>
                  <a:latin typeface="Segoe UI" panose="020B0502040204020203"/>
                  <a:ea typeface="微软雅黑" panose="020B0503020204020204" charset="-122"/>
                  <a:cs typeface="Segoe UI" panose="020B0502040204020203"/>
                </a:rPr>
                <a:t>传统机器学习</a:t>
              </a:r>
              <a:endParaRPr lang="zh-CN" sz="975" b="1" dirty="0">
                <a:solidFill>
                  <a:srgbClr val="3182CE"/>
                </a:solidFill>
                <a:latin typeface="Segoe UI" panose="020B0502040204020203"/>
                <a:ea typeface="微软雅黑" panose="020B0503020204020204" charset="-122"/>
                <a:cs typeface="Segoe UI" panose="020B0502040204020203"/>
              </a:endParaRPr>
            </a:p>
          </p:txBody>
        </p:sp>
        <p:sp>
          <p:nvSpPr>
            <p:cNvPr id="14" name="Rectangle 14"/>
            <p:cNvSpPr/>
            <p:nvPr/>
          </p:nvSpPr>
          <p:spPr>
            <a:xfrm>
              <a:off x="5334000" y="1476375"/>
              <a:ext cx="3333750" cy="266700"/>
            </a:xfrm>
            <a:prstGeom prst="rect">
              <a:avLst/>
            </a:prstGeom>
            <a:solidFill>
              <a:srgbClr val="FFF5F5"/>
            </a:solidFill>
            <a:ln>
              <a:noFill/>
            </a:ln>
          </p:spPr>
        </p:sp>
        <p:sp>
          <p:nvSpPr>
            <p:cNvPr id="15" name="TextBox 15"/>
            <p:cNvSpPr txBox="1"/>
            <p:nvPr/>
          </p:nvSpPr>
          <p:spPr>
            <a:xfrm>
              <a:off x="6578941" y="1552099"/>
              <a:ext cx="843867" cy="198120"/>
            </a:xfrm>
            <a:prstGeom prst="rect">
              <a:avLst/>
            </a:prstGeom>
            <a:noFill/>
            <a:ln>
              <a:noFill/>
            </a:ln>
          </p:spPr>
          <p:txBody>
            <a:bodyPr wrap="none" lIns="0" tIns="0" rIns="0" bIns="0" anchor="t" anchorCtr="0">
              <a:spAutoFit/>
            </a:bodyPr>
            <a:lstStyle/>
            <a:p>
              <a:pPr algn="ctr"/>
              <a:r>
                <a:rPr lang="zh-CN" sz="975" b="1" dirty="0">
                  <a:solidFill>
                    <a:srgbClr val="E53E3E"/>
                  </a:solidFill>
                  <a:latin typeface="Segoe UI" panose="020B0502040204020203"/>
                  <a:ea typeface="微软雅黑" panose="020B0503020204020204" charset="-122"/>
                  <a:cs typeface="Segoe UI" panose="020B0502040204020203"/>
                </a:rPr>
                <a:t>多模态大模型</a:t>
              </a:r>
              <a:endParaRPr lang="zh-CN" sz="975" b="1" dirty="0">
                <a:solidFill>
                  <a:srgbClr val="E53E3E"/>
                </a:solidFill>
                <a:latin typeface="Segoe UI" panose="020B0502040204020203"/>
                <a:ea typeface="微软雅黑" panose="020B0503020204020204" charset="-122"/>
                <a:cs typeface="Segoe UI" panose="020B0502040204020203"/>
              </a:endParaRPr>
            </a:p>
          </p:txBody>
        </p:sp>
        <p:sp>
          <p:nvSpPr>
            <p:cNvPr id="16" name="Rectangle 16"/>
            <p:cNvSpPr/>
            <p:nvPr/>
          </p:nvSpPr>
          <p:spPr>
            <a:xfrm>
              <a:off x="8667750" y="1476375"/>
              <a:ext cx="2667000" cy="266700"/>
            </a:xfrm>
            <a:prstGeom prst="rect">
              <a:avLst/>
            </a:prstGeom>
            <a:solidFill>
              <a:srgbClr val="F7FAFC"/>
            </a:solidFill>
            <a:ln>
              <a:noFill/>
            </a:ln>
          </p:spPr>
        </p:sp>
        <p:sp>
          <p:nvSpPr>
            <p:cNvPr id="17" name="TextBox 17"/>
            <p:cNvSpPr txBox="1"/>
            <p:nvPr/>
          </p:nvSpPr>
          <p:spPr>
            <a:xfrm>
              <a:off x="9858851" y="1552099"/>
              <a:ext cx="284798"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Segoe UI" panose="020B0502040204020203"/>
                  <a:ea typeface="微软雅黑" panose="020B0503020204020204" charset="-122"/>
                  <a:cs typeface="Segoe UI" panose="020B0502040204020203"/>
                </a:rPr>
                <a:t>评估</a:t>
              </a:r>
              <a:endParaRPr lang="zh-CN" sz="975" dirty="0">
                <a:solidFill>
                  <a:srgbClr val="718096"/>
                </a:solidFill>
                <a:latin typeface="Segoe UI" panose="020B0502040204020203"/>
                <a:ea typeface="微软雅黑" panose="020B0503020204020204" charset="-122"/>
                <a:cs typeface="Segoe UI" panose="020B0502040204020203"/>
              </a:endParaRPr>
            </a:p>
          </p:txBody>
        </p:sp>
        <p:sp>
          <p:nvSpPr>
            <p:cNvPr id="18" name="Rectangle 18"/>
            <p:cNvSpPr/>
            <p:nvPr/>
          </p:nvSpPr>
          <p:spPr>
            <a:xfrm>
              <a:off x="857250" y="1762125"/>
              <a:ext cx="1143000" cy="247650"/>
            </a:xfrm>
            <a:prstGeom prst="rect">
              <a:avLst/>
            </a:prstGeom>
            <a:noFill/>
            <a:ln>
              <a:noFill/>
            </a:ln>
          </p:spPr>
        </p:sp>
        <p:sp>
          <p:nvSpPr>
            <p:cNvPr id="19" name="TextBox 19"/>
            <p:cNvSpPr txBox="1"/>
            <p:nvPr/>
          </p:nvSpPr>
          <p:spPr>
            <a:xfrm>
              <a:off x="1286351" y="1828324"/>
              <a:ext cx="284798"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Segoe UI" panose="020B0502040204020203"/>
                  <a:ea typeface="微软雅黑" panose="020B0503020204020204" charset="-122"/>
                  <a:cs typeface="Segoe UI" panose="020B0502040204020203"/>
                </a:rPr>
                <a:t>方法</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0" name="Rectangle 20"/>
            <p:cNvSpPr/>
            <p:nvPr/>
          </p:nvSpPr>
          <p:spPr>
            <a:xfrm>
              <a:off x="2000250" y="1762125"/>
              <a:ext cx="3333750" cy="247650"/>
            </a:xfrm>
            <a:prstGeom prst="rect">
              <a:avLst/>
            </a:prstGeom>
            <a:noFill/>
            <a:ln>
              <a:noFill/>
            </a:ln>
          </p:spPr>
        </p:sp>
        <p:sp>
          <p:nvSpPr>
            <p:cNvPr id="21" name="TextBox 21"/>
            <p:cNvSpPr txBox="1"/>
            <p:nvPr/>
          </p:nvSpPr>
          <p:spPr>
            <a:xfrm>
              <a:off x="3092422" y="1828324"/>
              <a:ext cx="1149406" cy="198120"/>
            </a:xfrm>
            <a:prstGeom prst="rect">
              <a:avLst/>
            </a:prstGeom>
            <a:noFill/>
            <a:ln>
              <a:noFill/>
            </a:ln>
          </p:spPr>
          <p:txBody>
            <a:bodyPr wrap="none" lIns="0" tIns="0" rIns="0" bIns="0" anchor="t" anchorCtr="0">
              <a:spAutoFit/>
            </a:bodyPr>
            <a:lstStyle/>
            <a:p>
              <a:pPr algn="ctr"/>
              <a:r>
                <a:rPr lang="zh-CN" sz="975" dirty="0">
                  <a:solidFill>
                    <a:srgbClr val="3182CE"/>
                  </a:solidFill>
                  <a:latin typeface="Segoe UI" panose="020B0502040204020203"/>
                  <a:ea typeface="微软雅黑" panose="020B0503020204020204" charset="-122"/>
                  <a:cs typeface="Segoe UI" panose="020B0502040204020203"/>
                </a:rPr>
                <a:t>HOG+LBP+PCA+SVM</a:t>
              </a:r>
              <a:endParaRPr lang="zh-CN" sz="975" dirty="0">
                <a:solidFill>
                  <a:srgbClr val="3182CE"/>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5334000" y="1762125"/>
              <a:ext cx="3333750" cy="247650"/>
            </a:xfrm>
            <a:prstGeom prst="rect">
              <a:avLst/>
            </a:prstGeom>
            <a:noFill/>
            <a:ln>
              <a:noFill/>
            </a:ln>
          </p:spPr>
        </p:sp>
        <p:sp>
          <p:nvSpPr>
            <p:cNvPr id="23" name="TextBox 23"/>
            <p:cNvSpPr txBox="1"/>
            <p:nvPr/>
          </p:nvSpPr>
          <p:spPr>
            <a:xfrm>
              <a:off x="6296156" y="1828324"/>
              <a:ext cx="1409438"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TrOCR+LoRA+DeepSeek</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24" name="Rectangle 24"/>
            <p:cNvSpPr/>
            <p:nvPr/>
          </p:nvSpPr>
          <p:spPr>
            <a:xfrm>
              <a:off x="8667750" y="1762125"/>
              <a:ext cx="2667000" cy="247650"/>
            </a:xfrm>
            <a:prstGeom prst="rect">
              <a:avLst/>
            </a:prstGeom>
            <a:noFill/>
            <a:ln>
              <a:noFill/>
            </a:ln>
          </p:spPr>
        </p:sp>
        <p:sp>
          <p:nvSpPr>
            <p:cNvPr id="25" name="TextBox 25"/>
            <p:cNvSpPr txBox="1"/>
            <p:nvPr/>
          </p:nvSpPr>
          <p:spPr>
            <a:xfrm>
              <a:off x="9953113" y="1828324"/>
              <a:ext cx="96274"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Segoe UI" panose="020B0502040204020203"/>
                  <a:ea typeface="微软雅黑" panose="020B0503020204020204" charset="-122"/>
                  <a:cs typeface="Segoe UI" panose="020B0502040204020203"/>
                </a:rPr>
                <a:t>—</a:t>
              </a:r>
              <a:endParaRPr lang="zh-CN" sz="975" dirty="0">
                <a:solidFill>
                  <a:srgbClr val="718096"/>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857250" y="2028825"/>
              <a:ext cx="1143000" cy="247650"/>
            </a:xfrm>
            <a:prstGeom prst="rect">
              <a:avLst/>
            </a:prstGeom>
            <a:solidFill>
              <a:srgbClr val="F7FAFC"/>
            </a:solidFill>
            <a:ln>
              <a:noFill/>
            </a:ln>
          </p:spPr>
        </p:sp>
        <p:sp>
          <p:nvSpPr>
            <p:cNvPr id="27" name="TextBox 27"/>
            <p:cNvSpPr txBox="1"/>
            <p:nvPr/>
          </p:nvSpPr>
          <p:spPr>
            <a:xfrm>
              <a:off x="1286351" y="2095024"/>
              <a:ext cx="284798"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Segoe UI" panose="020B0502040204020203"/>
                  <a:ea typeface="微软雅黑" panose="020B0503020204020204" charset="-122"/>
                  <a:cs typeface="Segoe UI" panose="020B0502040204020203"/>
                </a:rPr>
                <a:t>范式</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2000250" y="2028825"/>
              <a:ext cx="3333750" cy="247650"/>
            </a:xfrm>
            <a:prstGeom prst="rect">
              <a:avLst/>
            </a:prstGeom>
            <a:solidFill>
              <a:srgbClr val="F7FAFC"/>
            </a:solidFill>
            <a:ln>
              <a:noFill/>
            </a:ln>
          </p:spPr>
        </p:sp>
        <p:sp>
          <p:nvSpPr>
            <p:cNvPr id="29" name="TextBox 29"/>
            <p:cNvSpPr txBox="1"/>
            <p:nvPr/>
          </p:nvSpPr>
          <p:spPr>
            <a:xfrm>
              <a:off x="2959156" y="2095024"/>
              <a:ext cx="1415939" cy="198120"/>
            </a:xfrm>
            <a:prstGeom prst="rect">
              <a:avLst/>
            </a:prstGeom>
            <a:noFill/>
            <a:ln>
              <a:noFill/>
            </a:ln>
          </p:spPr>
          <p:txBody>
            <a:bodyPr wrap="none" lIns="0" tIns="0" rIns="0" bIns="0" anchor="t" anchorCtr="0">
              <a:spAutoFit/>
            </a:bodyPr>
            <a:lstStyle/>
            <a:p>
              <a:pPr algn="ctr"/>
              <a:r>
                <a:rPr lang="zh-CN" sz="975" dirty="0">
                  <a:solidFill>
                    <a:srgbClr val="3182CE"/>
                  </a:solidFill>
                  <a:latin typeface="Segoe UI" panose="020B0502040204020203"/>
                  <a:ea typeface="微软雅黑" panose="020B0503020204020204" charset="-122"/>
                  <a:cs typeface="Segoe UI" panose="020B0502040204020203"/>
                </a:rPr>
                <a:t>分类（Classification）</a:t>
              </a:r>
              <a:endParaRPr lang="zh-CN" sz="975" dirty="0">
                <a:solidFill>
                  <a:srgbClr val="3182CE"/>
                </a:solidFill>
                <a:latin typeface="Segoe UI" panose="020B0502040204020203"/>
                <a:ea typeface="微软雅黑" panose="020B0503020204020204" charset="-122"/>
                <a:cs typeface="Segoe UI" panose="020B0502040204020203"/>
              </a:endParaRPr>
            </a:p>
          </p:txBody>
        </p:sp>
        <p:sp>
          <p:nvSpPr>
            <p:cNvPr id="30" name="Rectangle 30"/>
            <p:cNvSpPr/>
            <p:nvPr/>
          </p:nvSpPr>
          <p:spPr>
            <a:xfrm>
              <a:off x="5334000" y="2028825"/>
              <a:ext cx="3333750" cy="247650"/>
            </a:xfrm>
            <a:prstGeom prst="rect">
              <a:avLst/>
            </a:prstGeom>
            <a:solidFill>
              <a:srgbClr val="F7FAFC"/>
            </a:solidFill>
            <a:ln>
              <a:noFill/>
            </a:ln>
          </p:spPr>
        </p:sp>
        <p:sp>
          <p:nvSpPr>
            <p:cNvPr id="31" name="TextBox 31"/>
            <p:cNvSpPr txBox="1"/>
            <p:nvPr/>
          </p:nvSpPr>
          <p:spPr>
            <a:xfrm>
              <a:off x="6387167" y="2095024"/>
              <a:ext cx="1227415"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生成（Generation）</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32" name="Rectangle 32"/>
            <p:cNvSpPr/>
            <p:nvPr/>
          </p:nvSpPr>
          <p:spPr>
            <a:xfrm>
              <a:off x="8667750" y="2028825"/>
              <a:ext cx="2667000" cy="247650"/>
            </a:xfrm>
            <a:prstGeom prst="rect">
              <a:avLst/>
            </a:prstGeom>
            <a:solidFill>
              <a:srgbClr val="F7FAFC"/>
            </a:solidFill>
            <a:ln>
              <a:noFill/>
            </a:ln>
          </p:spPr>
        </p:sp>
        <p:sp>
          <p:nvSpPr>
            <p:cNvPr id="33" name="TextBox 33"/>
            <p:cNvSpPr txBox="1"/>
            <p:nvPr/>
          </p:nvSpPr>
          <p:spPr>
            <a:xfrm>
              <a:off x="9858851" y="2095024"/>
              <a:ext cx="284798"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质变</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857250" y="2295525"/>
              <a:ext cx="1143000" cy="247650"/>
            </a:xfrm>
            <a:prstGeom prst="rect">
              <a:avLst/>
            </a:prstGeom>
            <a:noFill/>
            <a:ln>
              <a:noFill/>
            </a:ln>
          </p:spPr>
        </p:sp>
        <p:sp>
          <p:nvSpPr>
            <p:cNvPr id="35" name="TextBox 35"/>
            <p:cNvSpPr txBox="1"/>
            <p:nvPr/>
          </p:nvSpPr>
          <p:spPr>
            <a:xfrm>
              <a:off x="1091327" y="2361724"/>
              <a:ext cx="674846"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Segoe UI" panose="020B0502040204020203"/>
                  <a:ea typeface="微软雅黑" panose="020B0503020204020204" charset="-122"/>
                  <a:cs typeface="Segoe UI" panose="020B0502040204020203"/>
                </a:rPr>
                <a:t>最高准确率</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36" name="Rectangle 36"/>
            <p:cNvSpPr/>
            <p:nvPr/>
          </p:nvSpPr>
          <p:spPr>
            <a:xfrm>
              <a:off x="2000250" y="2295525"/>
              <a:ext cx="3333750" cy="247650"/>
            </a:xfrm>
            <a:prstGeom prst="rect">
              <a:avLst/>
            </a:prstGeom>
            <a:noFill/>
            <a:ln>
              <a:noFill/>
            </a:ln>
          </p:spPr>
        </p:sp>
        <p:sp>
          <p:nvSpPr>
            <p:cNvPr id="37" name="TextBox 37"/>
            <p:cNvSpPr txBox="1"/>
            <p:nvPr/>
          </p:nvSpPr>
          <p:spPr>
            <a:xfrm>
              <a:off x="3173682" y="2361724"/>
              <a:ext cx="986885" cy="198120"/>
            </a:xfrm>
            <a:prstGeom prst="rect">
              <a:avLst/>
            </a:prstGeom>
            <a:noFill/>
            <a:ln>
              <a:noFill/>
            </a:ln>
          </p:spPr>
          <p:txBody>
            <a:bodyPr wrap="none" lIns="0" tIns="0" rIns="0" bIns="0" anchor="t" anchorCtr="0">
              <a:spAutoFit/>
            </a:bodyPr>
            <a:lstStyle/>
            <a:p>
              <a:pPr algn="ctr"/>
              <a:r>
                <a:rPr lang="zh-CN" sz="975" dirty="0">
                  <a:solidFill>
                    <a:srgbClr val="3182CE"/>
                  </a:solidFill>
                  <a:latin typeface="Segoe UI" panose="020B0502040204020203"/>
                  <a:ea typeface="微软雅黑" panose="020B0503020204020204" charset="-122"/>
                  <a:cs typeface="Segoe UI" panose="020B0502040204020203"/>
                </a:rPr>
                <a:t>68.73%（30类）</a:t>
              </a:r>
              <a:endParaRPr lang="zh-CN" sz="975" dirty="0">
                <a:solidFill>
                  <a:srgbClr val="3182CE"/>
                </a:solidFill>
                <a:latin typeface="Segoe UI" panose="020B0502040204020203"/>
                <a:ea typeface="微软雅黑" panose="020B0503020204020204" charset="-122"/>
                <a:cs typeface="Segoe UI" panose="020B0502040204020203"/>
              </a:endParaRPr>
            </a:p>
          </p:txBody>
        </p:sp>
        <p:sp>
          <p:nvSpPr>
            <p:cNvPr id="38" name="Rectangle 38"/>
            <p:cNvSpPr/>
            <p:nvPr/>
          </p:nvSpPr>
          <p:spPr>
            <a:xfrm>
              <a:off x="5334000" y="2295525"/>
              <a:ext cx="3333750" cy="247650"/>
            </a:xfrm>
            <a:prstGeom prst="rect">
              <a:avLst/>
            </a:prstGeom>
            <a:noFill/>
            <a:ln>
              <a:noFill/>
            </a:ln>
          </p:spPr>
        </p:sp>
        <p:sp>
          <p:nvSpPr>
            <p:cNvPr id="39" name="TextBox 39"/>
            <p:cNvSpPr txBox="1"/>
            <p:nvPr/>
          </p:nvSpPr>
          <p:spPr>
            <a:xfrm>
              <a:off x="6549688" y="2361724"/>
              <a:ext cx="902375"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85.2%（全量）</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40" name="Rectangle 40"/>
            <p:cNvSpPr/>
            <p:nvPr/>
          </p:nvSpPr>
          <p:spPr>
            <a:xfrm>
              <a:off x="8667750" y="2295525"/>
              <a:ext cx="2667000" cy="247650"/>
            </a:xfrm>
            <a:prstGeom prst="rect">
              <a:avLst/>
            </a:prstGeom>
            <a:noFill/>
            <a:ln>
              <a:noFill/>
            </a:ln>
          </p:spPr>
        </p:sp>
        <p:sp>
          <p:nvSpPr>
            <p:cNvPr id="41" name="TextBox 41"/>
            <p:cNvSpPr txBox="1"/>
            <p:nvPr/>
          </p:nvSpPr>
          <p:spPr>
            <a:xfrm>
              <a:off x="9754838" y="2361724"/>
              <a:ext cx="492824"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+16.5pp</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42" name="Rectangle 42"/>
            <p:cNvSpPr/>
            <p:nvPr/>
          </p:nvSpPr>
          <p:spPr>
            <a:xfrm>
              <a:off x="857250" y="2562225"/>
              <a:ext cx="1143000" cy="247650"/>
            </a:xfrm>
            <a:prstGeom prst="rect">
              <a:avLst/>
            </a:prstGeom>
            <a:solidFill>
              <a:srgbClr val="F7FAFC"/>
            </a:solidFill>
            <a:ln>
              <a:noFill/>
            </a:ln>
          </p:spPr>
        </p:sp>
        <p:sp>
          <p:nvSpPr>
            <p:cNvPr id="43" name="TextBox 43"/>
            <p:cNvSpPr txBox="1"/>
            <p:nvPr/>
          </p:nvSpPr>
          <p:spPr>
            <a:xfrm>
              <a:off x="1156335" y="2628424"/>
              <a:ext cx="544830"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Segoe UI" panose="020B0502040204020203"/>
                  <a:ea typeface="微软雅黑" panose="020B0503020204020204" charset="-122"/>
                  <a:cs typeface="Segoe UI" panose="020B0502040204020203"/>
                </a:rPr>
                <a:t>矩阵识别</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44" name="Rectangle 44"/>
            <p:cNvSpPr/>
            <p:nvPr/>
          </p:nvSpPr>
          <p:spPr>
            <a:xfrm>
              <a:off x="2000250" y="2562225"/>
              <a:ext cx="3333750" cy="247650"/>
            </a:xfrm>
            <a:prstGeom prst="rect">
              <a:avLst/>
            </a:prstGeom>
            <a:solidFill>
              <a:srgbClr val="F7FAFC"/>
            </a:solidFill>
            <a:ln>
              <a:noFill/>
            </a:ln>
          </p:spPr>
        </p:sp>
        <p:sp>
          <p:nvSpPr>
            <p:cNvPr id="45" name="TextBox 45"/>
            <p:cNvSpPr txBox="1"/>
            <p:nvPr/>
          </p:nvSpPr>
          <p:spPr>
            <a:xfrm>
              <a:off x="3394710" y="2628424"/>
              <a:ext cx="544830"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无法识别</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46" name="Rectangle 46"/>
            <p:cNvSpPr/>
            <p:nvPr/>
          </p:nvSpPr>
          <p:spPr>
            <a:xfrm>
              <a:off x="5334000" y="2562225"/>
              <a:ext cx="3333750" cy="247650"/>
            </a:xfrm>
            <a:prstGeom prst="rect">
              <a:avLst/>
            </a:prstGeom>
            <a:solidFill>
              <a:srgbClr val="F7FAFC"/>
            </a:solidFill>
            <a:ln>
              <a:noFill/>
            </a:ln>
          </p:spPr>
        </p:sp>
        <p:sp>
          <p:nvSpPr>
            <p:cNvPr id="47" name="TextBox 47"/>
            <p:cNvSpPr txBox="1"/>
            <p:nvPr/>
          </p:nvSpPr>
          <p:spPr>
            <a:xfrm>
              <a:off x="6809720" y="2628424"/>
              <a:ext cx="382310"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45.9%</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48" name="Rectangle 48"/>
            <p:cNvSpPr/>
            <p:nvPr/>
          </p:nvSpPr>
          <p:spPr>
            <a:xfrm>
              <a:off x="8667750" y="2562225"/>
              <a:ext cx="2667000" cy="247650"/>
            </a:xfrm>
            <a:prstGeom prst="rect">
              <a:avLst/>
            </a:prstGeom>
            <a:solidFill>
              <a:srgbClr val="F7FAFC"/>
            </a:solidFill>
            <a:ln>
              <a:noFill/>
            </a:ln>
          </p:spPr>
        </p:sp>
        <p:sp>
          <p:nvSpPr>
            <p:cNvPr id="49" name="TextBox 49"/>
            <p:cNvSpPr txBox="1"/>
            <p:nvPr/>
          </p:nvSpPr>
          <p:spPr>
            <a:xfrm>
              <a:off x="9728835" y="2628424"/>
              <a:ext cx="544830"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从无到有</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50" name="Rectangle 50"/>
            <p:cNvSpPr/>
            <p:nvPr/>
          </p:nvSpPr>
          <p:spPr>
            <a:xfrm>
              <a:off x="857250" y="2828925"/>
              <a:ext cx="1143000" cy="247650"/>
            </a:xfrm>
            <a:prstGeom prst="rect">
              <a:avLst/>
            </a:prstGeom>
            <a:noFill/>
            <a:ln>
              <a:noFill/>
            </a:ln>
          </p:spPr>
        </p:sp>
        <p:sp>
          <p:nvSpPr>
            <p:cNvPr id="51" name="TextBox 51"/>
            <p:cNvSpPr txBox="1"/>
            <p:nvPr/>
          </p:nvSpPr>
          <p:spPr>
            <a:xfrm>
              <a:off x="1156335" y="2895124"/>
              <a:ext cx="544830"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Segoe UI" panose="020B0502040204020203"/>
                  <a:ea typeface="微软雅黑" panose="020B0503020204020204" charset="-122"/>
                  <a:cs typeface="Segoe UI" panose="020B0502040204020203"/>
                </a:rPr>
                <a:t>训练时间</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52" name="Rectangle 52"/>
            <p:cNvSpPr/>
            <p:nvPr/>
          </p:nvSpPr>
          <p:spPr>
            <a:xfrm>
              <a:off x="2000250" y="2828925"/>
              <a:ext cx="3333750" cy="247650"/>
            </a:xfrm>
            <a:prstGeom prst="rect">
              <a:avLst/>
            </a:prstGeom>
            <a:noFill/>
            <a:ln>
              <a:noFill/>
            </a:ln>
          </p:spPr>
        </p:sp>
        <p:sp>
          <p:nvSpPr>
            <p:cNvPr id="53" name="TextBox 53"/>
            <p:cNvSpPr txBox="1"/>
            <p:nvPr/>
          </p:nvSpPr>
          <p:spPr>
            <a:xfrm>
              <a:off x="3186684" y="2895124"/>
              <a:ext cx="960882" cy="198120"/>
            </a:xfrm>
            <a:prstGeom prst="rect">
              <a:avLst/>
            </a:prstGeom>
            <a:noFill/>
            <a:ln>
              <a:noFill/>
            </a:ln>
          </p:spPr>
          <p:txBody>
            <a:bodyPr wrap="none" lIns="0" tIns="0" rIns="0" bIns="0" anchor="t" anchorCtr="0">
              <a:spAutoFit/>
            </a:bodyPr>
            <a:lstStyle/>
            <a:p>
              <a:pPr algn="ctr"/>
              <a:r>
                <a:rPr lang="zh-CN" sz="975" dirty="0">
                  <a:solidFill>
                    <a:srgbClr val="3182CE"/>
                  </a:solidFill>
                  <a:latin typeface="Segoe UI" panose="020B0502040204020203"/>
                  <a:ea typeface="微软雅黑" panose="020B0503020204020204" charset="-122"/>
                  <a:cs typeface="Segoe UI" panose="020B0502040204020203"/>
                </a:rPr>
                <a:t>~34 min（CPU）</a:t>
              </a:r>
              <a:endParaRPr lang="zh-CN" sz="975" dirty="0">
                <a:solidFill>
                  <a:srgbClr val="3182CE"/>
                </a:solidFill>
                <a:latin typeface="Segoe UI" panose="020B0502040204020203"/>
                <a:ea typeface="微软雅黑" panose="020B0503020204020204" charset="-122"/>
                <a:cs typeface="Segoe UI" panose="020B0502040204020203"/>
              </a:endParaRPr>
            </a:p>
          </p:txBody>
        </p:sp>
        <p:sp>
          <p:nvSpPr>
            <p:cNvPr id="54" name="Rectangle 54"/>
            <p:cNvSpPr/>
            <p:nvPr/>
          </p:nvSpPr>
          <p:spPr>
            <a:xfrm>
              <a:off x="5334000" y="2828925"/>
              <a:ext cx="3333750" cy="247650"/>
            </a:xfrm>
            <a:prstGeom prst="rect">
              <a:avLst/>
            </a:prstGeom>
            <a:noFill/>
            <a:ln>
              <a:noFill/>
            </a:ln>
          </p:spPr>
        </p:sp>
        <p:sp>
          <p:nvSpPr>
            <p:cNvPr id="55" name="TextBox 55"/>
            <p:cNvSpPr txBox="1"/>
            <p:nvPr/>
          </p:nvSpPr>
          <p:spPr>
            <a:xfrm>
              <a:off x="6409920" y="2895124"/>
              <a:ext cx="1181910"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~7 min（GPU）+ API</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56" name="Rectangle 56"/>
            <p:cNvSpPr/>
            <p:nvPr/>
          </p:nvSpPr>
          <p:spPr>
            <a:xfrm>
              <a:off x="8667750" y="2828925"/>
              <a:ext cx="2667000" cy="247650"/>
            </a:xfrm>
            <a:prstGeom prst="rect">
              <a:avLst/>
            </a:prstGeom>
            <a:noFill/>
            <a:ln>
              <a:noFill/>
            </a:ln>
          </p:spPr>
        </p:sp>
        <p:sp>
          <p:nvSpPr>
            <p:cNvPr id="57" name="TextBox 57"/>
            <p:cNvSpPr txBox="1"/>
            <p:nvPr/>
          </p:nvSpPr>
          <p:spPr>
            <a:xfrm>
              <a:off x="9728835" y="2895124"/>
              <a:ext cx="544830"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Segoe UI" panose="020B0502040204020203"/>
                  <a:ea typeface="微软雅黑" panose="020B0503020204020204" charset="-122"/>
                  <a:cs typeface="Segoe UI" panose="020B0502040204020203"/>
                </a:rPr>
                <a:t>各有优势</a:t>
              </a:r>
              <a:endParaRPr lang="zh-CN" sz="975" dirty="0">
                <a:solidFill>
                  <a:srgbClr val="718096"/>
                </a:solidFill>
                <a:latin typeface="Segoe UI" panose="020B0502040204020203"/>
                <a:ea typeface="微软雅黑" panose="020B0503020204020204" charset="-122"/>
                <a:cs typeface="Segoe UI" panose="020B0502040204020203"/>
              </a:endParaRPr>
            </a:p>
          </p:txBody>
        </p:sp>
        <p:sp>
          <p:nvSpPr>
            <p:cNvPr id="58" name="Rectangle 58"/>
            <p:cNvSpPr/>
            <p:nvPr/>
          </p:nvSpPr>
          <p:spPr>
            <a:xfrm>
              <a:off x="857250" y="3095625"/>
              <a:ext cx="1143000" cy="247650"/>
            </a:xfrm>
            <a:prstGeom prst="rect">
              <a:avLst/>
            </a:prstGeom>
            <a:solidFill>
              <a:srgbClr val="F7FAFC"/>
            </a:solidFill>
            <a:ln>
              <a:noFill/>
            </a:ln>
          </p:spPr>
        </p:sp>
        <p:sp>
          <p:nvSpPr>
            <p:cNvPr id="59" name="TextBox 59"/>
            <p:cNvSpPr txBox="1"/>
            <p:nvPr/>
          </p:nvSpPr>
          <p:spPr>
            <a:xfrm>
              <a:off x="1156335" y="3161824"/>
              <a:ext cx="544830"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Segoe UI" panose="020B0502040204020203"/>
                  <a:ea typeface="微软雅黑" panose="020B0503020204020204" charset="-122"/>
                  <a:cs typeface="Segoe UI" panose="020B0502040204020203"/>
                </a:rPr>
                <a:t>硬件需求</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60" name="Rectangle 60"/>
            <p:cNvSpPr/>
            <p:nvPr/>
          </p:nvSpPr>
          <p:spPr>
            <a:xfrm>
              <a:off x="2000250" y="3095625"/>
              <a:ext cx="3333750" cy="247650"/>
            </a:xfrm>
            <a:prstGeom prst="rect">
              <a:avLst/>
            </a:prstGeom>
            <a:solidFill>
              <a:srgbClr val="F7FAFC"/>
            </a:solidFill>
            <a:ln>
              <a:noFill/>
            </a:ln>
          </p:spPr>
        </p:sp>
        <p:sp>
          <p:nvSpPr>
            <p:cNvPr id="61" name="TextBox 61"/>
            <p:cNvSpPr txBox="1"/>
            <p:nvPr/>
          </p:nvSpPr>
          <p:spPr>
            <a:xfrm>
              <a:off x="3397960" y="3161824"/>
              <a:ext cx="538329" cy="198120"/>
            </a:xfrm>
            <a:prstGeom prst="rect">
              <a:avLst/>
            </a:prstGeom>
            <a:noFill/>
            <a:ln>
              <a:noFill/>
            </a:ln>
          </p:spPr>
          <p:txBody>
            <a:bodyPr wrap="none" lIns="0" tIns="0" rIns="0" bIns="0" anchor="t" anchorCtr="0">
              <a:spAutoFit/>
            </a:bodyPr>
            <a:lstStyle/>
            <a:p>
              <a:pPr algn="ctr"/>
              <a:r>
                <a:rPr lang="zh-CN" sz="975" dirty="0">
                  <a:solidFill>
                    <a:srgbClr val="3182CE"/>
                  </a:solidFill>
                  <a:latin typeface="Segoe UI" panose="020B0502040204020203"/>
                  <a:ea typeface="微软雅黑" panose="020B0503020204020204" charset="-122"/>
                  <a:cs typeface="Segoe UI" panose="020B0502040204020203"/>
                </a:rPr>
                <a:t>任意 CPU</a:t>
              </a:r>
              <a:endParaRPr lang="zh-CN" sz="975" dirty="0">
                <a:solidFill>
                  <a:srgbClr val="3182CE"/>
                </a:solidFill>
                <a:latin typeface="Segoe UI" panose="020B0502040204020203"/>
                <a:ea typeface="微软雅黑" panose="020B0503020204020204" charset="-122"/>
                <a:cs typeface="Segoe UI" panose="020B0502040204020203"/>
              </a:endParaRPr>
            </a:p>
          </p:txBody>
        </p:sp>
        <p:sp>
          <p:nvSpPr>
            <p:cNvPr id="62" name="Rectangle 62"/>
            <p:cNvSpPr/>
            <p:nvPr/>
          </p:nvSpPr>
          <p:spPr>
            <a:xfrm>
              <a:off x="5334000" y="3095625"/>
              <a:ext cx="3333750" cy="247650"/>
            </a:xfrm>
            <a:prstGeom prst="rect">
              <a:avLst/>
            </a:prstGeom>
            <a:solidFill>
              <a:srgbClr val="F7FAFC"/>
            </a:solidFill>
            <a:ln>
              <a:noFill/>
            </a:ln>
          </p:spPr>
        </p:sp>
        <p:sp>
          <p:nvSpPr>
            <p:cNvPr id="63" name="TextBox 63"/>
            <p:cNvSpPr txBox="1"/>
            <p:nvPr/>
          </p:nvSpPr>
          <p:spPr>
            <a:xfrm>
              <a:off x="6552938" y="3161824"/>
              <a:ext cx="895874"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GPU 4GB+ / API</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64" name="Rectangle 64"/>
            <p:cNvSpPr/>
            <p:nvPr/>
          </p:nvSpPr>
          <p:spPr>
            <a:xfrm>
              <a:off x="8667750" y="3095625"/>
              <a:ext cx="2667000" cy="247650"/>
            </a:xfrm>
            <a:prstGeom prst="rect">
              <a:avLst/>
            </a:prstGeom>
            <a:solidFill>
              <a:srgbClr val="F7FAFC"/>
            </a:solidFill>
            <a:ln>
              <a:noFill/>
            </a:ln>
          </p:spPr>
        </p:sp>
        <p:sp>
          <p:nvSpPr>
            <p:cNvPr id="65" name="TextBox 65"/>
            <p:cNvSpPr txBox="1"/>
            <p:nvPr/>
          </p:nvSpPr>
          <p:spPr>
            <a:xfrm>
              <a:off x="9728835" y="3161824"/>
              <a:ext cx="544830"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Segoe UI" panose="020B0502040204020203"/>
                  <a:ea typeface="微软雅黑" panose="020B0503020204020204" charset="-122"/>
                  <a:cs typeface="Segoe UI" panose="020B0502040204020203"/>
                </a:rPr>
                <a:t>门槛不同</a:t>
              </a:r>
              <a:endParaRPr lang="zh-CN" sz="975" dirty="0">
                <a:solidFill>
                  <a:srgbClr val="718096"/>
                </a:solidFill>
                <a:latin typeface="Segoe UI" panose="020B0502040204020203"/>
                <a:ea typeface="微软雅黑" panose="020B0503020204020204" charset="-122"/>
                <a:cs typeface="Segoe UI" panose="020B0502040204020203"/>
              </a:endParaRPr>
            </a:p>
          </p:txBody>
        </p:sp>
        <p:sp>
          <p:nvSpPr>
            <p:cNvPr id="66" name="Rectangle 66"/>
            <p:cNvSpPr/>
            <p:nvPr/>
          </p:nvSpPr>
          <p:spPr>
            <a:xfrm>
              <a:off x="857250" y="3362325"/>
              <a:ext cx="1143000" cy="247650"/>
            </a:xfrm>
            <a:prstGeom prst="rect">
              <a:avLst/>
            </a:prstGeom>
            <a:noFill/>
            <a:ln>
              <a:noFill/>
            </a:ln>
          </p:spPr>
        </p:sp>
        <p:sp>
          <p:nvSpPr>
            <p:cNvPr id="67" name="TextBox 67"/>
            <p:cNvSpPr txBox="1"/>
            <p:nvPr/>
          </p:nvSpPr>
          <p:spPr>
            <a:xfrm>
              <a:off x="1156335" y="3428524"/>
              <a:ext cx="544830"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Segoe UI" panose="020B0502040204020203"/>
                  <a:ea typeface="微软雅黑" panose="020B0503020204020204" charset="-122"/>
                  <a:cs typeface="Segoe UI" panose="020B0502040204020203"/>
                </a:rPr>
                <a:t>外部依赖</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68" name="Rectangle 68"/>
            <p:cNvSpPr/>
            <p:nvPr/>
          </p:nvSpPr>
          <p:spPr>
            <a:xfrm>
              <a:off x="2000250" y="3362325"/>
              <a:ext cx="3333750" cy="247650"/>
            </a:xfrm>
            <a:prstGeom prst="rect">
              <a:avLst/>
            </a:prstGeom>
            <a:noFill/>
            <a:ln>
              <a:noFill/>
            </a:ln>
          </p:spPr>
        </p:sp>
        <p:sp>
          <p:nvSpPr>
            <p:cNvPr id="69" name="TextBox 69"/>
            <p:cNvSpPr txBox="1"/>
            <p:nvPr/>
          </p:nvSpPr>
          <p:spPr>
            <a:xfrm>
              <a:off x="3069669" y="3428524"/>
              <a:ext cx="1194911" cy="198120"/>
            </a:xfrm>
            <a:prstGeom prst="rect">
              <a:avLst/>
            </a:prstGeom>
            <a:noFill/>
            <a:ln>
              <a:noFill/>
            </a:ln>
          </p:spPr>
          <p:txBody>
            <a:bodyPr wrap="none" lIns="0" tIns="0" rIns="0" bIns="0" anchor="t" anchorCtr="0">
              <a:spAutoFit/>
            </a:bodyPr>
            <a:lstStyle/>
            <a:p>
              <a:pPr algn="ctr"/>
              <a:r>
                <a:rPr lang="zh-CN" sz="975" dirty="0">
                  <a:solidFill>
                    <a:srgbClr val="3182CE"/>
                  </a:solidFill>
                  <a:latin typeface="Segoe UI" panose="020B0502040204020203"/>
                  <a:ea typeface="微软雅黑" panose="020B0503020204020204" charset="-122"/>
                  <a:cs typeface="Segoe UI" panose="020B0502040204020203"/>
                </a:rPr>
                <a:t>无（完全免费离线）</a:t>
              </a:r>
              <a:endParaRPr lang="zh-CN" sz="975" dirty="0">
                <a:solidFill>
                  <a:srgbClr val="3182CE"/>
                </a:solidFill>
                <a:latin typeface="Segoe UI" panose="020B0502040204020203"/>
                <a:ea typeface="微软雅黑" panose="020B0503020204020204" charset="-122"/>
                <a:cs typeface="Segoe UI" panose="020B0502040204020203"/>
              </a:endParaRPr>
            </a:p>
          </p:txBody>
        </p:sp>
        <p:sp>
          <p:nvSpPr>
            <p:cNvPr id="70" name="Rectangle 70"/>
            <p:cNvSpPr/>
            <p:nvPr/>
          </p:nvSpPr>
          <p:spPr>
            <a:xfrm>
              <a:off x="5334000" y="3362325"/>
              <a:ext cx="3333750" cy="247650"/>
            </a:xfrm>
            <a:prstGeom prst="rect">
              <a:avLst/>
            </a:prstGeom>
            <a:noFill/>
            <a:ln>
              <a:noFill/>
            </a:ln>
          </p:spPr>
        </p:sp>
        <p:sp>
          <p:nvSpPr>
            <p:cNvPr id="71" name="TextBox 71"/>
            <p:cNvSpPr txBox="1"/>
            <p:nvPr/>
          </p:nvSpPr>
          <p:spPr>
            <a:xfrm>
              <a:off x="6452175" y="3428524"/>
              <a:ext cx="1097399"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API 付费+模型下载</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72" name="Rectangle 72"/>
            <p:cNvSpPr/>
            <p:nvPr/>
          </p:nvSpPr>
          <p:spPr>
            <a:xfrm>
              <a:off x="8667750" y="3362325"/>
              <a:ext cx="2667000" cy="247650"/>
            </a:xfrm>
            <a:prstGeom prst="rect">
              <a:avLst/>
            </a:prstGeom>
            <a:noFill/>
            <a:ln>
              <a:noFill/>
            </a:ln>
          </p:spPr>
        </p:sp>
        <p:sp>
          <p:nvSpPr>
            <p:cNvPr id="73" name="TextBox 73"/>
            <p:cNvSpPr txBox="1"/>
            <p:nvPr/>
          </p:nvSpPr>
          <p:spPr>
            <a:xfrm>
              <a:off x="9663827" y="3428524"/>
              <a:ext cx="674846"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Segoe UI" panose="020B0502040204020203"/>
                  <a:ea typeface="微软雅黑" panose="020B0503020204020204" charset="-122"/>
                  <a:cs typeface="Segoe UI" panose="020B0502040204020203"/>
                </a:rPr>
                <a:t>成本差异大</a:t>
              </a:r>
              <a:endParaRPr lang="zh-CN" sz="975" dirty="0">
                <a:solidFill>
                  <a:srgbClr val="718096"/>
                </a:solidFill>
                <a:latin typeface="Segoe UI" panose="020B0502040204020203"/>
                <a:ea typeface="微软雅黑" panose="020B0503020204020204" charset="-122"/>
                <a:cs typeface="Segoe UI" panose="020B0502040204020203"/>
              </a:endParaRPr>
            </a:p>
          </p:txBody>
        </p:sp>
        <p:sp>
          <p:nvSpPr>
            <p:cNvPr id="74" name="Rectangle 74"/>
            <p:cNvSpPr/>
            <p:nvPr/>
          </p:nvSpPr>
          <p:spPr>
            <a:xfrm>
              <a:off x="857250" y="3629025"/>
              <a:ext cx="1143000" cy="247650"/>
            </a:xfrm>
            <a:prstGeom prst="rect">
              <a:avLst/>
            </a:prstGeom>
            <a:solidFill>
              <a:srgbClr val="F7FAFC"/>
            </a:solidFill>
            <a:ln>
              <a:noFill/>
            </a:ln>
          </p:spPr>
        </p:sp>
        <p:sp>
          <p:nvSpPr>
            <p:cNvPr id="75" name="TextBox 75"/>
            <p:cNvSpPr txBox="1"/>
            <p:nvPr/>
          </p:nvSpPr>
          <p:spPr>
            <a:xfrm>
              <a:off x="1156335" y="3695224"/>
              <a:ext cx="544830"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Segoe UI" panose="020B0502040204020203"/>
                  <a:ea typeface="微软雅黑" panose="020B0503020204020204" charset="-122"/>
                  <a:cs typeface="Segoe UI" panose="020B0502040204020203"/>
                </a:rPr>
                <a:t>代码工程</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76" name="Rectangle 76"/>
            <p:cNvSpPr/>
            <p:nvPr/>
          </p:nvSpPr>
          <p:spPr>
            <a:xfrm>
              <a:off x="2000250" y="3629025"/>
              <a:ext cx="3333750" cy="247650"/>
            </a:xfrm>
            <a:prstGeom prst="rect">
              <a:avLst/>
            </a:prstGeom>
            <a:solidFill>
              <a:srgbClr val="F7FAFC"/>
            </a:solidFill>
            <a:ln>
              <a:noFill/>
            </a:ln>
          </p:spPr>
        </p:sp>
        <p:sp>
          <p:nvSpPr>
            <p:cNvPr id="77" name="TextBox 77"/>
            <p:cNvSpPr txBox="1"/>
            <p:nvPr/>
          </p:nvSpPr>
          <p:spPr>
            <a:xfrm>
              <a:off x="3329702" y="3695224"/>
              <a:ext cx="674846" cy="198120"/>
            </a:xfrm>
            <a:prstGeom prst="rect">
              <a:avLst/>
            </a:prstGeom>
            <a:noFill/>
            <a:ln>
              <a:noFill/>
            </a:ln>
          </p:spPr>
          <p:txBody>
            <a:bodyPr wrap="none" lIns="0" tIns="0" rIns="0" bIns="0" anchor="t" anchorCtr="0">
              <a:spAutoFit/>
            </a:bodyPr>
            <a:lstStyle/>
            <a:p>
              <a:pPr algn="ctr"/>
              <a:r>
                <a:rPr lang="zh-CN" sz="975" dirty="0">
                  <a:solidFill>
                    <a:srgbClr val="3182CE"/>
                  </a:solidFill>
                  <a:latin typeface="Segoe UI" panose="020B0502040204020203"/>
                  <a:ea typeface="微软雅黑" panose="020B0503020204020204" charset="-122"/>
                  <a:cs typeface="Segoe UI" panose="020B0502040204020203"/>
                </a:rPr>
                <a:t>过程式脚本</a:t>
              </a:r>
              <a:endParaRPr lang="zh-CN" sz="975" dirty="0">
                <a:solidFill>
                  <a:srgbClr val="3182CE"/>
                </a:solidFill>
                <a:latin typeface="Segoe UI" panose="020B0502040204020203"/>
                <a:ea typeface="微软雅黑" panose="020B0503020204020204" charset="-122"/>
                <a:cs typeface="Segoe UI" panose="020B0502040204020203"/>
              </a:endParaRPr>
            </a:p>
          </p:txBody>
        </p:sp>
        <p:sp>
          <p:nvSpPr>
            <p:cNvPr id="78" name="Rectangle 78"/>
            <p:cNvSpPr/>
            <p:nvPr/>
          </p:nvSpPr>
          <p:spPr>
            <a:xfrm>
              <a:off x="5334000" y="3629025"/>
              <a:ext cx="3333750" cy="247650"/>
            </a:xfrm>
            <a:prstGeom prst="rect">
              <a:avLst/>
            </a:prstGeom>
            <a:solidFill>
              <a:srgbClr val="F7FAFC"/>
            </a:solidFill>
            <a:ln>
              <a:noFill/>
            </a:ln>
          </p:spPr>
        </p:sp>
        <p:sp>
          <p:nvSpPr>
            <p:cNvPr id="79" name="TextBox 79"/>
            <p:cNvSpPr txBox="1"/>
            <p:nvPr/>
          </p:nvSpPr>
          <p:spPr>
            <a:xfrm>
              <a:off x="6640699" y="3695224"/>
              <a:ext cx="720352"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模块化 OOP</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80" name="Rectangle 80"/>
            <p:cNvSpPr/>
            <p:nvPr/>
          </p:nvSpPr>
          <p:spPr>
            <a:xfrm>
              <a:off x="8667750" y="3629025"/>
              <a:ext cx="2667000" cy="247650"/>
            </a:xfrm>
            <a:prstGeom prst="rect">
              <a:avLst/>
            </a:prstGeom>
            <a:solidFill>
              <a:srgbClr val="F7FAFC"/>
            </a:solidFill>
            <a:ln>
              <a:noFill/>
            </a:ln>
          </p:spPr>
        </p:sp>
        <p:sp>
          <p:nvSpPr>
            <p:cNvPr id="81" name="TextBox 81"/>
            <p:cNvSpPr txBox="1"/>
            <p:nvPr/>
          </p:nvSpPr>
          <p:spPr>
            <a:xfrm>
              <a:off x="9728835" y="3695224"/>
              <a:ext cx="544830"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Segoe UI" panose="020B0502040204020203"/>
                  <a:ea typeface="微软雅黑" panose="020B0503020204020204" charset="-122"/>
                  <a:cs typeface="Segoe UI" panose="020B0502040204020203"/>
                </a:rPr>
                <a:t>质量差异</a:t>
              </a:r>
              <a:endParaRPr lang="zh-CN" sz="975" dirty="0">
                <a:solidFill>
                  <a:srgbClr val="718096"/>
                </a:solidFill>
                <a:latin typeface="Segoe UI" panose="020B0502040204020203"/>
                <a:ea typeface="微软雅黑" panose="020B0503020204020204" charset="-122"/>
                <a:cs typeface="Segoe UI" panose="020B0502040204020203"/>
              </a:endParaRPr>
            </a:p>
          </p:txBody>
        </p:sp>
        <p:sp>
          <p:nvSpPr>
            <p:cNvPr id="82" name="Rectangle 82"/>
            <p:cNvSpPr/>
            <p:nvPr/>
          </p:nvSpPr>
          <p:spPr>
            <a:xfrm>
              <a:off x="857250" y="3895725"/>
              <a:ext cx="1143000" cy="247650"/>
            </a:xfrm>
            <a:prstGeom prst="rect">
              <a:avLst/>
            </a:prstGeom>
            <a:noFill/>
            <a:ln>
              <a:noFill/>
            </a:ln>
          </p:spPr>
        </p:sp>
        <p:sp>
          <p:nvSpPr>
            <p:cNvPr id="83" name="TextBox 83"/>
            <p:cNvSpPr txBox="1"/>
            <p:nvPr/>
          </p:nvSpPr>
          <p:spPr>
            <a:xfrm>
              <a:off x="1156335" y="3961924"/>
              <a:ext cx="544830"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Segoe UI" panose="020B0502040204020203"/>
                  <a:ea typeface="微软雅黑" panose="020B0503020204020204" charset="-122"/>
                  <a:cs typeface="Segoe UI" panose="020B0502040204020203"/>
                </a:rPr>
                <a:t>核心优势</a:t>
              </a:r>
              <a:endParaRPr lang="zh-CN" sz="975" dirty="0">
                <a:solidFill>
                  <a:srgbClr val="2D3748"/>
                </a:solidFill>
                <a:latin typeface="Segoe UI" panose="020B0502040204020203"/>
                <a:ea typeface="微软雅黑" panose="020B0503020204020204" charset="-122"/>
                <a:cs typeface="Segoe UI" panose="020B0502040204020203"/>
              </a:endParaRPr>
            </a:p>
          </p:txBody>
        </p:sp>
        <p:sp>
          <p:nvSpPr>
            <p:cNvPr id="84" name="Rectangle 84"/>
            <p:cNvSpPr/>
            <p:nvPr/>
          </p:nvSpPr>
          <p:spPr>
            <a:xfrm>
              <a:off x="2000250" y="3895725"/>
              <a:ext cx="3333750" cy="247650"/>
            </a:xfrm>
            <a:prstGeom prst="rect">
              <a:avLst/>
            </a:prstGeom>
            <a:noFill/>
            <a:ln>
              <a:noFill/>
            </a:ln>
          </p:spPr>
        </p:sp>
        <p:sp>
          <p:nvSpPr>
            <p:cNvPr id="85" name="TextBox 85"/>
            <p:cNvSpPr txBox="1"/>
            <p:nvPr/>
          </p:nvSpPr>
          <p:spPr>
            <a:xfrm>
              <a:off x="2998160" y="3961924"/>
              <a:ext cx="1337929" cy="198120"/>
            </a:xfrm>
            <a:prstGeom prst="rect">
              <a:avLst/>
            </a:prstGeom>
            <a:noFill/>
            <a:ln>
              <a:noFill/>
            </a:ln>
          </p:spPr>
          <p:txBody>
            <a:bodyPr wrap="none" lIns="0" tIns="0" rIns="0" bIns="0" anchor="t" anchorCtr="0">
              <a:spAutoFit/>
            </a:bodyPr>
            <a:lstStyle/>
            <a:p>
              <a:pPr algn="ctr"/>
              <a:r>
                <a:rPr lang="zh-CN" sz="975" dirty="0">
                  <a:solidFill>
                    <a:srgbClr val="3182CE"/>
                  </a:solidFill>
                  <a:latin typeface="Segoe UI" panose="020B0502040204020203"/>
                  <a:ea typeface="微软雅黑" panose="020B0503020204020204" charset="-122"/>
                  <a:cs typeface="Segoe UI" panose="020B0502040204020203"/>
                </a:rPr>
                <a:t>可解释·低成本·易部署</a:t>
              </a:r>
              <a:endParaRPr lang="zh-CN" sz="975" dirty="0">
                <a:solidFill>
                  <a:srgbClr val="3182CE"/>
                </a:solidFill>
                <a:latin typeface="Segoe UI" panose="020B0502040204020203"/>
                <a:ea typeface="微软雅黑" panose="020B0503020204020204" charset="-122"/>
                <a:cs typeface="Segoe UI" panose="020B0502040204020203"/>
              </a:endParaRPr>
            </a:p>
          </p:txBody>
        </p:sp>
        <p:sp>
          <p:nvSpPr>
            <p:cNvPr id="86" name="Rectangle 86"/>
            <p:cNvSpPr/>
            <p:nvPr/>
          </p:nvSpPr>
          <p:spPr>
            <a:xfrm>
              <a:off x="5334000" y="3895725"/>
              <a:ext cx="3333750" cy="247650"/>
            </a:xfrm>
            <a:prstGeom prst="rect">
              <a:avLst/>
            </a:prstGeom>
            <a:noFill/>
            <a:ln>
              <a:noFill/>
            </a:ln>
          </p:spPr>
        </p:sp>
        <p:sp>
          <p:nvSpPr>
            <p:cNvPr id="87" name="TextBox 87"/>
            <p:cNvSpPr txBox="1"/>
            <p:nvPr/>
          </p:nvSpPr>
          <p:spPr>
            <a:xfrm>
              <a:off x="6331910" y="3961924"/>
              <a:ext cx="1337929" cy="198120"/>
            </a:xfrm>
            <a:prstGeom prst="rect">
              <a:avLst/>
            </a:prstGeom>
            <a:noFill/>
            <a:ln>
              <a:noFill/>
            </a:ln>
          </p:spPr>
          <p:txBody>
            <a:bodyPr wrap="none" lIns="0" tIns="0" rIns="0" bIns="0" anchor="t" anchorCtr="0">
              <a:spAutoFit/>
            </a:bodyPr>
            <a:lstStyle/>
            <a:p>
              <a:pPr algn="ctr"/>
              <a:r>
                <a:rPr lang="zh-CN" sz="975" dirty="0">
                  <a:solidFill>
                    <a:srgbClr val="E53E3E"/>
                  </a:solidFill>
                  <a:latin typeface="Segoe UI" panose="020B0502040204020203"/>
                  <a:ea typeface="微软雅黑" panose="020B0503020204020204" charset="-122"/>
                  <a:cs typeface="Segoe UI" panose="020B0502040204020203"/>
                </a:rPr>
                <a:t>高精度·强泛化·可生成</a:t>
              </a:r>
              <a:endParaRPr lang="zh-CN" sz="975" dirty="0">
                <a:solidFill>
                  <a:srgbClr val="E53E3E"/>
                </a:solidFill>
                <a:latin typeface="Segoe UI" panose="020B0502040204020203"/>
                <a:ea typeface="微软雅黑" panose="020B0503020204020204" charset="-122"/>
                <a:cs typeface="Segoe UI" panose="020B0502040204020203"/>
              </a:endParaRPr>
            </a:p>
          </p:txBody>
        </p:sp>
        <p:sp>
          <p:nvSpPr>
            <p:cNvPr id="88" name="Rectangle 88"/>
            <p:cNvSpPr/>
            <p:nvPr/>
          </p:nvSpPr>
          <p:spPr>
            <a:xfrm>
              <a:off x="8667750" y="3895725"/>
              <a:ext cx="2667000" cy="247650"/>
            </a:xfrm>
            <a:prstGeom prst="rect">
              <a:avLst/>
            </a:prstGeom>
            <a:noFill/>
            <a:ln>
              <a:noFill/>
            </a:ln>
          </p:spPr>
        </p:sp>
        <p:sp>
          <p:nvSpPr>
            <p:cNvPr id="89" name="TextBox 89"/>
            <p:cNvSpPr txBox="1"/>
            <p:nvPr/>
          </p:nvSpPr>
          <p:spPr>
            <a:xfrm>
              <a:off x="9858851" y="3961924"/>
              <a:ext cx="284798"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Segoe UI" panose="020B0502040204020203"/>
                  <a:ea typeface="微软雅黑" panose="020B0503020204020204" charset="-122"/>
                  <a:cs typeface="Segoe UI" panose="020B0502040204020203"/>
                </a:rPr>
                <a:t>互补</a:t>
              </a:r>
              <a:endParaRPr lang="zh-CN" sz="975" dirty="0">
                <a:solidFill>
                  <a:srgbClr val="718096"/>
                </a:solidFill>
                <a:latin typeface="Segoe UI" panose="020B0502040204020203"/>
                <a:ea typeface="微软雅黑" panose="020B0503020204020204" charset="-122"/>
                <a:cs typeface="Segoe UI" panose="020B0502040204020203"/>
              </a:endParaRPr>
            </a:p>
          </p:txBody>
        </p:sp>
      </p:grpSp>
      <p:sp>
        <p:nvSpPr>
          <p:cNvPr id="91" name="Rectangle 91"/>
          <p:cNvSpPr/>
          <p:nvPr/>
        </p:nvSpPr>
        <p:spPr>
          <a:xfrm>
            <a:off x="762000" y="4953000"/>
            <a:ext cx="5143500" cy="476250"/>
          </a:xfrm>
          <a:prstGeom prst="roundRect">
            <a:avLst>
              <a:gd name="adj" fmla="val 12000"/>
            </a:avLst>
          </a:prstGeom>
          <a:solidFill>
            <a:srgbClr val="1A365D"/>
          </a:solidFill>
          <a:ln>
            <a:noFill/>
          </a:ln>
        </p:spPr>
      </p:sp>
      <p:sp>
        <p:nvSpPr>
          <p:cNvPr id="92" name="TextBox 92"/>
          <p:cNvSpPr txBox="1"/>
          <p:nvPr/>
        </p:nvSpPr>
        <p:spPr>
          <a:xfrm>
            <a:off x="1590496" y="5069681"/>
            <a:ext cx="3486507" cy="228600"/>
          </a:xfrm>
          <a:prstGeom prst="rect">
            <a:avLst/>
          </a:prstGeom>
          <a:noFill/>
          <a:ln>
            <a:noFill/>
          </a:ln>
        </p:spPr>
        <p:txBody>
          <a:bodyPr wrap="none" lIns="0" tIns="0" rIns="0" bIns="0" anchor="t" anchorCtr="0">
            <a:spAutoFit/>
          </a:bodyPr>
          <a:lstStyle/>
          <a:p>
            <a:pPr algn="ctr"/>
            <a:r>
              <a:rPr lang="zh-CN" sz="1125" dirty="0">
                <a:solidFill>
                  <a:srgbClr val="FFFFFF"/>
                </a:solidFill>
                <a:latin typeface="Segoe UI" panose="020B0502040204020203"/>
                <a:ea typeface="微软雅黑" panose="020B0503020204020204" charset="-122"/>
                <a:cs typeface="Segoe UI" panose="020B0502040204020203"/>
              </a:rPr>
              <a:t>传统 ML 适合受限场景 · 大模型适合高精度开放场景</a:t>
            </a:r>
            <a:endParaRPr lang="zh-CN" sz="1125" dirty="0">
              <a:solidFill>
                <a:srgbClr val="FFFFFF"/>
              </a:solidFill>
              <a:latin typeface="Segoe UI" panose="020B0502040204020203"/>
              <a:ea typeface="微软雅黑" panose="020B0503020204020204" charset="-122"/>
              <a:cs typeface="Segoe UI" panose="020B0502040204020203"/>
            </a:endParaRPr>
          </a:p>
        </p:txBody>
      </p:sp>
      <p:sp>
        <p:nvSpPr>
          <p:cNvPr id="93" name="Rectangle 93"/>
          <p:cNvSpPr/>
          <p:nvPr/>
        </p:nvSpPr>
        <p:spPr>
          <a:xfrm>
            <a:off x="6191250" y="4953000"/>
            <a:ext cx="5238750" cy="476250"/>
          </a:xfrm>
          <a:prstGeom prst="roundRect">
            <a:avLst>
              <a:gd name="adj" fmla="val 12000"/>
            </a:avLst>
          </a:prstGeom>
          <a:solidFill>
            <a:srgbClr val="1A365D"/>
          </a:solidFill>
          <a:ln>
            <a:noFill/>
          </a:ln>
        </p:spPr>
      </p:sp>
      <p:sp>
        <p:nvSpPr>
          <p:cNvPr id="94" name="TextBox 94"/>
          <p:cNvSpPr txBox="1"/>
          <p:nvPr/>
        </p:nvSpPr>
        <p:spPr>
          <a:xfrm>
            <a:off x="7284899" y="5069681"/>
            <a:ext cx="3051453" cy="228600"/>
          </a:xfrm>
          <a:prstGeom prst="rect">
            <a:avLst/>
          </a:prstGeom>
          <a:noFill/>
          <a:ln>
            <a:noFill/>
          </a:ln>
        </p:spPr>
        <p:txBody>
          <a:bodyPr wrap="none" lIns="0" tIns="0" rIns="0" bIns="0" anchor="t" anchorCtr="0">
            <a:spAutoFit/>
          </a:bodyPr>
          <a:lstStyle/>
          <a:p>
            <a:pPr algn="ctr"/>
            <a:r>
              <a:rPr lang="zh-CN" sz="1125" dirty="0">
                <a:solidFill>
                  <a:srgbClr val="FFFFFF"/>
                </a:solidFill>
                <a:latin typeface="Segoe UI" panose="020B0502040204020203"/>
                <a:ea typeface="微软雅黑" panose="020B0503020204020204" charset="-122"/>
                <a:cs typeface="Segoe UI" panose="020B0502040204020203"/>
              </a:rPr>
              <a:t>两者互补 · 覆盖从简单到复杂的全部公式类型</a:t>
            </a:r>
            <a:endParaRPr lang="zh-CN" sz="1125" dirty="0">
              <a:solidFill>
                <a:srgbClr val="FFFFFF"/>
              </a:solidFill>
              <a:latin typeface="Segoe UI" panose="020B0502040204020203"/>
              <a:ea typeface="微软雅黑" panose="020B0503020204020204" charset="-122"/>
              <a:cs typeface="Segoe UI" panose="020B0502040204020203"/>
            </a:endParaRPr>
          </a:p>
        </p:txBody>
      </p:sp>
      <p:sp>
        <p:nvSpPr>
          <p:cNvPr id="95" name="TextBox 95"/>
          <p:cNvSpPr txBox="1"/>
          <p:nvPr/>
        </p:nvSpPr>
        <p:spPr>
          <a:xfrm>
            <a:off x="11513820" y="6570345"/>
            <a:ext cx="154877" cy="182880"/>
          </a:xfrm>
          <a:prstGeom prst="rect">
            <a:avLst/>
          </a:prstGeom>
          <a:noFill/>
          <a:ln>
            <a:noFill/>
          </a:ln>
        </p:spPr>
        <p:txBody>
          <a:bodyPr wrap="none" lIns="0" tIns="0" rIns="0" bIns="0" anchor="t" anchorCtr="0">
            <a:spAutoFit/>
          </a:bodyPr>
          <a:lstStyle/>
          <a:p>
            <a:pPr algn="l"/>
            <a:r>
              <a:rPr lang="zh-CN" sz="900" dirty="0">
                <a:solidFill>
                  <a:srgbClr val="CBD5E0"/>
                </a:solidFill>
                <a:latin typeface="Consolas" panose="020B0609020204030204"/>
                <a:ea typeface="微软雅黑" panose="020B0503020204020204" charset="-122"/>
                <a:cs typeface="Consolas" panose="020B0609020204030204"/>
              </a:rPr>
              <a:t>20</a:t>
            </a:r>
            <a:endParaRPr lang="zh-CN" sz="900" dirty="0">
              <a:solidFill>
                <a:srgbClr val="CBD5E0"/>
              </a:solidFill>
              <a:latin typeface="Consolas" panose="020B0609020204030204"/>
              <a:ea typeface="微软雅黑" panose="020B0503020204020204" charset="-122"/>
              <a:cs typeface="Consolas" panose="020B0609020204030204"/>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A365D"/>
              </a:gs>
              <a:gs pos="100000">
                <a:srgbClr val="0F2440"/>
              </a:gs>
            </a:gsLst>
            <a:lin ang="2700000" scaled="1"/>
          </a:gradFill>
          <a:ln>
            <a:noFill/>
          </a:ln>
        </p:spPr>
      </p:sp>
      <p:sp>
        <p:nvSpPr>
          <p:cNvPr id="3" name="Ellipse 3"/>
          <p:cNvSpPr/>
          <p:nvPr/>
        </p:nvSpPr>
        <p:spPr>
          <a:xfrm>
            <a:off x="3429000" y="762000"/>
            <a:ext cx="5334000" cy="5334000"/>
          </a:xfrm>
          <a:prstGeom prst="ellipse">
            <a:avLst/>
          </a:prstGeom>
          <a:noFill/>
          <a:ln w="9525">
            <a:solidFill>
              <a:srgbClr val="3182CE">
                <a:alpha val="8000"/>
              </a:srgbClr>
            </a:solidFill>
          </a:ln>
        </p:spPr>
      </p:sp>
      <p:sp>
        <p:nvSpPr>
          <p:cNvPr id="4" name="Ellipse 4"/>
          <p:cNvSpPr/>
          <p:nvPr/>
        </p:nvSpPr>
        <p:spPr>
          <a:xfrm>
            <a:off x="-285750" y="-285750"/>
            <a:ext cx="3429000" cy="3429000"/>
          </a:xfrm>
          <a:prstGeom prst="ellipse">
            <a:avLst/>
          </a:prstGeom>
          <a:noFill/>
          <a:ln w="9525">
            <a:solidFill>
              <a:srgbClr val="3182CE">
                <a:alpha val="6000"/>
              </a:srgbClr>
            </a:solidFill>
          </a:ln>
        </p:spPr>
      </p:sp>
      <p:sp>
        <p:nvSpPr>
          <p:cNvPr id="5" name="Ellipse 5"/>
          <p:cNvSpPr/>
          <p:nvPr/>
        </p:nvSpPr>
        <p:spPr>
          <a:xfrm>
            <a:off x="8858250" y="3810000"/>
            <a:ext cx="3810000" cy="3810000"/>
          </a:xfrm>
          <a:prstGeom prst="ellipse">
            <a:avLst/>
          </a:prstGeom>
          <a:noFill/>
          <a:ln w="9525">
            <a:solidFill>
              <a:srgbClr val="3182CE">
                <a:alpha val="6000"/>
              </a:srgbClr>
            </a:solidFill>
          </a:ln>
        </p:spPr>
      </p:sp>
      <p:sp>
        <p:nvSpPr>
          <p:cNvPr id="6" name="Rectangle 6"/>
          <p:cNvSpPr/>
          <p:nvPr/>
        </p:nvSpPr>
        <p:spPr>
          <a:xfrm>
            <a:off x="0" y="0"/>
            <a:ext cx="12192000" cy="47625"/>
          </a:xfrm>
          <a:prstGeom prst="rect">
            <a:avLst/>
          </a:prstGeom>
          <a:solidFill>
            <a:srgbClr val="E53E3E"/>
          </a:solidFill>
          <a:ln>
            <a:noFill/>
          </a:ln>
        </p:spPr>
      </p:sp>
      <p:sp>
        <p:nvSpPr>
          <p:cNvPr id="7" name="TextBox 7"/>
          <p:cNvSpPr txBox="1"/>
          <p:nvPr/>
        </p:nvSpPr>
        <p:spPr>
          <a:xfrm>
            <a:off x="4893278" y="2274570"/>
            <a:ext cx="2405444" cy="1097280"/>
          </a:xfrm>
          <a:prstGeom prst="rect">
            <a:avLst/>
          </a:prstGeom>
          <a:noFill/>
          <a:ln>
            <a:noFill/>
          </a:ln>
        </p:spPr>
        <p:txBody>
          <a:bodyPr wrap="none" lIns="0" tIns="0" rIns="0" bIns="0" anchor="t" anchorCtr="0">
            <a:spAutoFit/>
          </a:bodyPr>
          <a:lstStyle/>
          <a:p>
            <a:pPr algn="ctr"/>
            <a:r>
              <a:rPr lang="zh-CN" sz="5400" b="1" dirty="0">
                <a:solidFill>
                  <a:srgbClr val="FFFFFF"/>
                </a:solidFill>
                <a:latin typeface="Georgia" panose="02040502050405020303"/>
                <a:ea typeface="楷体" panose="02010609060101010101" charset="-122"/>
                <a:cs typeface="Georgia" panose="02040502050405020303"/>
              </a:rPr>
              <a:t>谢谢！</a:t>
            </a:r>
            <a:endParaRPr lang="zh-CN" sz="5400" b="1" dirty="0">
              <a:solidFill>
                <a:srgbClr val="FFFFFF"/>
              </a:solidFill>
              <a:latin typeface="Georgia" panose="02040502050405020303"/>
              <a:ea typeface="楷体" panose="02010609060101010101" charset="-122"/>
              <a:cs typeface="Georgia" panose="02040502050405020303"/>
            </a:endParaRPr>
          </a:p>
        </p:txBody>
      </p:sp>
      <p:sp>
        <p:nvSpPr>
          <p:cNvPr id="8" name="TextBox 8"/>
          <p:cNvSpPr txBox="1"/>
          <p:nvPr/>
        </p:nvSpPr>
        <p:spPr>
          <a:xfrm>
            <a:off x="5551170" y="3218498"/>
            <a:ext cx="1089660" cy="396240"/>
          </a:xfrm>
          <a:prstGeom prst="rect">
            <a:avLst/>
          </a:prstGeom>
          <a:noFill/>
          <a:ln>
            <a:noFill/>
          </a:ln>
        </p:spPr>
        <p:txBody>
          <a:bodyPr wrap="none" lIns="0" tIns="0" rIns="0" bIns="0" anchor="t" anchorCtr="0">
            <a:spAutoFit/>
          </a:bodyPr>
          <a:lstStyle/>
          <a:p>
            <a:pPr algn="ctr"/>
            <a:r>
              <a:rPr lang="zh-CN" sz="1950" dirty="0">
                <a:solidFill>
                  <a:srgbClr val="90CDF4"/>
                </a:solidFill>
                <a:latin typeface="Segoe UI" panose="020B0502040204020203"/>
                <a:ea typeface="微软雅黑" panose="020B0503020204020204" charset="-122"/>
                <a:cs typeface="Segoe UI" panose="020B0502040204020203"/>
              </a:rPr>
              <a:t>感谢聆听</a:t>
            </a:r>
            <a:endParaRPr lang="zh-CN" sz="1950" dirty="0">
              <a:solidFill>
                <a:srgbClr val="90CDF4"/>
              </a:solidFill>
              <a:latin typeface="Segoe UI" panose="020B0502040204020203"/>
              <a:ea typeface="微软雅黑" panose="020B0503020204020204" charset="-122"/>
              <a:cs typeface="Segoe UI" panose="020B0502040204020203"/>
            </a:endParaRPr>
          </a:p>
        </p:txBody>
      </p:sp>
      <p:sp>
        <p:nvSpPr>
          <p:cNvPr id="9" name="Line 9"/>
          <p:cNvSpPr/>
          <p:nvPr/>
        </p:nvSpPr>
        <p:spPr>
          <a:xfrm>
            <a:off x="5143500" y="3714750"/>
            <a:ext cx="1905000" cy="9525"/>
          </a:xfrm>
          <a:custGeom>
            <a:avLst/>
            <a:gdLst/>
            <a:ahLst/>
            <a:cxnLst/>
            <a:rect l="l" t="t" r="r" b="b"/>
            <a:pathLst>
              <a:path w="1905000" h="9525">
                <a:moveTo>
                  <a:pt x="0" y="0"/>
                </a:moveTo>
                <a:lnTo>
                  <a:pt x="1905000" y="0"/>
                </a:lnTo>
              </a:path>
            </a:pathLst>
          </a:custGeom>
          <a:noFill/>
          <a:ln w="19050">
            <a:solidFill>
              <a:srgbClr val="3182CE">
                <a:alpha val="50000"/>
              </a:srgbClr>
            </a:solidFill>
          </a:ln>
        </p:spPr>
      </p:sp>
      <p:sp>
        <p:nvSpPr>
          <p:cNvPr id="10" name="TextBox 10"/>
          <p:cNvSpPr txBox="1"/>
          <p:nvPr/>
        </p:nvSpPr>
        <p:spPr>
          <a:xfrm>
            <a:off x="4240530" y="3966210"/>
            <a:ext cx="3710940" cy="243840"/>
          </a:xfrm>
          <a:prstGeom prst="rect">
            <a:avLst/>
          </a:prstGeom>
          <a:noFill/>
          <a:ln>
            <a:noFill/>
          </a:ln>
        </p:spPr>
        <p:txBody>
          <a:bodyPr wrap="none" lIns="0" tIns="0" rIns="0" bIns="0" anchor="t" anchorCtr="0">
            <a:spAutoFit/>
          </a:bodyPr>
          <a:lstStyle/>
          <a:p>
            <a:pPr algn="ctr"/>
            <a:r>
              <a:rPr lang="zh-CN" sz="1200" dirty="0">
                <a:solidFill>
                  <a:srgbClr val="63B3ED"/>
                </a:solidFill>
                <a:latin typeface="Segoe UI" panose="020B0502040204020203"/>
                <a:ea typeface="微软雅黑" panose="020B0503020204020204" charset="-122"/>
                <a:cs typeface="Segoe UI" panose="020B0502040204020203"/>
              </a:rPr>
              <a:t>从传统机器学习到多模态大模型的手写数学公式识别</a:t>
            </a:r>
            <a:endParaRPr lang="zh-CN" sz="1200" dirty="0">
              <a:solidFill>
                <a:srgbClr val="63B3ED"/>
              </a:solidFill>
              <a:latin typeface="Segoe UI" panose="020B0502040204020203"/>
              <a:ea typeface="微软雅黑" panose="020B0503020204020204" charset="-122"/>
              <a:cs typeface="Segoe UI" panose="020B0502040204020203"/>
            </a:endParaRPr>
          </a:p>
        </p:txBody>
      </p:sp>
      <p:sp>
        <p:nvSpPr>
          <p:cNvPr id="11" name="TextBox 11"/>
          <p:cNvSpPr txBox="1"/>
          <p:nvPr/>
        </p:nvSpPr>
        <p:spPr>
          <a:xfrm>
            <a:off x="5750123" y="4268152"/>
            <a:ext cx="691753" cy="213360"/>
          </a:xfrm>
          <a:prstGeom prst="rect">
            <a:avLst/>
          </a:prstGeom>
          <a:noFill/>
          <a:ln>
            <a:noFill/>
          </a:ln>
        </p:spPr>
        <p:txBody>
          <a:bodyPr wrap="none" lIns="0" tIns="0" rIns="0" bIns="0" anchor="t" anchorCtr="0">
            <a:spAutoFit/>
          </a:bodyPr>
          <a:lstStyle/>
          <a:p>
            <a:pPr algn="ctr"/>
            <a:r>
              <a:rPr lang="zh-CN" sz="1050" dirty="0">
                <a:solidFill>
                  <a:srgbClr val="4A5568"/>
                </a:solidFill>
                <a:latin typeface="Segoe UI" panose="020B0502040204020203"/>
                <a:ea typeface="微软雅黑" panose="020B0503020204020204" charset="-122"/>
                <a:cs typeface="Segoe UI" panose="020B0502040204020203"/>
              </a:rPr>
              <a:t>2026年5月</a:t>
            </a:r>
            <a:endParaRPr lang="zh-CN" sz="1050" dirty="0">
              <a:solidFill>
                <a:srgbClr val="4A5568"/>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5572268" y="5297805"/>
            <a:ext cx="1047464" cy="426720"/>
          </a:xfrm>
          <a:prstGeom prst="rect">
            <a:avLst/>
          </a:prstGeom>
          <a:noFill/>
          <a:ln>
            <a:noFill/>
          </a:ln>
        </p:spPr>
        <p:txBody>
          <a:bodyPr wrap="none" lIns="0" tIns="0" rIns="0" bIns="0" anchor="t" anchorCtr="0">
            <a:spAutoFit/>
          </a:bodyPr>
          <a:lstStyle/>
          <a:p>
            <a:pPr algn="ctr"/>
            <a:r>
              <a:rPr lang="zh-CN" sz="2100" i="1" dirty="0">
                <a:solidFill>
                  <a:srgbClr val="FFFFFF">
                    <a:alphaMod val="4000"/>
                  </a:srgbClr>
                </a:solidFill>
                <a:latin typeface="Georgia" panose="02040502050405020303"/>
                <a:ea typeface="宋体" panose="02010600030101010101" pitchFamily="2" charset="-122"/>
                <a:cs typeface="Georgia" panose="02040502050405020303"/>
              </a:rPr>
              <a:t>E = mc²</a:t>
            </a:r>
            <a:endParaRPr lang="zh-CN" sz="2100" i="1" dirty="0">
              <a:solidFill>
                <a:srgbClr val="FFFFFF">
                  <a:alphaMod val="4000"/>
                </a:srgbClr>
              </a:solidFill>
              <a:latin typeface="Georgia" panose="02040502050405020303"/>
              <a:ea typeface="宋体" panose="02010600030101010101" pitchFamily="2" charset="-122"/>
              <a:cs typeface="Georgia" panose="02040502050405020303"/>
            </a:endParaRPr>
          </a:p>
        </p:txBody>
      </p:sp>
      <p:sp>
        <p:nvSpPr>
          <p:cNvPr id="13" name="Rectangle 13"/>
          <p:cNvSpPr/>
          <p:nvPr/>
        </p:nvSpPr>
        <p:spPr>
          <a:xfrm>
            <a:off x="0" y="6667500"/>
            <a:ext cx="12192000" cy="190500"/>
          </a:xfrm>
          <a:prstGeom prst="rect">
            <a:avLst/>
          </a:prstGeom>
          <a:solidFill>
            <a:srgbClr val="0F2440"/>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ags/tag1.xml><?xml version="1.0" encoding="utf-8"?>
<p:tagLst xmlns:p="http://schemas.openxmlformats.org/presentationml/2006/main">
  <p:tag name="KSO_WM_DIAGRAM_VIRTUALLY_FRAME" val="{&quot;height&quot;:103.45,&quot;left&quot;:60,&quot;top&quot;:221.25,&quot;width&quot;:840}"/>
</p:tagLst>
</file>

<file path=ppt/tags/tag2.xml><?xml version="1.0" encoding="utf-8"?>
<p:tagLst xmlns:p="http://schemas.openxmlformats.org/presentationml/2006/main">
  <p:tag name="KSO_WM_DIAGRAM_VIRTUALLY_FRAME" val="{&quot;height&quot;:103.45,&quot;left&quot;:60,&quot;top&quot;:221.25,&quot;width&quot;:840}"/>
</p:tagLst>
</file>

<file path=ppt/tags/tag3.xml><?xml version="1.0" encoding="utf-8"?>
<p:tagLst xmlns:p="http://schemas.openxmlformats.org/presentationml/2006/main">
  <p:tag name="KSO_WM_DIAGRAM_VIRTUALLY_FRAME" val="{&quot;height&quot;:103.45,&quot;left&quot;:60,&quot;top&quot;:221.25,&quot;width&quot;:840}"/>
</p:tagLst>
</file>

<file path=ppt/tags/tag4.xml><?xml version="1.0" encoding="utf-8"?>
<p:tagLst xmlns:p="http://schemas.openxmlformats.org/presentationml/2006/main">
  <p:tag name="KSO_WM_DIAGRAM_VIRTUALLY_FRAME" val="{&quot;height&quot;:103.45,&quot;left&quot;:60,&quot;top&quot;:221.25,&quot;width&quot;:840}"/>
</p:tagLst>
</file>

<file path=ppt/tags/tag5.xml><?xml version="1.0" encoding="utf-8"?>
<p:tagLst xmlns:p="http://schemas.openxmlformats.org/presentationml/2006/main">
  <p:tag name="KSO_WM_DIAGRAM_VIRTUALLY_FRAME" val="{&quot;height&quot;:113.9,&quot;left&quot;:60,&quot;top&quot;:191.25,&quot;width&quot;:858.4}"/>
</p:tagLst>
</file>

<file path=ppt/tags/tag6.xml><?xml version="1.0" encoding="utf-8"?>
<p:tagLst xmlns:p="http://schemas.openxmlformats.org/presentationml/2006/main">
  <p:tag name="KSO_WM_DIAGRAM_VIRTUALLY_FRAME" val="{&quot;height&quot;:113.9,&quot;left&quot;:60,&quot;top&quot;:191.25,&quot;width&quot;:858.4}"/>
</p:tagLst>
</file>

<file path=ppt/tags/tag7.xml><?xml version="1.0" encoding="utf-8"?>
<p:tagLst xmlns:p="http://schemas.openxmlformats.org/presentationml/2006/main">
  <p:tag name="KSO_WM_DIAGRAM_VIRTUALLY_FRAME" val="{&quot;height&quot;:113.9,&quot;left&quot;:60,&quot;top&quot;:191.25,&quot;width&quot;:858.4}"/>
</p:tagLst>
</file>

<file path=ppt/tags/tag8.xml><?xml version="1.0" encoding="utf-8"?>
<p:tagLst xmlns:p="http://schemas.openxmlformats.org/presentationml/2006/main">
  <p:tag name="KSO_WM_DIAGRAM_VIRTUALLY_FRAME" val="{&quot;height&quot;:113.9,&quot;left&quot;:60,&quot;top&quot;:191.25,&quot;width&quot;:858.4}"/>
</p:tagLst>
</file>

<file path=ppt/tags/tag9.xml><?xml version="1.0" encoding="utf-8"?>
<p:tagLst xmlns:p="http://schemas.openxmlformats.org/presentationml/2006/main">
  <p:tag name="KSO_WM_DIAGRAM_VIRTUALLY_FRAME" val="{&quot;height&quot;:113.9,&quot;left&quot;:60,&quot;top&quot;:191.25,&quot;width&quot;:858.4}"/>
</p:tagLst>
</file>

<file path=ppt/tags/tag10.xml><?xml version="1.0" encoding="utf-8"?>
<p:tagLst xmlns:p="http://schemas.openxmlformats.org/presentationml/2006/main">
  <p:tag name="KSO_WM_DIAGRAM_VIRTUALLY_FRAME" val="{&quot;height&quot;:113.9,&quot;left&quot;:60,&quot;top&quot;:191.25,&quot;width&quot;:858.4}"/>
</p:tagLst>
</file>

<file path=ppt/tags/tag11.xml><?xml version="1.0" encoding="utf-8"?>
<p:tagLst xmlns:p="http://schemas.openxmlformats.org/presentationml/2006/main">
  <p:tag name="KSO_WM_DIAGRAM_VIRTUALLY_FRAME" val="{&quot;height&quot;:113.9,&quot;left&quot;:60,&quot;top&quot;:191.25,&quot;width&quot;:858.4}"/>
</p:tagLst>
</file>

<file path=ppt/tags/tag12.xml><?xml version="1.0" encoding="utf-8"?>
<p:tagLst xmlns:p="http://schemas.openxmlformats.org/presentationml/2006/main">
  <p:tag name="KSO_WM_DIAGRAM_VIRTUALLY_FRAME" val="{&quot;height&quot;:113.9,&quot;left&quot;:60,&quot;top&quot;:191.25,&quot;width&quot;:858.4}"/>
</p:tagLst>
</file>

<file path=ppt/tags/tag13.xml><?xml version="1.0" encoding="utf-8"?>
<p:tagLst xmlns:p="http://schemas.openxmlformats.org/presentationml/2006/main">
  <p:tag name="KSO_WM_DIAGRAM_VIRTUALLY_FRAME" val="{&quot;height&quot;:113.9,&quot;left&quot;:60,&quot;top&quot;:191.25,&quot;width&quot;:858.4}"/>
</p:tagLst>
</file>

<file path=ppt/tags/tag14.xml><?xml version="1.0" encoding="utf-8"?>
<p:tagLst xmlns:p="http://schemas.openxmlformats.org/presentationml/2006/main">
  <p:tag name="KSO_WM_DIAGRAM_VIRTUALLY_FRAME" val="{&quot;height&quot;:113.9,&quot;left&quot;:60,&quot;top&quot;:191.25,&quot;width&quot;:858.4}"/>
</p:tagLst>
</file>

<file path=ppt/tags/tag15.xml><?xml version="1.0" encoding="utf-8"?>
<p:tagLst xmlns:p="http://schemas.openxmlformats.org/presentationml/2006/main">
  <p:tag name="KSO_WM_DIAGRAM_VIRTUALLY_FRAME" val="{&quot;height&quot;:113.9,&quot;left&quot;:60,&quot;top&quot;:191.25,&quot;width&quot;:858.4}"/>
</p:tagLst>
</file>

<file path=ppt/tags/tag16.xml><?xml version="1.0" encoding="utf-8"?>
<p:tagLst xmlns:p="http://schemas.openxmlformats.org/presentationml/2006/main">
  <p:tag name="KSO_WM_DIAGRAM_VIRTUALLY_FRAME" val="{&quot;height&quot;:113.9,&quot;left&quot;:60,&quot;top&quot;:191.25,&quot;width&quot;:858.4}"/>
</p:tagLst>
</file>

<file path=ppt/tags/tag17.xml><?xml version="1.0" encoding="utf-8"?>
<p:tagLst xmlns:p="http://schemas.openxmlformats.org/presentationml/2006/main">
  <p:tag name="KSO_WM_DIAGRAM_VIRTUALLY_FRAME" val="{&quot;height&quot;:113.9,&quot;left&quot;:60,&quot;top&quot;:191.25,&quot;width&quot;:858.4}"/>
</p:tagLst>
</file>

<file path=ppt/tags/tag18.xml><?xml version="1.0" encoding="utf-8"?>
<p:tagLst xmlns:p="http://schemas.openxmlformats.org/presentationml/2006/main">
  <p:tag name="KSO_WM_DIAGRAM_VIRTUALLY_FRAME" val="{&quot;height&quot;:113.9,&quot;left&quot;:60,&quot;top&quot;:191.25,&quot;width&quot;:858.4}"/>
</p:tagLst>
</file>

<file path=ppt/tags/tag19.xml><?xml version="1.0" encoding="utf-8"?>
<p:tagLst xmlns:p="http://schemas.openxmlformats.org/presentationml/2006/main">
  <p:tag name="KSO_WM_DIAGRAM_VIRTUALLY_FRAME" val="{&quot;height&quot;:113.9,&quot;left&quot;:60,&quot;top&quot;:191.25,&quot;width&quot;:858.4}"/>
</p:tagLst>
</file>

<file path=ppt/tags/tag20.xml><?xml version="1.0" encoding="utf-8"?>
<p:tagLst xmlns:p="http://schemas.openxmlformats.org/presentationml/2006/main">
  <p:tag name="KSO_WM_DIAGRAM_VIRTUALLY_FRAME" val="{&quot;height&quot;:113.9,&quot;left&quot;:60,&quot;top&quot;:191.25,&quot;width&quot;:858.4}"/>
</p:tagLst>
</file>

<file path=ppt/tags/tag21.xml><?xml version="1.0" encoding="utf-8"?>
<p:tagLst xmlns:p="http://schemas.openxmlformats.org/presentationml/2006/main">
  <p:tag name="KSO_WM_DIAGRAM_VIRTUALLY_FRAME" val="{&quot;height&quot;:113.9,&quot;left&quot;:60,&quot;top&quot;:191.25,&quot;width&quot;:858.4}"/>
</p:tagLst>
</file>

<file path=ppt/tags/tag22.xml><?xml version="1.0" encoding="utf-8"?>
<p:tagLst xmlns:p="http://schemas.openxmlformats.org/presentationml/2006/main">
  <p:tag name="KSO_WM_DIAGRAM_VIRTUALLY_FRAME" val="{&quot;height&quot;:113.9,&quot;left&quot;:60,&quot;top&quot;:191.25,&quot;width&quot;:858.4}"/>
</p:tagLst>
</file>

<file path=ppt/tags/tag23.xml><?xml version="1.0" encoding="utf-8"?>
<p:tagLst xmlns:p="http://schemas.openxmlformats.org/presentationml/2006/main">
  <p:tag name="KSO_WM_DIAGRAM_VIRTUALLY_FRAME" val="{&quot;height&quot;:113.9,&quot;left&quot;:60,&quot;top&quot;:191.25,&quot;width&quot;:858.4}"/>
</p:tagLst>
</file>

<file path=ppt/tags/tag24.xml><?xml version="1.0" encoding="utf-8"?>
<p:tagLst xmlns:p="http://schemas.openxmlformats.org/presentationml/2006/main">
  <p:tag name="KSO_WM_DIAGRAM_VIRTUALLY_FRAME" val="{&quot;height&quot;:113.9,&quot;left&quot;:60,&quot;top&quot;:191.25,&quot;width&quot;:858.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7944</Words>
  <Application>WPS 演示</Application>
  <PresentationFormat>On-screen Show (4:3)</PresentationFormat>
  <Paragraphs>981</Paragraphs>
  <Slides>20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Arial</vt:lpstr>
      <vt:lpstr>宋体</vt:lpstr>
      <vt:lpstr>Wingdings</vt:lpstr>
      <vt:lpstr>Arial</vt:lpstr>
      <vt:lpstr>Georgia</vt:lpstr>
      <vt:lpstr>楷体</vt:lpstr>
      <vt:lpstr>Segoe UI</vt:lpstr>
      <vt:lpstr>微软雅黑</vt:lpstr>
      <vt:lpstr>Consolas</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张椅达</cp:lastModifiedBy>
  <cp:revision>5</cp:revision>
  <dcterms:created xsi:type="dcterms:W3CDTF">2013-01-27T09:14:00Z</dcterms:created>
  <dcterms:modified xsi:type="dcterms:W3CDTF">2026-05-25T11:44:04Z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B7404622726B443599A34684EFA6DEA3_12</vt:lpwstr>
  </property>
</Properties>
</file>